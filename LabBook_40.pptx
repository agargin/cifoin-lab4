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5"/>
  </p:notesMasterIdLst>
  <p:handoutMasterIdLst>
    <p:handoutMasterId r:id="rId26"/>
  </p:handoutMasterIdLst>
  <p:sldIdLst>
    <p:sldId id="256" r:id="rId2"/>
    <p:sldId id="289" r:id="rId3"/>
    <p:sldId id="290" r:id="rId4"/>
    <p:sldId id="291" r:id="rId5"/>
    <p:sldId id="296" r:id="rId6"/>
    <p:sldId id="297" r:id="rId7"/>
    <p:sldId id="298" r:id="rId8"/>
    <p:sldId id="292" r:id="rId9"/>
    <p:sldId id="293" r:id="rId10"/>
    <p:sldId id="299" r:id="rId11"/>
    <p:sldId id="300" r:id="rId12"/>
    <p:sldId id="301" r:id="rId13"/>
    <p:sldId id="294" r:id="rId14"/>
    <p:sldId id="295" r:id="rId15"/>
    <p:sldId id="302" r:id="rId16"/>
    <p:sldId id="307" r:id="rId17"/>
    <p:sldId id="304" r:id="rId18"/>
    <p:sldId id="305" r:id="rId19"/>
    <p:sldId id="306" r:id="rId20"/>
    <p:sldId id="308" r:id="rId21"/>
    <p:sldId id="309" r:id="rId22"/>
    <p:sldId id="310" r:id="rId23"/>
    <p:sldId id="288" r:id="rId24"/>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guide orient="horz" pos="2880"/>
        <p:guide pos="216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12/06/2026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12/06/2026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87AEC-015A-4808-9AC9-382D824E43C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FC03EDA-741F-B6F5-3444-A8D74D690AB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7839219-55CF-753A-3C53-04F6B1E28970}"/>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D04B99BF-32CC-B000-CB3E-0CD66FF7CA7C}"/>
              </a:ext>
            </a:extLst>
          </p:cNvPr>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26876424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58882-1DFE-38E5-D942-5322EB39011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422A751-8139-95C6-EEFA-FEA5466E338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945D6BD-4C23-DD47-AF06-D243E3F3FACA}"/>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8BD47352-66E8-C8D9-2032-9AAC01C216F1}"/>
              </a:ext>
            </a:extLst>
          </p:cNvPr>
          <p:cNvSpPr>
            <a:spLocks noGrp="1"/>
          </p:cNvSpPr>
          <p:nvPr>
            <p:ph type="sldNum" sz="quarter" idx="5"/>
          </p:nvPr>
        </p:nvSpPr>
        <p:spPr/>
        <p:txBody>
          <a:bodyPr/>
          <a:lstStyle/>
          <a:p>
            <a:fld id="{676223B9-C868-4436-87D9-1A3152E1157A}" type="slidenum">
              <a:rPr lang="es-ES" smtClean="0"/>
              <a:t>5</a:t>
            </a:fld>
            <a:endParaRPr lang="es-ES"/>
          </a:p>
        </p:txBody>
      </p:sp>
    </p:spTree>
    <p:extLst>
      <p:ext uri="{BB962C8B-B14F-4D97-AF65-F5344CB8AC3E}">
        <p14:creationId xmlns:p14="http://schemas.microsoft.com/office/powerpoint/2010/main" val="40968188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396CA-FF8A-8F4F-4413-C9EB867904D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6F9B6AF-9396-96FC-DD79-3D7ED555D33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172F798-5194-DFEA-0651-D839AB3C4011}"/>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76D99A89-7099-F88A-1EB4-0DA1A4ACB98A}"/>
              </a:ext>
            </a:extLst>
          </p:cNvPr>
          <p:cNvSpPr>
            <a:spLocks noGrp="1"/>
          </p:cNvSpPr>
          <p:nvPr>
            <p:ph type="sldNum" sz="quarter" idx="5"/>
          </p:nvPr>
        </p:nvSpPr>
        <p:spPr/>
        <p:txBody>
          <a:bodyPr/>
          <a:lstStyle/>
          <a:p>
            <a:fld id="{676223B9-C868-4436-87D9-1A3152E1157A}" type="slidenum">
              <a:rPr lang="es-ES" smtClean="0"/>
              <a:t>6</a:t>
            </a:fld>
            <a:endParaRPr lang="es-ES"/>
          </a:p>
        </p:txBody>
      </p:sp>
    </p:spTree>
    <p:extLst>
      <p:ext uri="{BB962C8B-B14F-4D97-AF65-F5344CB8AC3E}">
        <p14:creationId xmlns:p14="http://schemas.microsoft.com/office/powerpoint/2010/main" val="17632514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D30D9-FCA8-AD56-050D-F4BFA80FF42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6F4171C-72F0-2A63-16EC-4A522EDE66F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B781D5C-62E6-A7E1-7DF0-EA6C753567BD}"/>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C2389A8A-0C0A-851C-13EB-837DBBE95B4A}"/>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37478910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2BF37-98F6-CD9B-2255-0A64B5CEA44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B68927E-2442-0553-FBC8-D3C32BCC5CF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6130D77-4D33-EE41-3A9E-4EB6D2419067}"/>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75BAC07D-EBC4-F68A-7BE7-2B2DCCECD5CD}"/>
              </a:ext>
            </a:extLst>
          </p:cNvPr>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18854310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988B3-C141-4645-2F2A-A09F408267B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B22BAD8-B0CC-3164-3027-A210D7EB753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3995D4B-1202-927A-28C9-66F35C33AE68}"/>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0156FFEE-1184-FFA2-1E7F-CC9E8439AC53}"/>
              </a:ext>
            </a:extLst>
          </p:cNvPr>
          <p:cNvSpPr>
            <a:spLocks noGrp="1"/>
          </p:cNvSpPr>
          <p:nvPr>
            <p:ph type="sldNum" sz="quarter" idx="5"/>
          </p:nvPr>
        </p:nvSpPr>
        <p:spPr/>
        <p:txBody>
          <a:bodyPr/>
          <a:lstStyle/>
          <a:p>
            <a:fld id="{676223B9-C868-4436-87D9-1A3152E1157A}" type="slidenum">
              <a:rPr lang="es-ES" smtClean="0"/>
              <a:t>9</a:t>
            </a:fld>
            <a:endParaRPr lang="es-ES"/>
          </a:p>
        </p:txBody>
      </p:sp>
    </p:spTree>
    <p:extLst>
      <p:ext uri="{BB962C8B-B14F-4D97-AF65-F5344CB8AC3E}">
        <p14:creationId xmlns:p14="http://schemas.microsoft.com/office/powerpoint/2010/main" val="3810953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09369-2886-714C-D2A5-807E2C56554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0A81AF4-D62A-9033-3452-04768891E9A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34B26CD-8376-9A0B-CC8A-A7F05096AF45}"/>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D370DE24-F8D9-EA56-A6BB-A6D3456A85F9}"/>
              </a:ext>
            </a:extLst>
          </p:cNvPr>
          <p:cNvSpPr>
            <a:spLocks noGrp="1"/>
          </p:cNvSpPr>
          <p:nvPr>
            <p:ph type="sldNum" sz="quarter" idx="5"/>
          </p:nvPr>
        </p:nvSpPr>
        <p:spPr/>
        <p:txBody>
          <a:bodyPr/>
          <a:lstStyle/>
          <a:p>
            <a:fld id="{676223B9-C868-4436-87D9-1A3152E1157A}" type="slidenum">
              <a:rPr lang="es-ES" smtClean="0"/>
              <a:t>10</a:t>
            </a:fld>
            <a:endParaRPr lang="es-ES"/>
          </a:p>
        </p:txBody>
      </p:sp>
    </p:spTree>
    <p:extLst>
      <p:ext uri="{BB962C8B-B14F-4D97-AF65-F5344CB8AC3E}">
        <p14:creationId xmlns:p14="http://schemas.microsoft.com/office/powerpoint/2010/main" val="12490274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ACBB3-A9DF-0400-7DA4-F47763586F4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633A632-5C29-B3A7-3E00-974F3335A06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2CFA247-6B17-2BF0-FFF6-D6DBBCEE8CF7}"/>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4BD478FD-DDC7-A65F-A5A2-2CBEB103A5C2}"/>
              </a:ext>
            </a:extLst>
          </p:cNvPr>
          <p:cNvSpPr>
            <a:spLocks noGrp="1"/>
          </p:cNvSpPr>
          <p:nvPr>
            <p:ph type="sldNum" sz="quarter" idx="5"/>
          </p:nvPr>
        </p:nvSpPr>
        <p:spPr/>
        <p:txBody>
          <a:bodyPr/>
          <a:lstStyle/>
          <a:p>
            <a:fld id="{676223B9-C868-4436-87D9-1A3152E1157A}" type="slidenum">
              <a:rPr lang="es-ES" smtClean="0"/>
              <a:t>11</a:t>
            </a:fld>
            <a:endParaRPr lang="es-ES"/>
          </a:p>
        </p:txBody>
      </p:sp>
    </p:spTree>
    <p:extLst>
      <p:ext uri="{BB962C8B-B14F-4D97-AF65-F5344CB8AC3E}">
        <p14:creationId xmlns:p14="http://schemas.microsoft.com/office/powerpoint/2010/main" val="25527047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046ABB-57FA-CD7A-026F-DDB2F77DA14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E023EF4-C7E8-9C99-F2CC-58038C2E8EF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ACA799F-BC5E-6560-8E7A-3794C056AF69}"/>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5E79E2E5-37C1-F275-2D0C-58505EC1B70C}"/>
              </a:ext>
            </a:extLst>
          </p:cNvPr>
          <p:cNvSpPr>
            <a:spLocks noGrp="1"/>
          </p:cNvSpPr>
          <p:nvPr>
            <p:ph type="sldNum" sz="quarter" idx="5"/>
          </p:nvPr>
        </p:nvSpPr>
        <p:spPr/>
        <p:txBody>
          <a:bodyPr/>
          <a:lstStyle/>
          <a:p>
            <a:fld id="{676223B9-C868-4436-87D9-1A3152E1157A}" type="slidenum">
              <a:rPr lang="es-ES" smtClean="0"/>
              <a:t>12</a:t>
            </a:fld>
            <a:endParaRPr lang="es-ES"/>
          </a:p>
        </p:txBody>
      </p:sp>
    </p:spTree>
    <p:extLst>
      <p:ext uri="{BB962C8B-B14F-4D97-AF65-F5344CB8AC3E}">
        <p14:creationId xmlns:p14="http://schemas.microsoft.com/office/powerpoint/2010/main" val="30664531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9EAE7-9EAB-544B-26F0-D89AD57C0BC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7142DDC-39F3-B8EF-C550-B1BDBF79832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14E7676-8E00-A60E-B890-D4F612C9A57A}"/>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8F8AAF8C-62CF-3619-1C70-91E48BE9A4C4}"/>
              </a:ext>
            </a:extLst>
          </p:cNvPr>
          <p:cNvSpPr>
            <a:spLocks noGrp="1"/>
          </p:cNvSpPr>
          <p:nvPr>
            <p:ph type="sldNum" sz="quarter" idx="5"/>
          </p:nvPr>
        </p:nvSpPr>
        <p:spPr/>
        <p:txBody>
          <a:bodyPr/>
          <a:lstStyle/>
          <a:p>
            <a:fld id="{676223B9-C868-4436-87D9-1A3152E1157A}" type="slidenum">
              <a:rPr lang="es-ES" smtClean="0"/>
              <a:t>13</a:t>
            </a:fld>
            <a:endParaRPr lang="es-ES"/>
          </a:p>
        </p:txBody>
      </p:sp>
    </p:spTree>
    <p:extLst>
      <p:ext uri="{BB962C8B-B14F-4D97-AF65-F5344CB8AC3E}">
        <p14:creationId xmlns:p14="http://schemas.microsoft.com/office/powerpoint/2010/main" val="21631047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169CA-A6E9-D0C3-4D3A-6AF90891044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EC97DB9-2632-3700-0312-BB76DC46DEE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A897758-8CC0-1479-13D7-87B5FBD747CB}"/>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5060DEFB-1A44-3354-5B15-298FF8A10085}"/>
              </a:ext>
            </a:extLst>
          </p:cNvPr>
          <p:cNvSpPr>
            <a:spLocks noGrp="1"/>
          </p:cNvSpPr>
          <p:nvPr>
            <p:ph type="sldNum" sz="quarter" idx="5"/>
          </p:nvPr>
        </p:nvSpPr>
        <p:spPr/>
        <p:txBody>
          <a:bodyPr/>
          <a:lstStyle/>
          <a:p>
            <a:fld id="{676223B9-C868-4436-87D9-1A3152E1157A}" type="slidenum">
              <a:rPr lang="es-ES" smtClean="0"/>
              <a:t>14</a:t>
            </a:fld>
            <a:endParaRPr lang="es-ES"/>
          </a:p>
        </p:txBody>
      </p:sp>
    </p:spTree>
    <p:extLst>
      <p:ext uri="{BB962C8B-B14F-4D97-AF65-F5344CB8AC3E}">
        <p14:creationId xmlns:p14="http://schemas.microsoft.com/office/powerpoint/2010/main" val="15764594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BFBB7-CCB7-6C50-D6B2-CE510F12695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8617E5D-002D-C5AF-DFEE-1CFCD0C445E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042C6D7-9D0D-011A-406E-290CF24A1043}"/>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AACC60C4-CD60-2DED-A278-762E555FE271}"/>
              </a:ext>
            </a:extLst>
          </p:cNvPr>
          <p:cNvSpPr>
            <a:spLocks noGrp="1"/>
          </p:cNvSpPr>
          <p:nvPr>
            <p:ph type="sldNum" sz="quarter" idx="5"/>
          </p:nvPr>
        </p:nvSpPr>
        <p:spPr/>
        <p:txBody>
          <a:bodyPr/>
          <a:lstStyle/>
          <a:p>
            <a:fld id="{676223B9-C868-4436-87D9-1A3152E1157A}" type="slidenum">
              <a:rPr lang="es-ES" smtClean="0"/>
              <a:t>15</a:t>
            </a:fld>
            <a:endParaRPr lang="es-ES"/>
          </a:p>
        </p:txBody>
      </p:sp>
    </p:spTree>
    <p:extLst>
      <p:ext uri="{BB962C8B-B14F-4D97-AF65-F5344CB8AC3E}">
        <p14:creationId xmlns:p14="http://schemas.microsoft.com/office/powerpoint/2010/main" val="16265642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B4044-90AF-64FA-2598-66CC4338703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FDE40B6-FA8D-8260-D47C-5579800D87F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41F502D-ED0E-F4ED-48AC-CC48287F1645}"/>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68E75ED2-CBAA-6CE4-C205-47AA999F2673}"/>
              </a:ext>
            </a:extLst>
          </p:cNvPr>
          <p:cNvSpPr>
            <a:spLocks noGrp="1"/>
          </p:cNvSpPr>
          <p:nvPr>
            <p:ph type="sldNum" sz="quarter" idx="5"/>
          </p:nvPr>
        </p:nvSpPr>
        <p:spPr/>
        <p:txBody>
          <a:bodyPr/>
          <a:lstStyle/>
          <a:p>
            <a:fld id="{676223B9-C868-4436-87D9-1A3152E1157A}" type="slidenum">
              <a:rPr lang="es-ES" smtClean="0"/>
              <a:t>16</a:t>
            </a:fld>
            <a:endParaRPr lang="es-ES"/>
          </a:p>
        </p:txBody>
      </p:sp>
    </p:spTree>
    <p:extLst>
      <p:ext uri="{BB962C8B-B14F-4D97-AF65-F5344CB8AC3E}">
        <p14:creationId xmlns:p14="http://schemas.microsoft.com/office/powerpoint/2010/main" val="12313465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995FA-CD90-C90A-CB05-191CC7F2742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A179EAF-4E06-1A4C-6814-D2D8C3BB1F4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AB967EF-38A3-327A-2BAA-D5404917C2E1}"/>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DCF58C5A-E852-F7E7-4F65-F870353C1253}"/>
              </a:ext>
            </a:extLst>
          </p:cNvPr>
          <p:cNvSpPr>
            <a:spLocks noGrp="1"/>
          </p:cNvSpPr>
          <p:nvPr>
            <p:ph type="sldNum" sz="quarter" idx="5"/>
          </p:nvPr>
        </p:nvSpPr>
        <p:spPr/>
        <p:txBody>
          <a:bodyPr/>
          <a:lstStyle/>
          <a:p>
            <a:fld id="{676223B9-C868-4436-87D9-1A3152E1157A}" type="slidenum">
              <a:rPr lang="es-ES" smtClean="0"/>
              <a:t>17</a:t>
            </a:fld>
            <a:endParaRPr lang="es-ES"/>
          </a:p>
        </p:txBody>
      </p:sp>
    </p:spTree>
    <p:extLst>
      <p:ext uri="{BB962C8B-B14F-4D97-AF65-F5344CB8AC3E}">
        <p14:creationId xmlns:p14="http://schemas.microsoft.com/office/powerpoint/2010/main" val="23156475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D62E4-35C8-ACD3-09C2-36636F141C3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03BFB29-2E46-BAEE-380C-03C541C948D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3453750-D033-666A-E0DE-BC8676BEF0E7}"/>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17FCFD7C-0626-4BC2-043E-AE04FE30A97C}"/>
              </a:ext>
            </a:extLst>
          </p:cNvPr>
          <p:cNvSpPr>
            <a:spLocks noGrp="1"/>
          </p:cNvSpPr>
          <p:nvPr>
            <p:ph type="sldNum" sz="quarter" idx="5"/>
          </p:nvPr>
        </p:nvSpPr>
        <p:spPr/>
        <p:txBody>
          <a:bodyPr/>
          <a:lstStyle/>
          <a:p>
            <a:fld id="{676223B9-C868-4436-87D9-1A3152E1157A}" type="slidenum">
              <a:rPr lang="es-ES" smtClean="0"/>
              <a:t>18</a:t>
            </a:fld>
            <a:endParaRPr lang="es-ES"/>
          </a:p>
        </p:txBody>
      </p:sp>
    </p:spTree>
    <p:extLst>
      <p:ext uri="{BB962C8B-B14F-4D97-AF65-F5344CB8AC3E}">
        <p14:creationId xmlns:p14="http://schemas.microsoft.com/office/powerpoint/2010/main" val="23696229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724A0C-BF03-7094-6FB2-D5EDE03A449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C5475A9-8DC2-7198-979F-B3567FE22FA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5E1940D-491F-3CDA-9AA2-3930B14F43A7}"/>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5E5073F2-B0FB-6EEF-5D20-D3C1BA4CD5F8}"/>
              </a:ext>
            </a:extLst>
          </p:cNvPr>
          <p:cNvSpPr>
            <a:spLocks noGrp="1"/>
          </p:cNvSpPr>
          <p:nvPr>
            <p:ph type="sldNum" sz="quarter" idx="5"/>
          </p:nvPr>
        </p:nvSpPr>
        <p:spPr/>
        <p:txBody>
          <a:bodyPr/>
          <a:lstStyle/>
          <a:p>
            <a:fld id="{676223B9-C868-4436-87D9-1A3152E1157A}" type="slidenum">
              <a:rPr lang="es-ES" smtClean="0"/>
              <a:t>19</a:t>
            </a:fld>
            <a:endParaRPr lang="es-ES"/>
          </a:p>
        </p:txBody>
      </p:sp>
    </p:spTree>
    <p:extLst>
      <p:ext uri="{BB962C8B-B14F-4D97-AF65-F5344CB8AC3E}">
        <p14:creationId xmlns:p14="http://schemas.microsoft.com/office/powerpoint/2010/main" val="4524353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F16EA-D9F2-A4CF-9D45-DDA142262DE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862F1D5-942C-4129-8556-A87ACB512D0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31631C3-7A92-43E7-9E16-99AEB5ED9F66}"/>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09ACC4C5-C54C-E087-24E0-4E94C3D2F1EB}"/>
              </a:ext>
            </a:extLst>
          </p:cNvPr>
          <p:cNvSpPr>
            <a:spLocks noGrp="1"/>
          </p:cNvSpPr>
          <p:nvPr>
            <p:ph type="sldNum" sz="quarter" idx="5"/>
          </p:nvPr>
        </p:nvSpPr>
        <p:spPr/>
        <p:txBody>
          <a:bodyPr/>
          <a:lstStyle/>
          <a:p>
            <a:fld id="{676223B9-C868-4436-87D9-1A3152E1157A}" type="slidenum">
              <a:rPr lang="es-ES" smtClean="0"/>
              <a:t>20</a:t>
            </a:fld>
            <a:endParaRPr lang="es-ES"/>
          </a:p>
        </p:txBody>
      </p:sp>
    </p:spTree>
    <p:extLst>
      <p:ext uri="{BB962C8B-B14F-4D97-AF65-F5344CB8AC3E}">
        <p14:creationId xmlns:p14="http://schemas.microsoft.com/office/powerpoint/2010/main" val="14835172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0DC39-585C-EEC5-966C-5077AF84D61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DC3A580-D6A9-D06A-64F1-7A27AFC22F4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068DF7F-2F3C-CA03-2F38-FC774022726A}"/>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9A2B9D7B-3E89-A896-265C-FB24890B351D}"/>
              </a:ext>
            </a:extLst>
          </p:cNvPr>
          <p:cNvSpPr>
            <a:spLocks noGrp="1"/>
          </p:cNvSpPr>
          <p:nvPr>
            <p:ph type="sldNum" sz="quarter" idx="5"/>
          </p:nvPr>
        </p:nvSpPr>
        <p:spPr/>
        <p:txBody>
          <a:bodyPr/>
          <a:lstStyle/>
          <a:p>
            <a:fld id="{676223B9-C868-4436-87D9-1A3152E1157A}" type="slidenum">
              <a:rPr lang="es-ES" smtClean="0"/>
              <a:t>21</a:t>
            </a:fld>
            <a:endParaRPr lang="es-ES"/>
          </a:p>
        </p:txBody>
      </p:sp>
    </p:spTree>
    <p:extLst>
      <p:ext uri="{BB962C8B-B14F-4D97-AF65-F5344CB8AC3E}">
        <p14:creationId xmlns:p14="http://schemas.microsoft.com/office/powerpoint/2010/main" val="15615873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2D88B-AB48-ED05-1B83-A75BA7995ED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C21BFB3-B38B-AD74-984B-B9F1CF04F97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997F2DF-0B36-13AA-3E4F-134C751EBCFA}"/>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9F1CA3DC-742A-AB69-8EF5-BF90D3051AC8}"/>
              </a:ext>
            </a:extLst>
          </p:cNvPr>
          <p:cNvSpPr>
            <a:spLocks noGrp="1"/>
          </p:cNvSpPr>
          <p:nvPr>
            <p:ph type="sldNum" sz="quarter" idx="5"/>
          </p:nvPr>
        </p:nvSpPr>
        <p:spPr/>
        <p:txBody>
          <a:bodyPr/>
          <a:lstStyle/>
          <a:p>
            <a:fld id="{676223B9-C868-4436-87D9-1A3152E1157A}" type="slidenum">
              <a:rPr lang="es-ES" smtClean="0"/>
              <a:t>22</a:t>
            </a:fld>
            <a:endParaRPr lang="es-ES"/>
          </a:p>
        </p:txBody>
      </p:sp>
    </p:spTree>
    <p:extLst>
      <p:ext uri="{BB962C8B-B14F-4D97-AF65-F5344CB8AC3E}">
        <p14:creationId xmlns:p14="http://schemas.microsoft.com/office/powerpoint/2010/main" val="27892059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4.0. LAYOUT</a:t>
            </a:r>
            <a:endParaRPr spc="-5"/>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4.0. LAYOUT</a:t>
            </a:r>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4.0. LAYOUT</a:t>
            </a:r>
            <a:endParaRPr spc="-5"/>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exto simple">
    <p:spTree>
      <p:nvGrpSpPr>
        <p:cNvPr id="1" name=""/>
        <p:cNvGrpSpPr/>
        <p:nvPr/>
      </p:nvGrpSpPr>
      <p:grpSpPr>
        <a:xfrm>
          <a:off x="0" y="0"/>
          <a:ext cx="0" cy="0"/>
          <a:chOff x="0" y="0"/>
          <a:chExt cx="0" cy="0"/>
        </a:xfrm>
      </p:grpSpPr>
      <p:sp>
        <p:nvSpPr>
          <p:cNvPr id="6" name="Rectangle 47"/>
          <p:cNvSpPr/>
          <p:nvPr userDrawn="1"/>
        </p:nvSpPr>
        <p:spPr>
          <a:xfrm>
            <a:off x="608171" y="381001"/>
            <a:ext cx="45731" cy="68349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Título 8"/>
          <p:cNvSpPr>
            <a:spLocks noGrp="1"/>
          </p:cNvSpPr>
          <p:nvPr>
            <p:ph type="title" hasCustomPrompt="1"/>
          </p:nvPr>
        </p:nvSpPr>
        <p:spPr>
          <a:xfrm>
            <a:off x="736652" y="381000"/>
            <a:ext cx="7778317" cy="313782"/>
          </a:xfrm>
        </p:spPr>
        <p:txBody>
          <a:bodyPr>
            <a:normAutofit/>
          </a:bodyPr>
          <a:lstStyle>
            <a:lvl1pPr algn="l">
              <a:defRPr sz="2800" b="1" i="0" baseline="0">
                <a:solidFill>
                  <a:schemeClr val="tx1">
                    <a:lumMod val="65000"/>
                    <a:lumOff val="35000"/>
                  </a:schemeClr>
                </a:solidFill>
                <a:latin typeface="Calibri" panose="020F0502020204030204" pitchFamily="34" charset="0"/>
                <a:ea typeface="Open Sans Extrabold" panose="020B0906030804020204" pitchFamily="34" charset="0"/>
                <a:cs typeface="Calibri" panose="020F0502020204030204" pitchFamily="34" charset="0"/>
              </a:defRPr>
            </a:lvl1pPr>
          </a:lstStyle>
          <a:p>
            <a:r>
              <a:rPr lang="es-ES"/>
              <a:t>TITULO</a:t>
            </a:r>
          </a:p>
        </p:txBody>
      </p:sp>
      <p:sp>
        <p:nvSpPr>
          <p:cNvPr id="13" name="Marcador de texto 12"/>
          <p:cNvSpPr>
            <a:spLocks noGrp="1"/>
          </p:cNvSpPr>
          <p:nvPr>
            <p:ph type="body" sz="quarter" idx="10" hasCustomPrompt="1"/>
          </p:nvPr>
        </p:nvSpPr>
        <p:spPr>
          <a:xfrm>
            <a:off x="608171" y="1295401"/>
            <a:ext cx="11051877" cy="4958137"/>
          </a:xfrm>
        </p:spPr>
        <p:txBody>
          <a:bodyPr>
            <a:normAutofit/>
          </a:bodyPr>
          <a:lstStyle>
            <a:lvl1pPr>
              <a:defRPr sz="2400" baseline="0">
                <a:latin typeface="Calibri" panose="020F0502020204030204" pitchFamily="34" charset="0"/>
                <a:ea typeface="Open Sans Light" panose="020B0306030504020204" pitchFamily="34" charset="0"/>
                <a:cs typeface="Calibri" panose="020F0502020204030204" pitchFamily="34" charset="0"/>
              </a:defRPr>
            </a:lvl1pPr>
            <a:lvl2pPr>
              <a:defRPr sz="1800">
                <a:latin typeface="Calibri" panose="020F0502020204030204" pitchFamily="34" charset="0"/>
                <a:ea typeface="Open Sans Light" panose="020B0306030504020204" pitchFamily="34" charset="0"/>
                <a:cs typeface="Calibri" panose="020F0502020204030204" pitchFamily="34" charset="0"/>
              </a:defRPr>
            </a:lvl2pPr>
            <a:lvl3pPr>
              <a:defRPr sz="1600">
                <a:latin typeface="Calibri" panose="020F0502020204030204" pitchFamily="34" charset="0"/>
                <a:ea typeface="Open Sans Light" panose="020B0306030504020204" pitchFamily="34" charset="0"/>
                <a:cs typeface="Calibri" panose="020F0502020204030204" pitchFamily="34" charset="0"/>
              </a:defRPr>
            </a:lvl3pPr>
            <a:lvl4pPr>
              <a:defRPr sz="1400">
                <a:latin typeface="Calibri" panose="020F0502020204030204" pitchFamily="34" charset="0"/>
                <a:ea typeface="Open Sans Light" panose="020B0306030504020204" pitchFamily="34" charset="0"/>
                <a:cs typeface="Calibri" panose="020F0502020204030204" pitchFamily="34" charset="0"/>
              </a:defRPr>
            </a:lvl4pPr>
            <a:lvl5pPr>
              <a:defRPr sz="1400">
                <a:latin typeface="Calibri" panose="020F0502020204030204" pitchFamily="34" charset="0"/>
                <a:ea typeface="Open Sans Light" panose="020B0306030504020204" pitchFamily="34" charset="0"/>
                <a:cs typeface="Calibri" panose="020F0502020204030204" pitchFamily="34" charset="0"/>
              </a:defRPr>
            </a:lvl5pPr>
          </a:lstStyle>
          <a:p>
            <a:pPr lvl="0"/>
            <a:r>
              <a:rPr lang="es-ES"/>
              <a:t>Texto del contenido</a:t>
            </a:r>
          </a:p>
          <a:p>
            <a:pPr lvl="1"/>
            <a:r>
              <a:rPr lang="es-ES"/>
              <a:t>Segundo nivel</a:t>
            </a:r>
          </a:p>
          <a:p>
            <a:pPr lvl="2"/>
            <a:r>
              <a:rPr lang="es-ES"/>
              <a:t>Tercer nivel</a:t>
            </a:r>
          </a:p>
          <a:p>
            <a:pPr lvl="3"/>
            <a:r>
              <a:rPr lang="es-ES"/>
              <a:t>Cuarto nivel</a:t>
            </a:r>
          </a:p>
          <a:p>
            <a:pPr lvl="4"/>
            <a:r>
              <a:rPr lang="es-ES"/>
              <a:t>Quinto nivel</a:t>
            </a:r>
          </a:p>
        </p:txBody>
      </p:sp>
      <p:sp>
        <p:nvSpPr>
          <p:cNvPr id="23" name="Marcador de texto 22"/>
          <p:cNvSpPr>
            <a:spLocks noGrp="1"/>
          </p:cNvSpPr>
          <p:nvPr>
            <p:ph type="body" sz="quarter" idx="11" hasCustomPrompt="1"/>
          </p:nvPr>
        </p:nvSpPr>
        <p:spPr>
          <a:xfrm>
            <a:off x="736652" y="730647"/>
            <a:ext cx="7778317" cy="381000"/>
          </a:xfrm>
        </p:spPr>
        <p:txBody>
          <a:bodyPr>
            <a:noAutofit/>
          </a:bodyPr>
          <a:lstStyle>
            <a:lvl1pPr marL="0" indent="0">
              <a:buNone/>
              <a:defRPr sz="2000">
                <a:latin typeface="Calibri" panose="020F0502020204030204" pitchFamily="34" charset="0"/>
                <a:ea typeface="Open Sans Light" panose="020B0306030504020204" pitchFamily="34" charset="0"/>
                <a:cs typeface="Calibri" panose="020F0502020204030204" pitchFamily="34" charset="0"/>
              </a:defRPr>
            </a:lvl1pPr>
          </a:lstStyle>
          <a:p>
            <a:pPr lvl="0"/>
            <a:r>
              <a:rPr lang="es-ES"/>
              <a:t>Subtítulo del artículo con una explicación corta a modo resumen</a:t>
            </a:r>
          </a:p>
        </p:txBody>
      </p:sp>
      <p:sp>
        <p:nvSpPr>
          <p:cNvPr id="11" name="Date Placeholder 3"/>
          <p:cNvSpPr>
            <a:spLocks noGrp="1"/>
          </p:cNvSpPr>
          <p:nvPr>
            <p:ph type="dt" sz="half" idx="2"/>
          </p:nvPr>
        </p:nvSpPr>
        <p:spPr>
          <a:xfrm>
            <a:off x="609600" y="6387407"/>
            <a:ext cx="1980287" cy="303019"/>
          </a:xfrm>
          <a:prstGeom prst="rect">
            <a:avLst/>
          </a:prstGeom>
        </p:spPr>
        <p:txBody>
          <a:bodyPr vert="horz" lIns="117208" tIns="58604" rIns="117208" bIns="58604" rtlCol="0" anchor="ctr"/>
          <a:lstStyle>
            <a:lvl1pPr algn="l">
              <a:defRPr sz="1200">
                <a:solidFill>
                  <a:schemeClr val="tx1">
                    <a:tint val="75000"/>
                  </a:schemeClr>
                </a:solidFill>
              </a:defRPr>
            </a:lvl1pPr>
          </a:lstStyle>
          <a:p>
            <a:endParaRPr lang="en-US"/>
          </a:p>
        </p:txBody>
      </p:sp>
      <p:sp>
        <p:nvSpPr>
          <p:cNvPr id="12" name="Footer Placeholder 4"/>
          <p:cNvSpPr>
            <a:spLocks noGrp="1"/>
          </p:cNvSpPr>
          <p:nvPr>
            <p:ph type="ftr" sz="quarter" idx="3"/>
          </p:nvPr>
        </p:nvSpPr>
        <p:spPr>
          <a:xfrm>
            <a:off x="2894768" y="6387407"/>
            <a:ext cx="6402465" cy="303019"/>
          </a:xfrm>
          <a:prstGeom prst="rect">
            <a:avLst/>
          </a:prstGeom>
        </p:spPr>
        <p:txBody>
          <a:bodyPr vert="horz" lIns="117208" tIns="58604" rIns="117208" bIns="58604" rtlCol="0" anchor="ctr"/>
          <a:lstStyle>
            <a:lvl1pPr algn="ctr">
              <a:defRPr sz="1200">
                <a:solidFill>
                  <a:schemeClr val="tx1">
                    <a:tint val="75000"/>
                  </a:schemeClr>
                </a:solidFill>
              </a:defRPr>
            </a:lvl1pPr>
          </a:lstStyle>
          <a:p>
            <a:r>
              <a:rPr lang="en-US"/>
              <a:t>LAB 4.0. LAYOUT</a:t>
            </a:r>
          </a:p>
        </p:txBody>
      </p:sp>
      <p:sp>
        <p:nvSpPr>
          <p:cNvPr id="14" name="Slide Number Placeholder 5"/>
          <p:cNvSpPr>
            <a:spLocks noGrp="1"/>
          </p:cNvSpPr>
          <p:nvPr>
            <p:ph type="sldNum" sz="quarter" idx="4"/>
          </p:nvPr>
        </p:nvSpPr>
        <p:spPr>
          <a:xfrm>
            <a:off x="11431389" y="6388096"/>
            <a:ext cx="760611" cy="303019"/>
          </a:xfrm>
          <a:prstGeom prst="rect">
            <a:avLst/>
          </a:prstGeom>
          <a:solidFill>
            <a:schemeClr val="bg2"/>
          </a:solidFill>
        </p:spPr>
        <p:txBody>
          <a:bodyPr vert="horz" lIns="117208" tIns="58604" rIns="117208" bIns="58604" rtlCol="0" anchor="ctr"/>
          <a:lstStyle>
            <a:lvl1pPr algn="r">
              <a:defRPr sz="1200">
                <a:solidFill>
                  <a:srgbClr val="FF6309"/>
                </a:solidFill>
              </a:defRPr>
            </a:lvl1pPr>
          </a:lstStyle>
          <a:p>
            <a:fld id="{C2F52289-4012-4053-9770-FE82CEB9514F}" type="slidenum">
              <a:rPr lang="en-US" smtClean="0"/>
              <a:pPr/>
              <a:t>‹Nº›</a:t>
            </a:fld>
            <a:endParaRPr lang="en-US"/>
          </a:p>
        </p:txBody>
      </p:sp>
    </p:spTree>
    <p:extLst>
      <p:ext uri="{BB962C8B-B14F-4D97-AF65-F5344CB8AC3E}">
        <p14:creationId xmlns:p14="http://schemas.microsoft.com/office/powerpoint/2010/main" val="3024640384"/>
      </p:ext>
    </p:extLst>
  </p:cSld>
  <p:clrMapOvr>
    <a:masterClrMapping/>
  </p:clrMapOvr>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8"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4.0. LAYOUT</a:t>
            </a:r>
            <a:endParaRPr spc="-5"/>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pascualmunoz/cifoin-lab4.git" TargetMode="External"/><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9213724" cy="505267"/>
          </a:xfrm>
          <a:prstGeom prst="rect">
            <a:avLst/>
          </a:prstGeom>
        </p:spPr>
        <p:txBody>
          <a:bodyPr vert="horz" wrap="square" lIns="0" tIns="12700" rIns="0" bIns="0" rtlCol="0">
            <a:spAutoFit/>
          </a:bodyPr>
          <a:lstStyle/>
          <a:p>
            <a:pPr marL="12700">
              <a:lnSpc>
                <a:spcPct val="100000"/>
              </a:lnSpc>
              <a:spcBef>
                <a:spcPts val="100"/>
              </a:spcBef>
            </a:pPr>
            <a:r>
              <a:rPr lang="es-ES" sz="3200" b="1">
                <a:latin typeface="Lucida Sans"/>
                <a:cs typeface="Lucida Sans"/>
              </a:rPr>
              <a:t>Lab Book 3.0 Circuits and Compact </a:t>
            </a:r>
            <a:r>
              <a:rPr lang="es-ES" sz="3200" b="1" err="1">
                <a:latin typeface="Lucida Sans"/>
                <a:cs typeface="Lucida Sans"/>
              </a:rPr>
              <a:t>Models</a:t>
            </a:r>
            <a:endParaRPr sz="320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err="1">
                <a:latin typeface="Arial"/>
                <a:cs typeface="Arial"/>
              </a:rPr>
              <a:t>Student</a:t>
            </a:r>
            <a:r>
              <a:rPr lang="es-ES" spc="165">
                <a:latin typeface="Arial"/>
                <a:cs typeface="Arial"/>
              </a:rPr>
              <a:t>: Adrián García Giner; Ángel González de Amo</a:t>
            </a:r>
            <a:endParaRPr sz="180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err="1">
                <a:latin typeface="+mj-lt"/>
                <a:cs typeface="Lucida Sans"/>
              </a:rPr>
              <a:t>Instructions</a:t>
            </a:r>
            <a:br>
              <a:rPr lang="es-ES" sz="2400" spc="-5">
                <a:latin typeface="+mj-lt"/>
                <a:cs typeface="Lucida Sans"/>
              </a:rPr>
            </a:br>
            <a:r>
              <a:rPr lang="es-ES" b="0" spc="-5">
                <a:latin typeface="+mj-lt"/>
                <a:cs typeface="Lucida Sans"/>
              </a:rPr>
              <a:t>General</a:t>
            </a:r>
            <a:endParaRPr sz="2400" b="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4.0. LAYOUT</a:t>
            </a:r>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a:solidFill>
                  <a:sysClr val="windowText" lastClr="000000"/>
                </a:solidFill>
                <a:sym typeface="Wingdings" pitchFamily="2" charset="2"/>
              </a:rPr>
              <a:t>Fork the repo: </a:t>
            </a:r>
            <a:r>
              <a:rPr lang="en-US" kern="0">
                <a:solidFill>
                  <a:sysClr val="windowText" lastClr="000000"/>
                </a:solidFill>
                <a:sym typeface="Wingdings" pitchFamily="2" charset="2"/>
                <a:hlinkClick r:id="rId3"/>
              </a:rPr>
              <a:t>https://github.com/pascualmunoz/cifoin-lab4.git</a:t>
            </a:r>
            <a:endParaRPr lang="en-US" kern="0">
              <a:solidFill>
                <a:sysClr val="windowText" lastClr="000000"/>
              </a:solidFill>
              <a:sym typeface="Wingdings" pitchFamily="2" charset="2"/>
            </a:endParaRPr>
          </a:p>
          <a:p>
            <a:pPr marL="800100" lvl="1" indent="-342900" algn="just">
              <a:buFont typeface="Arial" panose="020B0604020202020204" pitchFamily="34" charset="0"/>
              <a:buChar char="•"/>
            </a:pPr>
            <a:r>
              <a:rPr lang="en-US" kern="0">
                <a:solidFill>
                  <a:sysClr val="windowText" lastClr="000000"/>
                </a:solidFill>
                <a:sym typeface="Wingdings" pitchFamily="2" charset="2"/>
              </a:rPr>
              <a:t>Clone the repo using </a:t>
            </a:r>
            <a:r>
              <a:rPr lang="en-US" kern="0" err="1">
                <a:solidFill>
                  <a:sysClr val="windowText" lastClr="000000"/>
                </a:solidFill>
                <a:sym typeface="Wingdings" pitchFamily="2" charset="2"/>
              </a:rPr>
              <a:t>VSCode</a:t>
            </a:r>
            <a:endParaRPr lang="en-US" kern="0">
              <a:solidFill>
                <a:sysClr val="windowText" lastClr="000000"/>
              </a:solidFill>
              <a:sym typeface="Wingdings" pitchFamily="2" charset="2"/>
            </a:endParaRPr>
          </a:p>
          <a:p>
            <a:pPr marL="800100" lvl="1" indent="-342900" algn="just">
              <a:buFont typeface="Arial" panose="020B0604020202020204" pitchFamily="34" charset="0"/>
              <a:buChar char="•"/>
            </a:pPr>
            <a:r>
              <a:rPr lang="en-US" kern="0">
                <a:solidFill>
                  <a:sysClr val="windowText" lastClr="000000"/>
                </a:solidFill>
                <a:sym typeface="Wingdings" pitchFamily="2" charset="2"/>
              </a:rPr>
              <a:t>Open folder / repo in </a:t>
            </a:r>
            <a:r>
              <a:rPr lang="en-US" kern="0" err="1">
                <a:solidFill>
                  <a:sysClr val="windowText" lastClr="000000"/>
                </a:solidFill>
                <a:sym typeface="Wingdings" pitchFamily="2" charset="2"/>
              </a:rPr>
              <a:t>VSCode</a:t>
            </a:r>
            <a:endParaRPr lang="en-US" kern="0">
              <a:solidFill>
                <a:sysClr val="windowText" lastClr="000000"/>
              </a:solidFill>
              <a:sym typeface="Wingdings" pitchFamily="2" charset="2"/>
            </a:endParaRPr>
          </a:p>
          <a:p>
            <a:pPr marL="800100" lvl="1" indent="-342900" algn="just">
              <a:buFont typeface="Arial" panose="020B0604020202020204" pitchFamily="34" charset="0"/>
              <a:buChar char="•"/>
            </a:pPr>
            <a:r>
              <a:rPr lang="en-US" kern="0">
                <a:solidFill>
                  <a:sysClr val="windowText" lastClr="000000"/>
                </a:solidFill>
                <a:sym typeface="Wingdings" pitchFamily="2" charset="2"/>
              </a:rPr>
              <a:t>Open terminal: </a:t>
            </a:r>
            <a:r>
              <a:rPr lang="en-US" kern="0" err="1">
                <a:solidFill>
                  <a:sysClr val="windowText" lastClr="000000"/>
                </a:solidFill>
                <a:sym typeface="Wingdings" pitchFamily="2" charset="2"/>
              </a:rPr>
              <a:t>uv</a:t>
            </a:r>
            <a:r>
              <a:rPr lang="en-US" kern="0">
                <a:solidFill>
                  <a:sysClr val="windowText" lastClr="000000"/>
                </a:solidFill>
                <a:sym typeface="Wingdings" pitchFamily="2" charset="2"/>
              </a:rPr>
              <a:t> sync</a:t>
            </a:r>
          </a:p>
          <a:p>
            <a:pPr marL="342900" indent="-342900" algn="just">
              <a:buFont typeface="Arial" panose="020B0604020202020204" pitchFamily="34" charset="0"/>
              <a:buChar char="•"/>
            </a:pPr>
            <a:r>
              <a:rPr lang="en-US" kern="0">
                <a:solidFill>
                  <a:sysClr val="windowText" lastClr="000000"/>
                </a:solidFill>
              </a:rPr>
              <a:t>Run the </a:t>
            </a:r>
            <a:r>
              <a:rPr lang="en-US" kern="0" err="1">
                <a:solidFill>
                  <a:sysClr val="windowText" lastClr="000000"/>
                </a:solidFill>
              </a:rPr>
              <a:t>Jupyter</a:t>
            </a:r>
            <a:r>
              <a:rPr lang="en-US" kern="0">
                <a:solidFill>
                  <a:sysClr val="windowText" lastClr="000000"/>
                </a:solidFill>
              </a:rPr>
              <a:t> Notebook: </a:t>
            </a:r>
          </a:p>
          <a:p>
            <a:pPr marL="800100" lvl="1" indent="-342900" algn="just">
              <a:buFont typeface="Arial" panose="020B0604020202020204" pitchFamily="34" charset="0"/>
              <a:buChar char="•"/>
            </a:pPr>
            <a:r>
              <a:rPr lang="en-US" kern="0" err="1">
                <a:solidFill>
                  <a:sysClr val="windowText" lastClr="000000"/>
                </a:solidFill>
              </a:rPr>
              <a:t>LAYOUT_STUDENT.ipynb</a:t>
            </a:r>
            <a:r>
              <a:rPr lang="en-US" kern="0">
                <a:solidFill>
                  <a:sysClr val="windowText" lastClr="000000"/>
                </a:solidFill>
              </a:rPr>
              <a:t> </a:t>
            </a:r>
          </a:p>
          <a:p>
            <a:pPr marL="342900" indent="-342900" algn="just">
              <a:buFont typeface="Arial" panose="020B0604020202020204" pitchFamily="34" charset="0"/>
              <a:buChar char="•"/>
            </a:pPr>
            <a:endParaRPr lang="en-US" kern="0">
              <a:solidFill>
                <a:sysClr val="windowText" lastClr="000000"/>
              </a:solidFill>
            </a:endParaRPr>
          </a:p>
          <a:p>
            <a:pPr marL="342900" indent="-342900" algn="just">
              <a:buFont typeface="Arial" panose="020B0604020202020204" pitchFamily="34" charset="0"/>
              <a:buChar char="•"/>
            </a:pPr>
            <a:r>
              <a:rPr lang="en-US" b="1" kern="0">
                <a:solidFill>
                  <a:srgbClr val="FF0000"/>
                </a:solidFill>
              </a:rPr>
              <a:t>Points</a:t>
            </a:r>
          </a:p>
          <a:p>
            <a:pPr marL="800100" lvl="1" indent="-342900" algn="just">
              <a:buFont typeface="Arial" panose="020B0604020202020204" pitchFamily="34" charset="0"/>
              <a:buChar char="•"/>
            </a:pPr>
            <a:r>
              <a:rPr lang="en-US" b="1" kern="0">
                <a:solidFill>
                  <a:srgbClr val="FF0000"/>
                </a:solidFill>
              </a:rPr>
              <a:t>LO1: 3 points</a:t>
            </a:r>
          </a:p>
          <a:p>
            <a:pPr marL="800100" lvl="1" indent="-342900" algn="just">
              <a:buFont typeface="Arial" panose="020B0604020202020204" pitchFamily="34" charset="0"/>
              <a:buChar char="•"/>
            </a:pPr>
            <a:r>
              <a:rPr lang="en-US" b="1" kern="0">
                <a:solidFill>
                  <a:srgbClr val="FF0000"/>
                </a:solidFill>
              </a:rPr>
              <a:t>LO2: 3 points</a:t>
            </a:r>
          </a:p>
          <a:p>
            <a:pPr marL="800100" lvl="1" indent="-342900" algn="just">
              <a:buFont typeface="Arial" panose="020B0604020202020204" pitchFamily="34" charset="0"/>
              <a:buChar char="•"/>
            </a:pPr>
            <a:r>
              <a:rPr lang="en-US" b="1" kern="0">
                <a:solidFill>
                  <a:srgbClr val="FF0000"/>
                </a:solidFill>
              </a:rPr>
              <a:t>LO3: 1 points</a:t>
            </a:r>
          </a:p>
          <a:p>
            <a:pPr marL="800100" lvl="1" indent="-342900" algn="just">
              <a:buFont typeface="Arial" panose="020B0604020202020204" pitchFamily="34" charset="0"/>
              <a:buChar char="•"/>
            </a:pPr>
            <a:r>
              <a:rPr lang="en-US" b="1" kern="0">
                <a:solidFill>
                  <a:srgbClr val="FF0000"/>
                </a:solidFill>
              </a:rPr>
              <a:t>LO4: 3 points</a:t>
            </a:r>
          </a:p>
          <a:p>
            <a:pPr algn="just"/>
            <a:endParaRPr lang="en-US" b="1" i="1"/>
          </a:p>
          <a:p>
            <a:pPr algn="just"/>
            <a:endParaRPr lang="en-US" sz="2000" b="1" i="1"/>
          </a:p>
          <a:p>
            <a:pPr algn="just"/>
            <a:endParaRPr lang="en-US" sz="2000" kern="0">
              <a:solidFill>
                <a:sysClr val="windowText" lastClr="000000"/>
              </a:solidFill>
            </a:endParaRPr>
          </a:p>
        </p:txBody>
      </p:sp>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#1a – Notebook section 1. Technology</a:t>
            </a:r>
            <a:br>
              <a:rPr lang="es-ES" sz="2500" spc="-5">
                <a:latin typeface="+mj-lt"/>
                <a:cs typeface="Lucida Sans"/>
              </a:rPr>
            </a:br>
            <a:r>
              <a:rPr lang="es-ES" b="0" i="1" spc="-5">
                <a:latin typeface="+mj-lt"/>
              </a:rPr>
              <a:t>“</a:t>
            </a:r>
            <a:r>
              <a:rPr lang="es-ES" b="0" i="1" spc="-5" err="1">
                <a:latin typeface="+mj-lt"/>
              </a:rPr>
              <a:t>We</a:t>
            </a:r>
            <a:r>
              <a:rPr lang="es-ES" b="0" i="1" spc="-5">
                <a:latin typeface="+mj-lt"/>
              </a:rPr>
              <a:t> </a:t>
            </a:r>
            <a:r>
              <a:rPr lang="es-ES" b="0" i="1" spc="-5" err="1">
                <a:latin typeface="+mj-lt"/>
              </a:rPr>
              <a:t>will</a:t>
            </a:r>
            <a:r>
              <a:rPr lang="es-ES" b="0" i="1" spc="-5">
                <a:latin typeface="+mj-lt"/>
              </a:rPr>
              <a:t> </a:t>
            </a:r>
            <a:r>
              <a:rPr lang="es-ES" b="0" i="1" spc="-5" err="1">
                <a:latin typeface="+mj-lt"/>
              </a:rPr>
              <a:t>work</a:t>
            </a:r>
            <a:r>
              <a:rPr lang="es-ES" b="0" i="1" spc="-5">
                <a:latin typeface="+mj-lt"/>
                <a:cs typeface="Lucida Sans"/>
              </a:rPr>
              <a:t> </a:t>
            </a:r>
            <a:r>
              <a:rPr lang="es-ES" b="0" i="1" spc="-5" err="1">
                <a:latin typeface="+mj-lt"/>
                <a:cs typeface="Lucida Sans"/>
              </a:rPr>
              <a:t>with</a:t>
            </a:r>
            <a:r>
              <a:rPr lang="es-ES" b="0" i="1" spc="-5">
                <a:latin typeface="+mj-lt"/>
                <a:cs typeface="Lucida Sans"/>
              </a:rPr>
              <a:t> </a:t>
            </a:r>
            <a:r>
              <a:rPr lang="es-ES" b="0" i="1" spc="-5" err="1">
                <a:latin typeface="+mj-lt"/>
                <a:cs typeface="Lucida Sans"/>
              </a:rPr>
              <a:t>the</a:t>
            </a:r>
            <a:r>
              <a:rPr lang="es-ES" b="0" i="1" spc="-5">
                <a:latin typeface="+mj-lt"/>
                <a:cs typeface="Lucida Sans"/>
              </a:rPr>
              <a:t> demo UPVfab PDK. </a:t>
            </a:r>
            <a:r>
              <a:rPr lang="es-ES" b="0" i="1" spc="-5" err="1">
                <a:latin typeface="+mj-lt"/>
                <a:cs typeface="Lucida Sans"/>
              </a:rPr>
              <a:t>Let's</a:t>
            </a:r>
            <a:r>
              <a:rPr lang="es-ES" b="0" i="1" spc="-5">
                <a:latin typeface="+mj-lt"/>
                <a:cs typeface="Lucida Sans"/>
              </a:rPr>
              <a:t> </a:t>
            </a:r>
            <a:r>
              <a:rPr lang="es-ES" b="0" i="1" spc="-5" err="1">
                <a:latin typeface="+mj-lt"/>
                <a:cs typeface="Lucida Sans"/>
              </a:rPr>
              <a:t>view</a:t>
            </a:r>
            <a:r>
              <a:rPr lang="es-ES" b="0" i="1" spc="-5">
                <a:latin typeface="+mj-lt"/>
                <a:cs typeface="Lucida Sans"/>
              </a:rPr>
              <a:t> </a:t>
            </a:r>
            <a:r>
              <a:rPr lang="es-ES" b="0" i="1" spc="-5" err="1">
                <a:latin typeface="+mj-lt"/>
                <a:cs typeface="Lucida Sans"/>
              </a:rPr>
              <a:t>the</a:t>
            </a:r>
            <a:r>
              <a:rPr lang="es-ES" b="0" i="1" spc="-5">
                <a:latin typeface="+mj-lt"/>
                <a:cs typeface="Lucida Sans"/>
              </a:rPr>
              <a:t> </a:t>
            </a:r>
            <a:r>
              <a:rPr lang="es-ES" b="0" i="1" spc="-5" err="1">
                <a:latin typeface="+mj-lt"/>
                <a:cs typeface="Lucida Sans"/>
              </a:rPr>
              <a:t>layer</a:t>
            </a:r>
            <a:r>
              <a:rPr lang="es-ES" b="0" i="1" spc="-5">
                <a:latin typeface="+mj-lt"/>
                <a:cs typeface="Lucida Sans"/>
              </a:rPr>
              <a:t> </a:t>
            </a:r>
            <a:r>
              <a:rPr lang="es-ES" b="0" i="1" spc="-5" err="1">
                <a:latin typeface="+mj-lt"/>
                <a:cs typeface="Lucida Sans"/>
              </a:rPr>
              <a:t>distribution</a:t>
            </a:r>
            <a:r>
              <a:rPr lang="es-ES" b="0" i="1" spc="-5">
                <a:latin typeface="+mj-lt"/>
                <a:cs typeface="Lucida Sans"/>
              </a:rPr>
              <a:t> </a:t>
            </a:r>
            <a:r>
              <a:rPr lang="es-ES" b="0" i="1" spc="-5" err="1">
                <a:latin typeface="+mj-lt"/>
                <a:cs typeface="Lucida Sans"/>
              </a:rPr>
              <a:t>of</a:t>
            </a:r>
            <a:r>
              <a:rPr lang="es-ES" b="0" i="1" spc="-5">
                <a:latin typeface="+mj-lt"/>
                <a:cs typeface="Lucida Sans"/>
              </a:rPr>
              <a:t> </a:t>
            </a:r>
            <a:r>
              <a:rPr lang="es-ES" b="0" i="1" spc="-5" err="1">
                <a:latin typeface="+mj-lt"/>
                <a:cs typeface="Lucida Sans"/>
              </a:rPr>
              <a:t>this</a:t>
            </a:r>
            <a:r>
              <a:rPr lang="es-ES" b="0" i="1" spc="-5">
                <a:latin typeface="+mj-lt"/>
                <a:cs typeface="Lucida Sans"/>
              </a:rPr>
              <a:t> PDK”</a:t>
            </a:r>
            <a:endParaRPr sz="2500" b="0" i="1">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Un PDK es un conjunto de herramientas, reglas de diseño, documentación y librerías de componentes para garantizar que un circuito diseñado sea físicamente fabricable. Las diferentes máscaras fotolitrográficas y pasos físicos (grabado de silicio, deposición de metales, etc.) que se aplicarán secuencialmente sobre la oblea para construir un chip. Para Nuestro PDK encontramos las siguientes capas -&gt; 1/0 (WG): Grabado total de silicio para definer las guías de onda core; 21/0 (SLAB): Grabado parcial de silicio (pedestal); 4/0 (HEATER): Metal fino para resistencias de sintonización térmica; 41/0 (PAD): Metal grueso para almohadillas de contecto eléctrico; 99/0 (FLOORPLAN): Límite geométrico y dimensiones físicas del chip. 100/0 (LABEL_SETTINGS): Texto de configuración y metadatos globales; 101/1 (LABEL_INSTANCE): Etiquetas de texto para identificar components en el laboratorio</a:t>
            </a:r>
          </a:p>
        </p:txBody>
      </p:sp>
      <p:sp>
        <p:nvSpPr>
          <p:cNvPr id="6" name="Rectángulo 5">
            <a:extLst>
              <a:ext uri="{FF2B5EF4-FFF2-40B4-BE49-F238E27FC236}">
                <a16:creationId xmlns:a16="http://schemas.microsoft.com/office/drawing/2014/main" id="{82AE4A84-532D-D50D-F368-79FF1C11E97A}"/>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024B9AF7-5B09-CE7C-68D9-8620B8F4F607}"/>
              </a:ext>
            </a:extLst>
          </p:cNvPr>
          <p:cNvSpPr txBox="1"/>
          <p:nvPr/>
        </p:nvSpPr>
        <p:spPr>
          <a:xfrm>
            <a:off x="1162052" y="2332723"/>
            <a:ext cx="3216330" cy="1354217"/>
          </a:xfrm>
          <a:prstGeom prst="rect">
            <a:avLst/>
          </a:prstGeom>
          <a:noFill/>
        </p:spPr>
        <p:txBody>
          <a:bodyPr wrap="none" rtlCol="0">
            <a:spAutoFit/>
          </a:bodyPr>
          <a:lstStyle/>
          <a:p>
            <a:r>
              <a:rPr lang="es-ES" sz="1600"/>
              <a:t>LAYER_VIEWS = PDK.layer_views</a:t>
            </a:r>
          </a:p>
          <a:p>
            <a:r>
              <a:rPr lang="es-ES" sz="1600"/>
              <a:t>c = LAYER_VIEWS.preview_layerset()</a:t>
            </a:r>
          </a:p>
          <a:p>
            <a:r>
              <a:rPr lang="es-ES" sz="1600"/>
              <a:t>c.show()</a:t>
            </a:r>
          </a:p>
          <a:p>
            <a:r>
              <a:rPr lang="es-ES" sz="1600"/>
              <a:t>c.plot()</a:t>
            </a:r>
          </a:p>
          <a:p>
            <a:pPr algn="ctr"/>
            <a:endParaRPr lang="en-US"/>
          </a:p>
        </p:txBody>
      </p:sp>
      <p:sp>
        <p:nvSpPr>
          <p:cNvPr id="8" name="Rectángulo 7">
            <a:extLst>
              <a:ext uri="{FF2B5EF4-FFF2-40B4-BE49-F238E27FC236}">
                <a16:creationId xmlns:a16="http://schemas.microsoft.com/office/drawing/2014/main" id="{8BEC3D78-C227-4F8E-7F5D-F398FB043D20}"/>
              </a:ext>
            </a:extLst>
          </p:cNvPr>
          <p:cNvSpPr/>
          <p:nvPr/>
        </p:nvSpPr>
        <p:spPr>
          <a:xfrm>
            <a:off x="6476841" y="1420406"/>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927F6635-01BE-31CB-AA75-5C30E05A1B81}"/>
              </a:ext>
            </a:extLst>
          </p:cNvPr>
          <p:cNvPicPr>
            <a:picLocks noChangeAspect="1"/>
          </p:cNvPicPr>
          <p:nvPr/>
        </p:nvPicPr>
        <p:blipFill>
          <a:blip r:embed="rId4"/>
          <a:stretch>
            <a:fillRect/>
          </a:stretch>
        </p:blipFill>
        <p:spPr>
          <a:xfrm>
            <a:off x="7066037" y="1512609"/>
            <a:ext cx="4154178" cy="3135997"/>
          </a:xfrm>
          <a:prstGeom prst="rect">
            <a:avLst/>
          </a:prstGeom>
        </p:spPr>
      </p:pic>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21758-3D0C-3510-194A-4075C73D458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F925C6-A9EE-0450-6CF3-EB5E905BE7E0}"/>
              </a:ext>
            </a:extLst>
          </p:cNvPr>
          <p:cNvSpPr txBox="1">
            <a:spLocks noGrp="1"/>
          </p:cNvSpPr>
          <p:nvPr>
            <p:ph type="title"/>
          </p:nvPr>
        </p:nvSpPr>
        <p:spPr>
          <a:xfrm>
            <a:off x="685800" y="408883"/>
            <a:ext cx="10994410" cy="951543"/>
          </a:xfrm>
          <a:prstGeom prst="rect">
            <a:avLst/>
          </a:prstGeom>
        </p:spPr>
        <p:txBody>
          <a:bodyPr vert="horz" wrap="square" lIns="0" tIns="12700" rIns="0" bIns="0" rtlCol="0">
            <a:spAutoFit/>
          </a:bodyPr>
          <a:lstStyle/>
          <a:p>
            <a:pPr marL="12700" algn="just">
              <a:lnSpc>
                <a:spcPct val="100000"/>
              </a:lnSpc>
              <a:spcBef>
                <a:spcPts val="100"/>
              </a:spcBef>
            </a:pPr>
            <a:r>
              <a:rPr lang="en-US" sz="2500"/>
              <a:t>Learning outcome #1b – Notebook section 1. Technology – </a:t>
            </a:r>
            <a:r>
              <a:rPr lang="en-US" sz="2500">
                <a:solidFill>
                  <a:srgbClr val="FF0000"/>
                </a:solidFill>
              </a:rPr>
              <a:t>1 slide per component</a:t>
            </a:r>
            <a:br>
              <a:rPr lang="en-US" sz="2500"/>
            </a:br>
            <a:r>
              <a:rPr lang="en-US" sz="1800" b="0" i="1"/>
              <a:t>“Use your design results from Lab2 and Lab3 to create layout instances of your designed components: DCs, MMIs, MZIs &amp; Ring Resonators”</a:t>
            </a:r>
            <a:endParaRPr sz="2500" b="0" i="1">
              <a:latin typeface="+mj-lt"/>
              <a:cs typeface="Lucida Sans"/>
            </a:endParaRPr>
          </a:p>
        </p:txBody>
      </p:sp>
      <p:pic>
        <p:nvPicPr>
          <p:cNvPr id="83" name="Gráfico 82">
            <a:extLst>
              <a:ext uri="{FF2B5EF4-FFF2-40B4-BE49-F238E27FC236}">
                <a16:creationId xmlns:a16="http://schemas.microsoft.com/office/drawing/2014/main" id="{61751C67-979A-7D64-9474-F594568485E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5A815B6-7BA3-E2CF-377E-EACA0F621FAA}"/>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018AEC9F-5174-0EEA-5CD3-65515392F16F}"/>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A1BE4500-9BE4-025B-9167-E8AC6466B028}"/>
              </a:ext>
            </a:extLst>
          </p:cNvPr>
          <p:cNvSpPr txBox="1"/>
          <p:nvPr/>
        </p:nvSpPr>
        <p:spPr>
          <a:xfrm>
            <a:off x="609441" y="4860334"/>
            <a:ext cx="11199971" cy="646331"/>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Este es el acoplador direccional que diseñamos en el LAB 2. La constante de acoplamiento objetivo es K = 0.5. Las dimensiones físicas más relevantes de este DC son la separación entre guías de onda (0.6 um), el ancho de las guías de onda (1.2 um) y la longitud del acoplador que para una K = 0.5 debe ser de L_pi/2, es decir de 47.0135 um. </a:t>
            </a:r>
          </a:p>
        </p:txBody>
      </p:sp>
      <p:sp>
        <p:nvSpPr>
          <p:cNvPr id="6" name="Rectángulo 5">
            <a:extLst>
              <a:ext uri="{FF2B5EF4-FFF2-40B4-BE49-F238E27FC236}">
                <a16:creationId xmlns:a16="http://schemas.microsoft.com/office/drawing/2014/main" id="{FB364273-7E07-9E83-F4A6-1AFD1AEFE243}"/>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96224819-75AC-EB82-A160-7A3DE5BF0740}"/>
              </a:ext>
            </a:extLst>
          </p:cNvPr>
          <p:cNvSpPr txBox="1"/>
          <p:nvPr/>
        </p:nvSpPr>
        <p:spPr>
          <a:xfrm>
            <a:off x="685800" y="1948839"/>
            <a:ext cx="4970848" cy="2246769"/>
          </a:xfrm>
          <a:prstGeom prst="rect">
            <a:avLst/>
          </a:prstGeom>
          <a:noFill/>
        </p:spPr>
        <p:txBody>
          <a:bodyPr wrap="none" rtlCol="0">
            <a:spAutoFit/>
          </a:bodyPr>
          <a:lstStyle/>
          <a:p>
            <a:r>
              <a:rPr lang="es-ES" sz="1400"/>
              <a:t>L_pi = 94.027 #um</a:t>
            </a:r>
          </a:p>
          <a:p>
            <a:r>
              <a:rPr lang="es-ES" sz="1400"/>
              <a:t>xs = gf.cross_section.strip(width=1.2, layer = 'WG')</a:t>
            </a:r>
          </a:p>
          <a:p>
            <a:endParaRPr lang="es-ES" sz="1400"/>
          </a:p>
          <a:p>
            <a:r>
              <a:rPr lang="es-ES" sz="1400"/>
              <a:t>dc = gf.components.coupler(gap=0.6, </a:t>
            </a:r>
          </a:p>
          <a:p>
            <a:r>
              <a:rPr lang="es-ES" sz="1400"/>
              <a:t>                          length=L_pi/2, #mitad de L_pi para conseguir K=0.5</a:t>
            </a:r>
          </a:p>
          <a:p>
            <a:r>
              <a:rPr lang="es-ES" sz="1400"/>
              <a:t>                          cross_section=xs)</a:t>
            </a:r>
          </a:p>
          <a:p>
            <a:r>
              <a:rPr lang="es-ES" sz="1400"/>
              <a:t>                          </a:t>
            </a:r>
          </a:p>
          <a:p>
            <a:r>
              <a:rPr lang="es-ES" sz="1400"/>
              <a:t>dc.plot()</a:t>
            </a:r>
          </a:p>
          <a:p>
            <a:r>
              <a:rPr lang="es-ES" sz="1400"/>
              <a:t>dc.show()</a:t>
            </a:r>
          </a:p>
          <a:p>
            <a:r>
              <a:rPr lang="es-ES" sz="1400"/>
              <a:t>dc.draw_ports()</a:t>
            </a:r>
          </a:p>
        </p:txBody>
      </p:sp>
      <p:sp>
        <p:nvSpPr>
          <p:cNvPr id="8" name="Rectángulo 7">
            <a:extLst>
              <a:ext uri="{FF2B5EF4-FFF2-40B4-BE49-F238E27FC236}">
                <a16:creationId xmlns:a16="http://schemas.microsoft.com/office/drawing/2014/main" id="{8C1E968B-0AE0-37CB-7468-A50896329E70}"/>
              </a:ext>
            </a:extLst>
          </p:cNvPr>
          <p:cNvSpPr/>
          <p:nvPr/>
        </p:nvSpPr>
        <p:spPr>
          <a:xfrm>
            <a:off x="6476841" y="1420406"/>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Imagen 10">
            <a:extLst>
              <a:ext uri="{FF2B5EF4-FFF2-40B4-BE49-F238E27FC236}">
                <a16:creationId xmlns:a16="http://schemas.microsoft.com/office/drawing/2014/main" id="{B37A1FE8-557B-1775-ABDD-697C61DE2D96}"/>
              </a:ext>
            </a:extLst>
          </p:cNvPr>
          <p:cNvPicPr>
            <a:picLocks noChangeAspect="1"/>
          </p:cNvPicPr>
          <p:nvPr/>
        </p:nvPicPr>
        <p:blipFill>
          <a:blip r:embed="rId4"/>
          <a:stretch>
            <a:fillRect/>
          </a:stretch>
        </p:blipFill>
        <p:spPr>
          <a:xfrm>
            <a:off x="7034172" y="1479333"/>
            <a:ext cx="4217908" cy="3184107"/>
          </a:xfrm>
          <a:prstGeom prst="rect">
            <a:avLst/>
          </a:prstGeom>
        </p:spPr>
      </p:pic>
      <p:sp>
        <p:nvSpPr>
          <p:cNvPr id="12" name="CuadroTexto 11">
            <a:extLst>
              <a:ext uri="{FF2B5EF4-FFF2-40B4-BE49-F238E27FC236}">
                <a16:creationId xmlns:a16="http://schemas.microsoft.com/office/drawing/2014/main" id="{418FFE31-BF50-DA3D-8659-052F078EA15C}"/>
              </a:ext>
            </a:extLst>
          </p:cNvPr>
          <p:cNvSpPr txBox="1"/>
          <p:nvPr/>
        </p:nvSpPr>
        <p:spPr>
          <a:xfrm>
            <a:off x="609441" y="1360426"/>
            <a:ext cx="596637" cy="523220"/>
          </a:xfrm>
          <a:prstGeom prst="rect">
            <a:avLst/>
          </a:prstGeom>
          <a:noFill/>
        </p:spPr>
        <p:txBody>
          <a:bodyPr wrap="none" rtlCol="0">
            <a:spAutoFit/>
          </a:bodyPr>
          <a:lstStyle/>
          <a:p>
            <a:pPr algn="ctr"/>
            <a:r>
              <a:rPr lang="en-US" sz="2800"/>
              <a:t>DC</a:t>
            </a:r>
          </a:p>
        </p:txBody>
      </p:sp>
    </p:spTree>
    <p:extLst>
      <p:ext uri="{BB962C8B-B14F-4D97-AF65-F5344CB8AC3E}">
        <p14:creationId xmlns:p14="http://schemas.microsoft.com/office/powerpoint/2010/main" val="11964245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D4A2B7-0F54-989D-118D-7E5E285D05CB}"/>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8173C1DE-8E82-E1E6-2229-DBFA8546254E}"/>
              </a:ext>
            </a:extLst>
          </p:cNvPr>
          <p:cNvSpPr txBox="1">
            <a:spLocks noGrp="1"/>
          </p:cNvSpPr>
          <p:nvPr>
            <p:ph type="title"/>
          </p:nvPr>
        </p:nvSpPr>
        <p:spPr>
          <a:xfrm>
            <a:off x="685800" y="408883"/>
            <a:ext cx="10994410" cy="951543"/>
          </a:xfrm>
          <a:prstGeom prst="rect">
            <a:avLst/>
          </a:prstGeom>
        </p:spPr>
        <p:txBody>
          <a:bodyPr vert="horz" wrap="square" lIns="0" tIns="12700" rIns="0" bIns="0" rtlCol="0">
            <a:spAutoFit/>
          </a:bodyPr>
          <a:lstStyle/>
          <a:p>
            <a:pPr marL="12700" algn="just">
              <a:lnSpc>
                <a:spcPct val="100000"/>
              </a:lnSpc>
              <a:spcBef>
                <a:spcPts val="100"/>
              </a:spcBef>
            </a:pPr>
            <a:r>
              <a:rPr lang="en-US" sz="2500"/>
              <a:t>Learning outcome #1b – Notebook section 1. Technology – </a:t>
            </a:r>
            <a:r>
              <a:rPr lang="en-US" sz="2500">
                <a:solidFill>
                  <a:srgbClr val="FF0000"/>
                </a:solidFill>
              </a:rPr>
              <a:t>1 slide per component</a:t>
            </a:r>
            <a:br>
              <a:rPr lang="en-US" sz="2500"/>
            </a:br>
            <a:r>
              <a:rPr lang="en-US" sz="1800" b="0" i="1"/>
              <a:t>“Use your design results from Lab2 and Lab3 to create layout instances of your designed components: DCs, MMIs, MZIs &amp; Ring Resonators”</a:t>
            </a:r>
            <a:endParaRPr sz="2500" b="0" i="1">
              <a:latin typeface="+mj-lt"/>
              <a:cs typeface="Lucida Sans"/>
            </a:endParaRPr>
          </a:p>
        </p:txBody>
      </p:sp>
      <p:pic>
        <p:nvPicPr>
          <p:cNvPr id="83" name="Gráfico 82">
            <a:extLst>
              <a:ext uri="{FF2B5EF4-FFF2-40B4-BE49-F238E27FC236}">
                <a16:creationId xmlns:a16="http://schemas.microsoft.com/office/drawing/2014/main" id="{F12A586E-9771-9C74-C6F3-B6B9253360E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F480BE2-4F0D-F084-47C1-FE39F5433B13}"/>
              </a:ext>
            </a:extLst>
          </p:cNvPr>
          <p:cNvSpPr>
            <a:spLocks noGrp="1"/>
          </p:cNvSpPr>
          <p:nvPr>
            <p:ph type="sldNum" sz="quarter" idx="7"/>
          </p:nvPr>
        </p:nvSpPr>
        <p:spPr/>
        <p:txBody>
          <a:bodyPr/>
          <a:lstStyle/>
          <a:p>
            <a:fld id="{B6F15528-21DE-4FAA-801E-634DDDAF4B2B}" type="slidenum">
              <a:rPr lang="es-ES" smtClean="0"/>
              <a:t>5</a:t>
            </a:fld>
            <a:endParaRPr lang="es-ES"/>
          </a:p>
        </p:txBody>
      </p:sp>
      <p:sp>
        <p:nvSpPr>
          <p:cNvPr id="3" name="Marcador de pie de página 2">
            <a:extLst>
              <a:ext uri="{FF2B5EF4-FFF2-40B4-BE49-F238E27FC236}">
                <a16:creationId xmlns:a16="http://schemas.microsoft.com/office/drawing/2014/main" id="{6A899AF6-A0E7-E1BF-9916-9D06D55C9330}"/>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2A0318AF-4EA8-D2D7-2B7F-E20A7A5CED5B}"/>
              </a:ext>
            </a:extLst>
          </p:cNvPr>
          <p:cNvSpPr txBox="1"/>
          <p:nvPr/>
        </p:nvSpPr>
        <p:spPr>
          <a:xfrm>
            <a:off x="609441" y="4860334"/>
            <a:ext cx="11199971" cy="830997"/>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Este es el MMI 1x4 que diseñamos en el LAB 2. Se trata de una configuración simétrica ya que la entrada se encuentra centrada en y = 0. Se tiene una K objetivo de 0.25, por lo tanto idealmente debería de “salir” un 25% del total que entra en el MMI por cada salida. Las dimensiones más relevantes son la longitud del MMI (aprox. 47 um), el ancho del MMI (13.2 um), las posiciones de entrada (MMI simétrico -&gt; y = 0) y salidas, situadas a una distancia de -5.412 (o5), -1.815 (o4), 1.815 (o3), 5.412 (o2) um respecto al centro y un ancho de las guías de 1.5 um.</a:t>
            </a:r>
          </a:p>
        </p:txBody>
      </p:sp>
      <p:sp>
        <p:nvSpPr>
          <p:cNvPr id="6" name="Rectángulo 5">
            <a:extLst>
              <a:ext uri="{FF2B5EF4-FFF2-40B4-BE49-F238E27FC236}">
                <a16:creationId xmlns:a16="http://schemas.microsoft.com/office/drawing/2014/main" id="{3140EC9A-082E-B009-AB85-A9C421FF6761}"/>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462FE396-3F03-B40A-B34F-E17FB5AA09FF}"/>
              </a:ext>
            </a:extLst>
          </p:cNvPr>
          <p:cNvSpPr txBox="1"/>
          <p:nvPr/>
        </p:nvSpPr>
        <p:spPr>
          <a:xfrm>
            <a:off x="664737" y="1831653"/>
            <a:ext cx="5544690" cy="2677656"/>
          </a:xfrm>
          <a:prstGeom prst="rect">
            <a:avLst/>
          </a:prstGeom>
          <a:noFill/>
        </p:spPr>
        <p:txBody>
          <a:bodyPr wrap="square" rtlCol="0">
            <a:spAutoFit/>
          </a:bodyPr>
          <a:lstStyle/>
          <a:p>
            <a:r>
              <a:rPr lang="es-ES" sz="800"/>
              <a:t>numInputs = 1</a:t>
            </a:r>
          </a:p>
          <a:p>
            <a:r>
              <a:rPr lang="es-ES" sz="800"/>
              <a:t>numOutputs = 4</a:t>
            </a:r>
          </a:p>
          <a:p>
            <a:r>
              <a:rPr lang="es-ES" sz="800"/>
              <a:t>L_pi = 263.95 #um</a:t>
            </a:r>
          </a:p>
          <a:p>
            <a:r>
              <a:rPr lang="es-ES" sz="800"/>
              <a:t>long_mmi = (3/(4*numOutputs))* L_pi - 2.5 #valor obtenido de la optimización realizada en el LAB 2</a:t>
            </a:r>
          </a:p>
          <a:p>
            <a:r>
              <a:rPr lang="es-ES" sz="800"/>
              <a:t>#print(long_mmi)</a:t>
            </a:r>
          </a:p>
          <a:p>
            <a:r>
              <a:rPr lang="es-ES" sz="800"/>
              <a:t>ancho_mmi = 13.2 #um</a:t>
            </a:r>
          </a:p>
          <a:p>
            <a:r>
              <a:rPr lang="es-ES" sz="800"/>
              <a:t>posiciones_outputs = [(ancho_mmi/numOutputs) * pos for pos in [-1.64, -0.55, 0.55, 1.64]] #um</a:t>
            </a:r>
          </a:p>
          <a:p>
            <a:r>
              <a:rPr lang="es-ES" sz="800"/>
              <a:t>print(posiciones_outputs)</a:t>
            </a:r>
          </a:p>
          <a:p>
            <a:endParaRPr lang="es-ES" sz="800"/>
          </a:p>
          <a:p>
            <a:r>
              <a:rPr lang="es-ES" sz="800"/>
              <a:t>mmi = gf.components.mmi(inputs = numInputs,</a:t>
            </a:r>
          </a:p>
          <a:p>
            <a:r>
              <a:rPr lang="es-ES" sz="800"/>
              <a:t>                       width = 1.5, #1.5 um de ancho (de las guías)</a:t>
            </a:r>
          </a:p>
          <a:p>
            <a:r>
              <a:rPr lang="es-ES" sz="800"/>
              <a:t>                       width_taper = 1.5, #creamos tapper igual, para transición ancho cte</a:t>
            </a:r>
          </a:p>
          <a:p>
            <a:r>
              <a:rPr lang="es-ES" sz="800"/>
              <a:t>                       outputs = numOutputs,</a:t>
            </a:r>
          </a:p>
          <a:p>
            <a:r>
              <a:rPr lang="es-ES" sz="800"/>
              <a:t>                       length_mmi = long_mmi,</a:t>
            </a:r>
          </a:p>
          <a:p>
            <a:r>
              <a:rPr lang="es-ES" sz="800"/>
              <a:t>                       width_mmi = ancho_mmi,</a:t>
            </a:r>
          </a:p>
          <a:p>
            <a:r>
              <a:rPr lang="es-ES" sz="800"/>
              <a:t>                       input_positions = [0], #IN en el centro</a:t>
            </a:r>
          </a:p>
          <a:p>
            <a:r>
              <a:rPr lang="es-ES" sz="800"/>
              <a:t>                       output_positions = posiciones_outputs) #um </a:t>
            </a:r>
            <a:br>
              <a:rPr lang="es-ES" sz="800"/>
            </a:br>
            <a:endParaRPr lang="es-ES" sz="800"/>
          </a:p>
          <a:p>
            <a:r>
              <a:rPr lang="es-ES" sz="800"/>
              <a:t>mmi.draw_ports()                          </a:t>
            </a:r>
          </a:p>
          <a:p>
            <a:r>
              <a:rPr lang="es-ES" sz="800"/>
              <a:t>mmi.plot()</a:t>
            </a:r>
          </a:p>
          <a:p>
            <a:r>
              <a:rPr lang="es-ES" sz="800"/>
              <a:t>mmi.show()</a:t>
            </a:r>
            <a:endParaRPr lang="es-ES"/>
          </a:p>
        </p:txBody>
      </p:sp>
      <p:sp>
        <p:nvSpPr>
          <p:cNvPr id="8" name="Rectángulo 7">
            <a:extLst>
              <a:ext uri="{FF2B5EF4-FFF2-40B4-BE49-F238E27FC236}">
                <a16:creationId xmlns:a16="http://schemas.microsoft.com/office/drawing/2014/main" id="{042E9FE2-27D2-6753-71E5-E581A8A9138B}"/>
              </a:ext>
            </a:extLst>
          </p:cNvPr>
          <p:cNvSpPr/>
          <p:nvPr/>
        </p:nvSpPr>
        <p:spPr>
          <a:xfrm>
            <a:off x="6476841" y="1420406"/>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uadroTexto 3">
            <a:extLst>
              <a:ext uri="{FF2B5EF4-FFF2-40B4-BE49-F238E27FC236}">
                <a16:creationId xmlns:a16="http://schemas.microsoft.com/office/drawing/2014/main" id="{6F353EE1-5219-9DF3-C684-67034DD7E1C2}"/>
              </a:ext>
            </a:extLst>
          </p:cNvPr>
          <p:cNvSpPr txBox="1"/>
          <p:nvPr/>
        </p:nvSpPr>
        <p:spPr>
          <a:xfrm>
            <a:off x="609441" y="1418373"/>
            <a:ext cx="889987" cy="523220"/>
          </a:xfrm>
          <a:prstGeom prst="rect">
            <a:avLst/>
          </a:prstGeom>
          <a:noFill/>
        </p:spPr>
        <p:txBody>
          <a:bodyPr wrap="none" rtlCol="0">
            <a:spAutoFit/>
          </a:bodyPr>
          <a:lstStyle/>
          <a:p>
            <a:pPr algn="ctr"/>
            <a:r>
              <a:rPr lang="en-US" sz="2800"/>
              <a:t>MMI</a:t>
            </a:r>
          </a:p>
        </p:txBody>
      </p:sp>
      <p:pic>
        <p:nvPicPr>
          <p:cNvPr id="12" name="Imagen 11">
            <a:extLst>
              <a:ext uri="{FF2B5EF4-FFF2-40B4-BE49-F238E27FC236}">
                <a16:creationId xmlns:a16="http://schemas.microsoft.com/office/drawing/2014/main" id="{4EF50933-9BF3-4733-0E39-281257E9C8D5}"/>
              </a:ext>
            </a:extLst>
          </p:cNvPr>
          <p:cNvPicPr>
            <a:picLocks noChangeAspect="1"/>
          </p:cNvPicPr>
          <p:nvPr/>
        </p:nvPicPr>
        <p:blipFill>
          <a:blip r:embed="rId4"/>
          <a:stretch>
            <a:fillRect/>
          </a:stretch>
        </p:blipFill>
        <p:spPr>
          <a:xfrm>
            <a:off x="7094201" y="1458958"/>
            <a:ext cx="4271889" cy="3224857"/>
          </a:xfrm>
          <a:prstGeom prst="rect">
            <a:avLst/>
          </a:prstGeom>
        </p:spPr>
      </p:pic>
    </p:spTree>
    <p:extLst>
      <p:ext uri="{BB962C8B-B14F-4D97-AF65-F5344CB8AC3E}">
        <p14:creationId xmlns:p14="http://schemas.microsoft.com/office/powerpoint/2010/main" val="32630229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565916-92E5-FCAA-62F4-63C6BE35F8E3}"/>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924D9C93-BD16-0BB2-76CE-0777F6466A89}"/>
              </a:ext>
            </a:extLst>
          </p:cNvPr>
          <p:cNvSpPr txBox="1">
            <a:spLocks noGrp="1"/>
          </p:cNvSpPr>
          <p:nvPr>
            <p:ph type="title"/>
          </p:nvPr>
        </p:nvSpPr>
        <p:spPr>
          <a:xfrm>
            <a:off x="685800" y="408883"/>
            <a:ext cx="10994410" cy="951543"/>
          </a:xfrm>
          <a:prstGeom prst="rect">
            <a:avLst/>
          </a:prstGeom>
        </p:spPr>
        <p:txBody>
          <a:bodyPr vert="horz" wrap="square" lIns="0" tIns="12700" rIns="0" bIns="0" rtlCol="0">
            <a:spAutoFit/>
          </a:bodyPr>
          <a:lstStyle/>
          <a:p>
            <a:pPr marL="12700" algn="just">
              <a:lnSpc>
                <a:spcPct val="100000"/>
              </a:lnSpc>
              <a:spcBef>
                <a:spcPts val="100"/>
              </a:spcBef>
            </a:pPr>
            <a:r>
              <a:rPr lang="en-US" sz="2500"/>
              <a:t>Learning outcome #1b – Notebook section 1. Technology – </a:t>
            </a:r>
            <a:r>
              <a:rPr lang="en-US" sz="2500">
                <a:solidFill>
                  <a:srgbClr val="FF0000"/>
                </a:solidFill>
              </a:rPr>
              <a:t>1 slide per component</a:t>
            </a:r>
            <a:br>
              <a:rPr lang="en-US" sz="2500"/>
            </a:br>
            <a:r>
              <a:rPr lang="en-US" sz="1800" b="0" i="1"/>
              <a:t>“Use your design results from Lab2 and Lab3 to create layout instances of your designed components: DCs, MMIs, MZIs &amp; Ring Resonators”</a:t>
            </a:r>
            <a:endParaRPr sz="2500" b="0" i="1">
              <a:latin typeface="+mj-lt"/>
              <a:cs typeface="Lucida Sans"/>
            </a:endParaRPr>
          </a:p>
        </p:txBody>
      </p:sp>
      <p:pic>
        <p:nvPicPr>
          <p:cNvPr id="83" name="Gráfico 82">
            <a:extLst>
              <a:ext uri="{FF2B5EF4-FFF2-40B4-BE49-F238E27FC236}">
                <a16:creationId xmlns:a16="http://schemas.microsoft.com/office/drawing/2014/main" id="{28528652-8977-3165-E5C3-1A4A430D0DC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E86ADA21-DDC0-715A-A263-C54191B322BC}"/>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3" name="Marcador de pie de página 2">
            <a:extLst>
              <a:ext uri="{FF2B5EF4-FFF2-40B4-BE49-F238E27FC236}">
                <a16:creationId xmlns:a16="http://schemas.microsoft.com/office/drawing/2014/main" id="{7E2B0907-CC78-42EB-324F-C512272D7469}"/>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5945EB47-8482-07E5-736B-CF6CA6A77935}"/>
              </a:ext>
            </a:extLst>
          </p:cNvPr>
          <p:cNvSpPr txBox="1"/>
          <p:nvPr/>
        </p:nvSpPr>
        <p:spPr>
          <a:xfrm>
            <a:off x="609441" y="4860334"/>
            <a:ext cx="11199971" cy="646331"/>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Este es el MZI desbalanceado diseñado en el LAB 3 (concretamente en el apartado L0.2). La longitude de los brazos es de 10 um de base aunque por ser desbalanceado, el brazo inferior es delta_L más largo provocando un desfase de caminos recorridos que combierte a este MZI en un filtro peine altamente selectivo tal y como se observó en la práctica. </a:t>
            </a:r>
          </a:p>
        </p:txBody>
      </p:sp>
      <p:sp>
        <p:nvSpPr>
          <p:cNvPr id="6" name="Rectángulo 5">
            <a:extLst>
              <a:ext uri="{FF2B5EF4-FFF2-40B4-BE49-F238E27FC236}">
                <a16:creationId xmlns:a16="http://schemas.microsoft.com/office/drawing/2014/main" id="{D31E288B-8913-DDA6-4A7B-C136E2B61888}"/>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C7EFA1EF-DBF0-4D13-AD10-EB35D8C24131}"/>
              </a:ext>
            </a:extLst>
          </p:cNvPr>
          <p:cNvSpPr txBox="1"/>
          <p:nvPr/>
        </p:nvSpPr>
        <p:spPr>
          <a:xfrm>
            <a:off x="706881" y="1879273"/>
            <a:ext cx="5177764" cy="2462213"/>
          </a:xfrm>
          <a:prstGeom prst="rect">
            <a:avLst/>
          </a:prstGeom>
          <a:noFill/>
        </p:spPr>
        <p:txBody>
          <a:bodyPr wrap="none" rtlCol="0">
            <a:spAutoFit/>
          </a:bodyPr>
          <a:lstStyle/>
          <a:p>
            <a:r>
              <a:rPr lang="es-ES" sz="1400"/>
              <a:t>l_base = 10 #um</a:t>
            </a:r>
          </a:p>
          <a:p>
            <a:r>
              <a:rPr lang="es-ES" sz="1400"/>
              <a:t>delta_L = 600.625 #um -&gt; calculado en el LAB 3 para un FSR de 2 nm </a:t>
            </a:r>
          </a:p>
          <a:p>
            <a:r>
              <a:rPr lang="es-ES" sz="1400"/>
              <a:t>@1550 nm</a:t>
            </a:r>
            <a:br>
              <a:rPr lang="es-ES" sz="1400"/>
            </a:br>
            <a:endParaRPr lang="es-ES" sz="1400"/>
          </a:p>
          <a:p>
            <a:r>
              <a:rPr lang="es-ES" sz="1400"/>
              <a:t>mzi = gf.components.mzi_coupler(length_x = l_base,</a:t>
            </a:r>
          </a:p>
          <a:p>
            <a:r>
              <a:rPr lang="es-ES" sz="1400"/>
              <a:t>                                delta_length = delta_L) </a:t>
            </a:r>
          </a:p>
          <a:p>
            <a:br>
              <a:rPr lang="es-ES" sz="1400"/>
            </a:br>
            <a:endParaRPr lang="es-ES" sz="1400"/>
          </a:p>
          <a:p>
            <a:r>
              <a:rPr lang="es-ES" sz="1400"/>
              <a:t>mzi.draw_ports()                          </a:t>
            </a:r>
          </a:p>
          <a:p>
            <a:r>
              <a:rPr lang="es-ES" sz="1400"/>
              <a:t>mzi.plot()</a:t>
            </a:r>
          </a:p>
          <a:p>
            <a:r>
              <a:rPr lang="es-ES" sz="1400"/>
              <a:t>mzi.show()</a:t>
            </a:r>
          </a:p>
        </p:txBody>
      </p:sp>
      <p:sp>
        <p:nvSpPr>
          <p:cNvPr id="8" name="Rectángulo 7">
            <a:extLst>
              <a:ext uri="{FF2B5EF4-FFF2-40B4-BE49-F238E27FC236}">
                <a16:creationId xmlns:a16="http://schemas.microsoft.com/office/drawing/2014/main" id="{5E0F24DE-CADD-1281-BCC3-CE0AB4A8CC1E}"/>
              </a:ext>
            </a:extLst>
          </p:cNvPr>
          <p:cNvSpPr/>
          <p:nvPr/>
        </p:nvSpPr>
        <p:spPr>
          <a:xfrm>
            <a:off x="6476841" y="1420406"/>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uadroTexto 3">
            <a:extLst>
              <a:ext uri="{FF2B5EF4-FFF2-40B4-BE49-F238E27FC236}">
                <a16:creationId xmlns:a16="http://schemas.microsoft.com/office/drawing/2014/main" id="{B399894E-BE63-6E15-43FE-A7743A0BD958}"/>
              </a:ext>
            </a:extLst>
          </p:cNvPr>
          <p:cNvSpPr txBox="1"/>
          <p:nvPr/>
        </p:nvSpPr>
        <p:spPr>
          <a:xfrm>
            <a:off x="679172" y="1418373"/>
            <a:ext cx="750526" cy="523220"/>
          </a:xfrm>
          <a:prstGeom prst="rect">
            <a:avLst/>
          </a:prstGeom>
          <a:noFill/>
        </p:spPr>
        <p:txBody>
          <a:bodyPr wrap="none" rtlCol="0">
            <a:spAutoFit/>
          </a:bodyPr>
          <a:lstStyle/>
          <a:p>
            <a:pPr algn="ctr"/>
            <a:r>
              <a:rPr lang="en-US" sz="2800"/>
              <a:t>MZI</a:t>
            </a:r>
          </a:p>
        </p:txBody>
      </p:sp>
      <p:pic>
        <p:nvPicPr>
          <p:cNvPr id="10" name="Imagen 9">
            <a:extLst>
              <a:ext uri="{FF2B5EF4-FFF2-40B4-BE49-F238E27FC236}">
                <a16:creationId xmlns:a16="http://schemas.microsoft.com/office/drawing/2014/main" id="{12BD2998-0795-D6FA-9567-FBC501881ED7}"/>
              </a:ext>
            </a:extLst>
          </p:cNvPr>
          <p:cNvPicPr>
            <a:picLocks noChangeAspect="1"/>
          </p:cNvPicPr>
          <p:nvPr/>
        </p:nvPicPr>
        <p:blipFill>
          <a:blip r:embed="rId4"/>
          <a:stretch>
            <a:fillRect/>
          </a:stretch>
        </p:blipFill>
        <p:spPr>
          <a:xfrm>
            <a:off x="7229834" y="1494326"/>
            <a:ext cx="4163612" cy="3143118"/>
          </a:xfrm>
          <a:prstGeom prst="rect">
            <a:avLst/>
          </a:prstGeom>
        </p:spPr>
      </p:pic>
    </p:spTree>
    <p:extLst>
      <p:ext uri="{BB962C8B-B14F-4D97-AF65-F5344CB8AC3E}">
        <p14:creationId xmlns:p14="http://schemas.microsoft.com/office/powerpoint/2010/main" val="18299596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1AE4F-621F-142F-FF68-DCBCE7126F8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999E49D8-4E72-0B16-92EB-09C29E514F84}"/>
              </a:ext>
            </a:extLst>
          </p:cNvPr>
          <p:cNvSpPr txBox="1">
            <a:spLocks noGrp="1"/>
          </p:cNvSpPr>
          <p:nvPr>
            <p:ph type="title"/>
          </p:nvPr>
        </p:nvSpPr>
        <p:spPr>
          <a:xfrm>
            <a:off x="685800" y="408883"/>
            <a:ext cx="10994410" cy="951543"/>
          </a:xfrm>
          <a:prstGeom prst="rect">
            <a:avLst/>
          </a:prstGeom>
        </p:spPr>
        <p:txBody>
          <a:bodyPr vert="horz" wrap="square" lIns="0" tIns="12700" rIns="0" bIns="0" rtlCol="0">
            <a:spAutoFit/>
          </a:bodyPr>
          <a:lstStyle/>
          <a:p>
            <a:pPr marL="12700" algn="just">
              <a:lnSpc>
                <a:spcPct val="100000"/>
              </a:lnSpc>
              <a:spcBef>
                <a:spcPts val="100"/>
              </a:spcBef>
            </a:pPr>
            <a:r>
              <a:rPr lang="en-US" sz="2500"/>
              <a:t>Learning outcome #1b – Notebook section 1. Technology – </a:t>
            </a:r>
            <a:r>
              <a:rPr lang="en-US" sz="2500">
                <a:solidFill>
                  <a:srgbClr val="FF0000"/>
                </a:solidFill>
              </a:rPr>
              <a:t>1 slide per component</a:t>
            </a:r>
            <a:br>
              <a:rPr lang="en-US" sz="2500"/>
            </a:br>
            <a:r>
              <a:rPr lang="en-US" sz="1800" b="0" i="1"/>
              <a:t>“Use your design results from Lab2 and Lab3 to create layout instances of your designed components: DCs, MMIs, MZIs &amp; Ring Resonators”</a:t>
            </a:r>
            <a:endParaRPr sz="2500" b="0" i="1">
              <a:latin typeface="+mj-lt"/>
              <a:cs typeface="Lucida Sans"/>
            </a:endParaRPr>
          </a:p>
        </p:txBody>
      </p:sp>
      <p:pic>
        <p:nvPicPr>
          <p:cNvPr id="83" name="Gráfico 82">
            <a:extLst>
              <a:ext uri="{FF2B5EF4-FFF2-40B4-BE49-F238E27FC236}">
                <a16:creationId xmlns:a16="http://schemas.microsoft.com/office/drawing/2014/main" id="{A69074A0-5110-2375-7809-14FB9B46340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A8CEA865-286E-E9BE-62C6-13D080BCF3FD}"/>
              </a:ext>
            </a:extLst>
          </p:cNvPr>
          <p:cNvSpPr>
            <a:spLocks noGrp="1"/>
          </p:cNvSpPr>
          <p:nvPr>
            <p:ph type="sldNum" sz="quarter" idx="7"/>
          </p:nvPr>
        </p:nvSpPr>
        <p:spPr/>
        <p:txBody>
          <a:bodyPr/>
          <a:lstStyle/>
          <a:p>
            <a:fld id="{B6F15528-21DE-4FAA-801E-634DDDAF4B2B}" type="slidenum">
              <a:rPr lang="es-ES" smtClean="0"/>
              <a:t>7</a:t>
            </a:fld>
            <a:endParaRPr lang="es-ES"/>
          </a:p>
        </p:txBody>
      </p:sp>
      <p:sp>
        <p:nvSpPr>
          <p:cNvPr id="3" name="Marcador de pie de página 2">
            <a:extLst>
              <a:ext uri="{FF2B5EF4-FFF2-40B4-BE49-F238E27FC236}">
                <a16:creationId xmlns:a16="http://schemas.microsoft.com/office/drawing/2014/main" id="{85EA1F2F-118A-E500-ADAE-40B9854244F3}"/>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9E2677DE-DDAA-8161-C8D4-3176552DB11F}"/>
              </a:ext>
            </a:extLst>
          </p:cNvPr>
          <p:cNvSpPr txBox="1"/>
          <p:nvPr/>
        </p:nvSpPr>
        <p:spPr>
          <a:xfrm>
            <a:off x="609441" y="4860334"/>
            <a:ext cx="11199971" cy="461665"/>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Single Ring Resonator diseñado en el LAB 3 para una FRS de 15 nm @1550 nm que tiene por longitud del anillo 80.08 um según cálculos realizados en el lab anterior. La K del acoplador es de 0.5</a:t>
            </a:r>
          </a:p>
        </p:txBody>
      </p:sp>
      <p:sp>
        <p:nvSpPr>
          <p:cNvPr id="6" name="Rectángulo 5">
            <a:extLst>
              <a:ext uri="{FF2B5EF4-FFF2-40B4-BE49-F238E27FC236}">
                <a16:creationId xmlns:a16="http://schemas.microsoft.com/office/drawing/2014/main" id="{7FC6BCCF-2DDF-304D-081B-70BE7A24AD36}"/>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FC2FE623-D9D0-69C3-F358-73A13D255279}"/>
              </a:ext>
            </a:extLst>
          </p:cNvPr>
          <p:cNvSpPr txBox="1"/>
          <p:nvPr/>
        </p:nvSpPr>
        <p:spPr>
          <a:xfrm>
            <a:off x="685800" y="1886618"/>
            <a:ext cx="4857550" cy="2800767"/>
          </a:xfrm>
          <a:prstGeom prst="rect">
            <a:avLst/>
          </a:prstGeom>
          <a:noFill/>
        </p:spPr>
        <p:txBody>
          <a:bodyPr wrap="square" rtlCol="0">
            <a:spAutoFit/>
          </a:bodyPr>
          <a:lstStyle/>
          <a:p>
            <a:r>
              <a:rPr lang="es-ES" sz="1100"/>
              <a:t>l_r = 80.08 #um -&gt; calculada en el LAB 3 para un FSR de 15 nm</a:t>
            </a:r>
          </a:p>
          <a:p>
            <a:r>
              <a:rPr lang="es-ES" sz="1100"/>
              <a:t>radius_r = l_r/(2*math.pi)</a:t>
            </a:r>
          </a:p>
          <a:p>
            <a:endParaRPr lang="es-ES" sz="1100"/>
          </a:p>
          <a:p>
            <a:r>
              <a:rPr lang="es-ES" sz="1100"/>
              <a:t>xs = gf.cross_section.strip(width=1.2, layer = 'WG') #necesaria para poder elegir un radius menor de 35 um</a:t>
            </a:r>
            <a:br>
              <a:rPr lang="es-ES" sz="1100"/>
            </a:br>
            <a:endParaRPr lang="es-ES" sz="1100"/>
          </a:p>
          <a:p>
            <a:r>
              <a:rPr lang="es-ES" sz="1100"/>
              <a:t>#usamos ring_single ya que devuelve un componente de este tipo con </a:t>
            </a:r>
          </a:p>
          <a:p>
            <a:r>
              <a:rPr lang="es-ES" sz="1100"/>
              <a:t>#un acoplador direccional, es decir, de k = 0.5</a:t>
            </a:r>
          </a:p>
          <a:p>
            <a:r>
              <a:rPr lang="es-ES" sz="1100"/>
              <a:t>ring = gf.components.ring_single(length_x = 0,</a:t>
            </a:r>
          </a:p>
          <a:p>
            <a:r>
              <a:rPr lang="es-ES" sz="1100"/>
              <a:t>                                 length_y = 0, </a:t>
            </a:r>
          </a:p>
          <a:p>
            <a:r>
              <a:rPr lang="es-ES" sz="1100"/>
              <a:t>                                 radius = radius_r,</a:t>
            </a:r>
          </a:p>
          <a:p>
            <a:r>
              <a:rPr lang="es-ES" sz="1100"/>
              <a:t>                                 cross_section = xs)</a:t>
            </a:r>
            <a:br>
              <a:rPr lang="es-ES" sz="1100"/>
            </a:br>
            <a:endParaRPr lang="es-ES" sz="1100"/>
          </a:p>
          <a:p>
            <a:r>
              <a:rPr lang="es-ES" sz="1100"/>
              <a:t>ring.draw_ports()                          </a:t>
            </a:r>
          </a:p>
          <a:p>
            <a:r>
              <a:rPr lang="es-ES" sz="1100"/>
              <a:t>ring.plot()</a:t>
            </a:r>
          </a:p>
          <a:p>
            <a:r>
              <a:rPr lang="es-ES" sz="1100"/>
              <a:t>ring.show()</a:t>
            </a:r>
          </a:p>
        </p:txBody>
      </p:sp>
      <p:sp>
        <p:nvSpPr>
          <p:cNvPr id="8" name="Rectángulo 7">
            <a:extLst>
              <a:ext uri="{FF2B5EF4-FFF2-40B4-BE49-F238E27FC236}">
                <a16:creationId xmlns:a16="http://schemas.microsoft.com/office/drawing/2014/main" id="{34702AD9-A9A4-031F-7E0D-0A663776DA86}"/>
              </a:ext>
            </a:extLst>
          </p:cNvPr>
          <p:cNvSpPr/>
          <p:nvPr/>
        </p:nvSpPr>
        <p:spPr>
          <a:xfrm>
            <a:off x="6476841" y="1420406"/>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uadroTexto 3">
            <a:extLst>
              <a:ext uri="{FF2B5EF4-FFF2-40B4-BE49-F238E27FC236}">
                <a16:creationId xmlns:a16="http://schemas.microsoft.com/office/drawing/2014/main" id="{C877283C-563C-F667-1DEE-FE3ED89F250D}"/>
              </a:ext>
            </a:extLst>
          </p:cNvPr>
          <p:cNvSpPr txBox="1"/>
          <p:nvPr/>
        </p:nvSpPr>
        <p:spPr>
          <a:xfrm>
            <a:off x="609441" y="1474446"/>
            <a:ext cx="2386872" cy="523220"/>
          </a:xfrm>
          <a:prstGeom prst="rect">
            <a:avLst/>
          </a:prstGeom>
          <a:noFill/>
        </p:spPr>
        <p:txBody>
          <a:bodyPr wrap="none" rtlCol="0">
            <a:spAutoFit/>
          </a:bodyPr>
          <a:lstStyle/>
          <a:p>
            <a:pPr algn="ctr"/>
            <a:r>
              <a:rPr lang="en-US" sz="2800"/>
              <a:t>Ring Resonator</a:t>
            </a:r>
          </a:p>
        </p:txBody>
      </p:sp>
      <p:pic>
        <p:nvPicPr>
          <p:cNvPr id="10" name="Imagen 9">
            <a:extLst>
              <a:ext uri="{FF2B5EF4-FFF2-40B4-BE49-F238E27FC236}">
                <a16:creationId xmlns:a16="http://schemas.microsoft.com/office/drawing/2014/main" id="{1388A893-2080-DA43-4B70-E3A2297DCC3C}"/>
              </a:ext>
            </a:extLst>
          </p:cNvPr>
          <p:cNvPicPr>
            <a:picLocks noChangeAspect="1"/>
          </p:cNvPicPr>
          <p:nvPr/>
        </p:nvPicPr>
        <p:blipFill>
          <a:blip r:embed="rId4"/>
          <a:stretch>
            <a:fillRect/>
          </a:stretch>
        </p:blipFill>
        <p:spPr>
          <a:xfrm>
            <a:off x="7178119" y="1460788"/>
            <a:ext cx="4267041" cy="3221198"/>
          </a:xfrm>
          <a:prstGeom prst="rect">
            <a:avLst/>
          </a:prstGeom>
        </p:spPr>
      </p:pic>
    </p:spTree>
    <p:extLst>
      <p:ext uri="{BB962C8B-B14F-4D97-AF65-F5344CB8AC3E}">
        <p14:creationId xmlns:p14="http://schemas.microsoft.com/office/powerpoint/2010/main" val="41748157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5B0A8-BCE1-AF65-5AFA-79184BEDA90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EDCA2EEE-70B8-D049-D7BD-B54DCCF3207D}"/>
              </a:ext>
            </a:extLst>
          </p:cNvPr>
          <p:cNvSpPr txBox="1">
            <a:spLocks noGrp="1"/>
          </p:cNvSpPr>
          <p:nvPr>
            <p:ph type="title"/>
          </p:nvPr>
        </p:nvSpPr>
        <p:spPr>
          <a:xfrm>
            <a:off x="685800" y="408883"/>
            <a:ext cx="10994410" cy="951543"/>
          </a:xfrm>
          <a:prstGeom prst="rect">
            <a:avLst/>
          </a:prstGeom>
        </p:spPr>
        <p:txBody>
          <a:bodyPr vert="horz" wrap="square" lIns="0" tIns="12700" rIns="0" bIns="0" rtlCol="0">
            <a:spAutoFit/>
          </a:bodyPr>
          <a:lstStyle/>
          <a:p>
            <a:pPr marL="12700" algn="l">
              <a:lnSpc>
                <a:spcPct val="100000"/>
              </a:lnSpc>
              <a:spcBef>
                <a:spcPts val="100"/>
              </a:spcBef>
            </a:pPr>
            <a:r>
              <a:rPr lang="en-US" sz="2500"/>
              <a:t>Learning outcome #2a – Notebook section 2. Layout Fundamentals</a:t>
            </a:r>
            <a:br>
              <a:rPr lang="en-US" sz="2500"/>
            </a:br>
            <a:r>
              <a:rPr lang="en-US" sz="1800" b="0" i="1"/>
              <a:t>“Once that we have a working 'new' component, we shall convert it into a Cell. This will allow us to have a hierarchical design”</a:t>
            </a:r>
            <a:endParaRPr sz="2500" b="0" i="1">
              <a:latin typeface="+mj-lt"/>
              <a:cs typeface="Lucida Sans"/>
            </a:endParaRPr>
          </a:p>
        </p:txBody>
      </p:sp>
      <p:pic>
        <p:nvPicPr>
          <p:cNvPr id="83" name="Gráfico 82">
            <a:extLst>
              <a:ext uri="{FF2B5EF4-FFF2-40B4-BE49-F238E27FC236}">
                <a16:creationId xmlns:a16="http://schemas.microsoft.com/office/drawing/2014/main" id="{DDB8C9DA-7093-6464-A7C1-20B2A585A1E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102C027-A211-C670-7EF5-D7A4650EEA98}"/>
              </a:ext>
            </a:extLst>
          </p:cNvPr>
          <p:cNvSpPr>
            <a:spLocks noGrp="1"/>
          </p:cNvSpPr>
          <p:nvPr>
            <p:ph type="sldNum" sz="quarter" idx="7"/>
          </p:nvPr>
        </p:nvSpPr>
        <p:spPr/>
        <p:txBody>
          <a:bodyPr/>
          <a:lstStyle/>
          <a:p>
            <a:fld id="{B6F15528-21DE-4FAA-801E-634DDDAF4B2B}" type="slidenum">
              <a:rPr lang="es-ES" smtClean="0"/>
              <a:t>8</a:t>
            </a:fld>
            <a:endParaRPr lang="es-ES"/>
          </a:p>
        </p:txBody>
      </p:sp>
      <p:sp>
        <p:nvSpPr>
          <p:cNvPr id="3" name="Marcador de pie de página 2">
            <a:extLst>
              <a:ext uri="{FF2B5EF4-FFF2-40B4-BE49-F238E27FC236}">
                <a16:creationId xmlns:a16="http://schemas.microsoft.com/office/drawing/2014/main" id="{3BB5A66E-75F8-8688-0D68-26E0DDB3AC86}"/>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35C0B36B-B4BD-C242-E1BB-26DD7AC56DB0}"/>
              </a:ext>
            </a:extLst>
          </p:cNvPr>
          <p:cNvSpPr txBox="1"/>
          <p:nvPr/>
        </p:nvSpPr>
        <p:spPr>
          <a:xfrm>
            <a:off x="609441" y="4860334"/>
            <a:ext cx="11199971" cy="646331"/>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Describe component: Estructura base del chip (Die layout) que define los límites del silicio. Se compone de un contorno exterior (out box) que delimita el tamaño total de la die para el corte físico </a:t>
            </a:r>
            <a:r>
              <a:rPr lang="en-US" sz="1200" i="1">
                <a:latin typeface="Arial" panose="020B0604020202020204" pitchFamily="34" charset="0"/>
                <a:cs typeface="Arial" panose="020B0604020202020204" pitchFamily="34" charset="0"/>
              </a:rPr>
              <a:t>(dicing) </a:t>
            </a:r>
            <a:r>
              <a:rPr lang="en-US" sz="1200">
                <a:latin typeface="Arial" panose="020B0604020202020204" pitchFamily="34" charset="0"/>
                <a:cs typeface="Arial" panose="020B0604020202020204" pitchFamily="34" charset="0"/>
              </a:rPr>
              <a:t>y un área de seguridad llamada box in que establece la Ventana limpia de diseño donde se podrían posicionar y enrutar los componentes fotónicos activos y/o pasivos, respetando las reglas de diseño establecidas por el PDK. </a:t>
            </a:r>
            <a:endParaRPr lang="en-US" sz="1200" i="1">
              <a:latin typeface="Arial" panose="020B0604020202020204" pitchFamily="34" charset="0"/>
              <a:cs typeface="Arial" panose="020B0604020202020204" pitchFamily="34" charset="0"/>
            </a:endParaRPr>
          </a:p>
        </p:txBody>
      </p:sp>
      <p:sp>
        <p:nvSpPr>
          <p:cNvPr id="6" name="Rectángulo 5">
            <a:extLst>
              <a:ext uri="{FF2B5EF4-FFF2-40B4-BE49-F238E27FC236}">
                <a16:creationId xmlns:a16="http://schemas.microsoft.com/office/drawing/2014/main" id="{399364F4-A34A-5161-07CB-E12F9FFCB400}"/>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62A2AA3F-CE55-C50B-CB18-2C8D2061FDB9}"/>
              </a:ext>
            </a:extLst>
          </p:cNvPr>
          <p:cNvSpPr txBox="1"/>
          <p:nvPr/>
        </p:nvSpPr>
        <p:spPr>
          <a:xfrm>
            <a:off x="609442" y="1360426"/>
            <a:ext cx="5198428" cy="3277820"/>
          </a:xfrm>
          <a:prstGeom prst="rect">
            <a:avLst/>
          </a:prstGeom>
          <a:noFill/>
        </p:spPr>
        <p:txBody>
          <a:bodyPr wrap="square" rtlCol="0">
            <a:spAutoFit/>
          </a:bodyPr>
          <a:lstStyle/>
          <a:p>
            <a:r>
              <a:rPr lang="es-ES" sz="900"/>
              <a:t>gf.clear_cache()</a:t>
            </a:r>
          </a:p>
          <a:p>
            <a:endParaRPr lang="es-ES" sz="900"/>
          </a:p>
          <a:p>
            <a:r>
              <a:rPr lang="es-ES" sz="900"/>
              <a:t>@gf.cell</a:t>
            </a:r>
          </a:p>
          <a:p>
            <a:r>
              <a:rPr lang="es-ES" sz="900"/>
              <a:t>def die_ex(dieL=5000, dieW=5000, border=250, layer_box="FLOORPLAN"):</a:t>
            </a:r>
          </a:p>
          <a:p>
            <a:r>
              <a:rPr lang="es-ES" sz="900"/>
              <a:t>    box = gf.Component()</a:t>
            </a:r>
          </a:p>
          <a:p>
            <a:r>
              <a:rPr lang="es-ES" sz="900"/>
              <a:t>    # Die specifications (chip)</a:t>
            </a:r>
          </a:p>
          <a:p>
            <a:r>
              <a:rPr lang="es-ES" sz="900"/>
              <a:t>    obox = box.add_ref(gf.components.rectangle(size=(dieW, dieL), layer=layer_box))</a:t>
            </a:r>
          </a:p>
          <a:p>
            <a:r>
              <a:rPr lang="es-ES" sz="900"/>
              <a:t>    ibox = box.add_ref(gf.components.rectangle(size=(dieW-border*2, dieL-border*2), layer=layer_box)).dmovex(border).dmovey(border)</a:t>
            </a:r>
          </a:p>
          <a:p>
            <a:r>
              <a:rPr lang="es-ES" sz="900"/>
              <a:t>    box = gf.boolean(A=obox, B=ibox, operation="A-B", layer=layer_box)</a:t>
            </a:r>
          </a:p>
          <a:p>
            <a:r>
              <a:rPr lang="es-ES" sz="900"/>
              <a:t>    # Puerto de referencia en el origen útil</a:t>
            </a:r>
          </a:p>
          <a:p>
            <a:r>
              <a:rPr lang="es-ES" sz="900"/>
              <a:t>    box.add_port(name="hola mundo", center=[border, border], width=1, orientation=0, layer=layer_box)</a:t>
            </a:r>
          </a:p>
          <a:p>
            <a:r>
              <a:rPr lang="es-ES" sz="900"/>
              <a:t>    box.draw_ports()</a:t>
            </a:r>
          </a:p>
          <a:p>
            <a:r>
              <a:rPr lang="es-ES" sz="900"/>
              <a:t>    return box</a:t>
            </a:r>
            <a:br>
              <a:rPr lang="es-ES" sz="900"/>
            </a:br>
            <a:endParaRPr lang="es-ES" sz="900"/>
          </a:p>
          <a:p>
            <a:r>
              <a:rPr lang="es-ES" sz="900"/>
              <a:t># Diseño Jerárquico (Instanciar celdas en el Top Component)</a:t>
            </a:r>
          </a:p>
          <a:p>
            <a:r>
              <a:rPr lang="es-ES" sz="900"/>
              <a:t>wafer = gf.Component()</a:t>
            </a:r>
          </a:p>
          <a:p>
            <a:r>
              <a:rPr lang="es-ES" sz="900"/>
              <a:t>c1 = wafer.add_ref(die_ex(dieW=3000))</a:t>
            </a:r>
          </a:p>
          <a:p>
            <a:r>
              <a:rPr lang="es-ES" sz="900"/>
              <a:t>c2 = wafer.add_ref(die_ex(dieW=4000)).dmovex(5000)</a:t>
            </a:r>
          </a:p>
          <a:p>
            <a:r>
              <a:rPr lang="es-ES" sz="900"/>
              <a:t>c3 = wafer.add_ref(die_ex(dieW=10000)).dmovey(-5000)</a:t>
            </a:r>
          </a:p>
          <a:p>
            <a:br>
              <a:rPr lang="es-ES" sz="900"/>
            </a:br>
            <a:r>
              <a:rPr lang="es-ES" sz="900"/>
              <a:t>wafer.show()</a:t>
            </a:r>
          </a:p>
          <a:p>
            <a:r>
              <a:rPr lang="es-ES" sz="900"/>
              <a:t>wafer.plot()</a:t>
            </a:r>
          </a:p>
        </p:txBody>
      </p:sp>
      <p:sp>
        <p:nvSpPr>
          <p:cNvPr id="8" name="Rectángulo 7">
            <a:extLst>
              <a:ext uri="{FF2B5EF4-FFF2-40B4-BE49-F238E27FC236}">
                <a16:creationId xmlns:a16="http://schemas.microsoft.com/office/drawing/2014/main" id="{4DFC788C-53E2-83E7-3D9E-EBD582171C71}"/>
              </a:ext>
            </a:extLst>
          </p:cNvPr>
          <p:cNvSpPr/>
          <p:nvPr/>
        </p:nvSpPr>
        <p:spPr>
          <a:xfrm>
            <a:off x="6476841" y="1420406"/>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7214D6D7-702E-9165-8522-EAFAF679B991}"/>
              </a:ext>
            </a:extLst>
          </p:cNvPr>
          <p:cNvPicPr>
            <a:picLocks noChangeAspect="1"/>
          </p:cNvPicPr>
          <p:nvPr/>
        </p:nvPicPr>
        <p:blipFill>
          <a:blip r:embed="rId4"/>
          <a:stretch>
            <a:fillRect/>
          </a:stretch>
        </p:blipFill>
        <p:spPr>
          <a:xfrm>
            <a:off x="6910546" y="1494325"/>
            <a:ext cx="4229894" cy="3193155"/>
          </a:xfrm>
          <a:prstGeom prst="rect">
            <a:avLst/>
          </a:prstGeom>
        </p:spPr>
      </p:pic>
    </p:spTree>
    <p:extLst>
      <p:ext uri="{BB962C8B-B14F-4D97-AF65-F5344CB8AC3E}">
        <p14:creationId xmlns:p14="http://schemas.microsoft.com/office/powerpoint/2010/main" val="12032410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D281E-4B83-CADF-E05C-2779A19E8BE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C614703-AB72-E989-42B5-849A55E9B3E2}"/>
              </a:ext>
            </a:extLst>
          </p:cNvPr>
          <p:cNvSpPr txBox="1">
            <a:spLocks noGrp="1"/>
          </p:cNvSpPr>
          <p:nvPr>
            <p:ph type="title"/>
          </p:nvPr>
        </p:nvSpPr>
        <p:spPr>
          <a:xfrm>
            <a:off x="685800" y="408883"/>
            <a:ext cx="10994410" cy="874598"/>
          </a:xfrm>
          <a:prstGeom prst="rect">
            <a:avLst/>
          </a:prstGeom>
        </p:spPr>
        <p:txBody>
          <a:bodyPr vert="horz" wrap="square" lIns="0" tIns="12700" rIns="0" bIns="0" rtlCol="0">
            <a:spAutoFit/>
          </a:bodyPr>
          <a:lstStyle/>
          <a:p>
            <a:pPr marL="12700" algn="just">
              <a:lnSpc>
                <a:spcPct val="100000"/>
              </a:lnSpc>
              <a:spcBef>
                <a:spcPts val="100"/>
              </a:spcBef>
            </a:pPr>
            <a:r>
              <a:rPr lang="en-US"/>
              <a:t>Learning outcome #2a – Notebook section 2. Layout Fundamentals – </a:t>
            </a:r>
            <a:r>
              <a:rPr lang="en-US">
                <a:solidFill>
                  <a:srgbClr val="FF0000"/>
                </a:solidFill>
              </a:rPr>
              <a:t>1 slide per component</a:t>
            </a:r>
            <a:br>
              <a:rPr lang="en-US" sz="2500"/>
            </a:br>
            <a:r>
              <a:rPr lang="en-US" sz="1800" b="0" i="1"/>
              <a:t>“Use your design results from Lab2 and Lab3 to create layout instances of your designed components: DCs, MMIs, MZIs &amp; Ring Resonators” </a:t>
            </a:r>
            <a:r>
              <a:rPr lang="en-US" sz="1800" b="0" i="1">
                <a:solidFill>
                  <a:srgbClr val="FF0000"/>
                </a:solidFill>
                <a:sym typeface="Wingdings" pitchFamily="2" charset="2"/>
              </a:rPr>
              <a:t> Make cells for all your components</a:t>
            </a:r>
            <a:endParaRPr sz="2500" b="0" i="1">
              <a:solidFill>
                <a:srgbClr val="FF0000"/>
              </a:solidFill>
              <a:latin typeface="+mj-lt"/>
              <a:cs typeface="Lucida Sans"/>
            </a:endParaRPr>
          </a:p>
        </p:txBody>
      </p:sp>
      <p:pic>
        <p:nvPicPr>
          <p:cNvPr id="83" name="Gráfico 82">
            <a:extLst>
              <a:ext uri="{FF2B5EF4-FFF2-40B4-BE49-F238E27FC236}">
                <a16:creationId xmlns:a16="http://schemas.microsoft.com/office/drawing/2014/main" id="{B2356666-601E-2F0B-B414-AFB7213C2F5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6398BF1-A4DD-D652-E241-5E9DB50DD57A}"/>
              </a:ext>
            </a:extLst>
          </p:cNvPr>
          <p:cNvSpPr>
            <a:spLocks noGrp="1"/>
          </p:cNvSpPr>
          <p:nvPr>
            <p:ph type="sldNum" sz="quarter" idx="7"/>
          </p:nvPr>
        </p:nvSpPr>
        <p:spPr/>
        <p:txBody>
          <a:bodyPr/>
          <a:lstStyle/>
          <a:p>
            <a:fld id="{B6F15528-21DE-4FAA-801E-634DDDAF4B2B}" type="slidenum">
              <a:rPr lang="es-ES" smtClean="0"/>
              <a:t>9</a:t>
            </a:fld>
            <a:endParaRPr lang="es-ES"/>
          </a:p>
        </p:txBody>
      </p:sp>
      <p:sp>
        <p:nvSpPr>
          <p:cNvPr id="3" name="Marcador de pie de página 2">
            <a:extLst>
              <a:ext uri="{FF2B5EF4-FFF2-40B4-BE49-F238E27FC236}">
                <a16:creationId xmlns:a16="http://schemas.microsoft.com/office/drawing/2014/main" id="{CEC070D5-9297-7D8B-73E0-DC21D7D5CE09}"/>
              </a:ext>
            </a:extLst>
          </p:cNvPr>
          <p:cNvSpPr>
            <a:spLocks noGrp="1"/>
          </p:cNvSpPr>
          <p:nvPr>
            <p:ph type="ftr" sz="quarter" idx="5"/>
          </p:nvPr>
        </p:nvSpPr>
        <p:spPr/>
        <p:txBody>
          <a:bodyPr/>
          <a:lstStyle/>
          <a:p>
            <a:pPr marL="12700">
              <a:spcBef>
                <a:spcPts val="15"/>
              </a:spcBef>
            </a:pPr>
            <a:r>
              <a:rPr lang="es-ES" spc="-5"/>
              <a:t>LAB 4.0. LAYOUT</a:t>
            </a:r>
          </a:p>
        </p:txBody>
      </p:sp>
      <p:sp>
        <p:nvSpPr>
          <p:cNvPr id="6" name="Rectángulo 5">
            <a:extLst>
              <a:ext uri="{FF2B5EF4-FFF2-40B4-BE49-F238E27FC236}">
                <a16:creationId xmlns:a16="http://schemas.microsoft.com/office/drawing/2014/main" id="{D8C2352E-973A-F389-F6A1-D644E07F2E7E}"/>
              </a:ext>
            </a:extLst>
          </p:cNvPr>
          <p:cNvSpPr/>
          <p:nvPr/>
        </p:nvSpPr>
        <p:spPr>
          <a:xfrm>
            <a:off x="609441" y="1418373"/>
            <a:ext cx="5332571"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792D8CBF-451B-83CB-7D64-3CD9C64B8333}"/>
              </a:ext>
            </a:extLst>
          </p:cNvPr>
          <p:cNvSpPr txBox="1"/>
          <p:nvPr/>
        </p:nvSpPr>
        <p:spPr>
          <a:xfrm>
            <a:off x="685800" y="1999409"/>
            <a:ext cx="5044599" cy="3231654"/>
          </a:xfrm>
          <a:prstGeom prst="rect">
            <a:avLst/>
          </a:prstGeom>
          <a:noFill/>
        </p:spPr>
        <p:txBody>
          <a:bodyPr wrap="square" rtlCol="0">
            <a:spAutoFit/>
          </a:bodyPr>
          <a:lstStyle/>
          <a:p>
            <a:r>
              <a:rPr lang="es-ES" sz="1200"/>
              <a:t>@gf.cell</a:t>
            </a:r>
          </a:p>
          <a:p>
            <a:r>
              <a:rPr lang="es-ES" sz="1200"/>
              <a:t>def DC (length=47.013, gap=0.6, width=1.2, layer_wg="WG"):</a:t>
            </a:r>
          </a:p>
          <a:p>
            <a:r>
              <a:rPr lang="es-ES" sz="1200"/>
              <a:t>    c = gf.Component()</a:t>
            </a:r>
          </a:p>
          <a:p>
            <a:endParaRPr lang="es-ES" sz="1200"/>
          </a:p>
          <a:p>
            <a:r>
              <a:rPr lang="es-ES" sz="1200"/>
              <a:t>    #1. Definicion de la cross section con los parámetros de la función</a:t>
            </a:r>
          </a:p>
          <a:p>
            <a:r>
              <a:rPr lang="es-ES" sz="1200"/>
              <a:t>    xs = gf.cross_section.strip(width=width, layer=layer_wg)</a:t>
            </a:r>
          </a:p>
          <a:p>
            <a:endParaRPr lang="es-ES" sz="1200"/>
          </a:p>
          <a:p>
            <a:r>
              <a:rPr lang="es-ES" sz="1200"/>
              <a:t>    #2. Instancia del acoplador dentro de nuestro componente contenedor</a:t>
            </a:r>
          </a:p>
          <a:p>
            <a:r>
              <a:rPr lang="es-ES" sz="1200"/>
              <a:t>    dc_ref = c.add_ref(gf.components.coupler(gap=gap, length=length, cross_section=xs))</a:t>
            </a:r>
          </a:p>
          <a:p>
            <a:br>
              <a:rPr lang="es-ES" sz="1200"/>
            </a:br>
            <a:r>
              <a:rPr lang="es-ES" sz="1200"/>
              <a:t>    #Añadir puertos de dc_ref al componente contenedor c</a:t>
            </a:r>
          </a:p>
          <a:p>
            <a:r>
              <a:rPr lang="es-ES" sz="1200"/>
              <a:t>    c.add_ports(dc_ref.ports)</a:t>
            </a:r>
          </a:p>
          <a:p>
            <a:r>
              <a:rPr lang="es-ES" sz="1200"/>
              <a:t>    c.draw_ports() # los representamos</a:t>
            </a:r>
          </a:p>
          <a:p>
            <a:endParaRPr lang="es-ES" sz="1200"/>
          </a:p>
          <a:p>
            <a:r>
              <a:rPr lang="es-ES" sz="1200"/>
              <a:t>    return c</a:t>
            </a:r>
          </a:p>
          <a:p>
            <a:endParaRPr lang="es-ES" sz="1200"/>
          </a:p>
        </p:txBody>
      </p:sp>
      <p:sp>
        <p:nvSpPr>
          <p:cNvPr id="8" name="Rectángulo 7">
            <a:extLst>
              <a:ext uri="{FF2B5EF4-FFF2-40B4-BE49-F238E27FC236}">
                <a16:creationId xmlns:a16="http://schemas.microsoft.com/office/drawing/2014/main" id="{BAAAC818-8C43-CF5D-4DB7-21D1E6A0DEED}"/>
              </a:ext>
            </a:extLst>
          </p:cNvPr>
          <p:cNvSpPr/>
          <p:nvPr/>
        </p:nvSpPr>
        <p:spPr>
          <a:xfrm>
            <a:off x="6476841" y="1420406"/>
            <a:ext cx="5332571"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a:extLst>
              <a:ext uri="{FF2B5EF4-FFF2-40B4-BE49-F238E27FC236}">
                <a16:creationId xmlns:a16="http://schemas.microsoft.com/office/drawing/2014/main" id="{46DA371A-A1A6-EE0D-1F97-3DB9715CA7FE}"/>
              </a:ext>
            </a:extLst>
          </p:cNvPr>
          <p:cNvPicPr>
            <a:picLocks noChangeAspect="1"/>
          </p:cNvPicPr>
          <p:nvPr/>
        </p:nvPicPr>
        <p:blipFill>
          <a:blip r:embed="rId4"/>
          <a:stretch>
            <a:fillRect/>
          </a:stretch>
        </p:blipFill>
        <p:spPr>
          <a:xfrm>
            <a:off x="6599892" y="1876699"/>
            <a:ext cx="5080318" cy="3835142"/>
          </a:xfrm>
          <a:prstGeom prst="rect">
            <a:avLst/>
          </a:prstGeom>
          <a:ln>
            <a:solidFill>
              <a:schemeClr val="accent1"/>
            </a:solidFill>
          </a:ln>
        </p:spPr>
      </p:pic>
      <p:sp>
        <p:nvSpPr>
          <p:cNvPr id="5" name="CuadroTexto 4">
            <a:extLst>
              <a:ext uri="{FF2B5EF4-FFF2-40B4-BE49-F238E27FC236}">
                <a16:creationId xmlns:a16="http://schemas.microsoft.com/office/drawing/2014/main" id="{28B3275D-E3D8-7E1E-335F-90AC0B520E6D}"/>
              </a:ext>
            </a:extLst>
          </p:cNvPr>
          <p:cNvSpPr txBox="1"/>
          <p:nvPr/>
        </p:nvSpPr>
        <p:spPr>
          <a:xfrm>
            <a:off x="609441" y="1360426"/>
            <a:ext cx="596637" cy="523220"/>
          </a:xfrm>
          <a:prstGeom prst="rect">
            <a:avLst/>
          </a:prstGeom>
          <a:noFill/>
        </p:spPr>
        <p:txBody>
          <a:bodyPr wrap="none" rtlCol="0">
            <a:spAutoFit/>
          </a:bodyPr>
          <a:lstStyle/>
          <a:p>
            <a:pPr algn="ctr"/>
            <a:r>
              <a:rPr lang="en-US" sz="2800"/>
              <a:t>DC</a:t>
            </a:r>
          </a:p>
        </p:txBody>
      </p:sp>
    </p:spTree>
    <p:extLst>
      <p:ext uri="{BB962C8B-B14F-4D97-AF65-F5344CB8AC3E}">
        <p14:creationId xmlns:p14="http://schemas.microsoft.com/office/powerpoint/2010/main" val="15040021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C77F55-952E-3772-DFED-3EF89F677EC3}"/>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0EE29C0-8530-DB76-7D35-897B72269475}"/>
              </a:ext>
            </a:extLst>
          </p:cNvPr>
          <p:cNvSpPr txBox="1">
            <a:spLocks noGrp="1"/>
          </p:cNvSpPr>
          <p:nvPr>
            <p:ph type="title"/>
          </p:nvPr>
        </p:nvSpPr>
        <p:spPr>
          <a:xfrm>
            <a:off x="685800" y="408883"/>
            <a:ext cx="10994410" cy="874598"/>
          </a:xfrm>
          <a:prstGeom prst="rect">
            <a:avLst/>
          </a:prstGeom>
        </p:spPr>
        <p:txBody>
          <a:bodyPr vert="horz" wrap="square" lIns="0" tIns="12700" rIns="0" bIns="0" rtlCol="0">
            <a:spAutoFit/>
          </a:bodyPr>
          <a:lstStyle/>
          <a:p>
            <a:pPr marL="12700" algn="just">
              <a:lnSpc>
                <a:spcPct val="100000"/>
              </a:lnSpc>
              <a:spcBef>
                <a:spcPts val="100"/>
              </a:spcBef>
            </a:pPr>
            <a:r>
              <a:rPr lang="en-US"/>
              <a:t>Learning outcome #2a – Notebook section 2. Layout Fundamentals – </a:t>
            </a:r>
            <a:r>
              <a:rPr lang="en-US">
                <a:solidFill>
                  <a:srgbClr val="FF0000"/>
                </a:solidFill>
              </a:rPr>
              <a:t>1 slide per component</a:t>
            </a:r>
            <a:br>
              <a:rPr lang="en-US" sz="2500"/>
            </a:br>
            <a:r>
              <a:rPr lang="en-US" sz="1800" b="0" i="1"/>
              <a:t>“Use your design results from Lab2 and Lab3 to create layout instances of your designed components: DCs, MMIs, MZIs &amp; Ring Resonators” </a:t>
            </a:r>
            <a:r>
              <a:rPr lang="en-US" sz="1800" b="0" i="1">
                <a:solidFill>
                  <a:srgbClr val="FF0000"/>
                </a:solidFill>
                <a:sym typeface="Wingdings" pitchFamily="2" charset="2"/>
              </a:rPr>
              <a:t> Make cells for all your components</a:t>
            </a:r>
            <a:endParaRPr sz="2500" b="0" i="1">
              <a:solidFill>
                <a:srgbClr val="FF0000"/>
              </a:solidFill>
              <a:latin typeface="+mj-lt"/>
              <a:cs typeface="Lucida Sans"/>
            </a:endParaRPr>
          </a:p>
        </p:txBody>
      </p:sp>
      <p:pic>
        <p:nvPicPr>
          <p:cNvPr id="83" name="Gráfico 82">
            <a:extLst>
              <a:ext uri="{FF2B5EF4-FFF2-40B4-BE49-F238E27FC236}">
                <a16:creationId xmlns:a16="http://schemas.microsoft.com/office/drawing/2014/main" id="{5D113291-0068-E79A-A7A5-FE7A90593C3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95EE6514-C79C-95B9-E8E1-D54039F8C6F8}"/>
              </a:ext>
            </a:extLst>
          </p:cNvPr>
          <p:cNvSpPr>
            <a:spLocks noGrp="1"/>
          </p:cNvSpPr>
          <p:nvPr>
            <p:ph type="sldNum" sz="quarter" idx="7"/>
          </p:nvPr>
        </p:nvSpPr>
        <p:spPr/>
        <p:txBody>
          <a:bodyPr/>
          <a:lstStyle/>
          <a:p>
            <a:fld id="{B6F15528-21DE-4FAA-801E-634DDDAF4B2B}" type="slidenum">
              <a:rPr lang="es-ES" smtClean="0"/>
              <a:t>10</a:t>
            </a:fld>
            <a:endParaRPr lang="es-ES"/>
          </a:p>
        </p:txBody>
      </p:sp>
      <p:sp>
        <p:nvSpPr>
          <p:cNvPr id="3" name="Marcador de pie de página 2">
            <a:extLst>
              <a:ext uri="{FF2B5EF4-FFF2-40B4-BE49-F238E27FC236}">
                <a16:creationId xmlns:a16="http://schemas.microsoft.com/office/drawing/2014/main" id="{ED5B39B7-31A1-5F13-2336-1C0F87B64F0E}"/>
              </a:ext>
            </a:extLst>
          </p:cNvPr>
          <p:cNvSpPr>
            <a:spLocks noGrp="1"/>
          </p:cNvSpPr>
          <p:nvPr>
            <p:ph type="ftr" sz="quarter" idx="5"/>
          </p:nvPr>
        </p:nvSpPr>
        <p:spPr/>
        <p:txBody>
          <a:bodyPr/>
          <a:lstStyle/>
          <a:p>
            <a:pPr marL="12700">
              <a:spcBef>
                <a:spcPts val="15"/>
              </a:spcBef>
            </a:pPr>
            <a:r>
              <a:rPr lang="es-ES" spc="-5"/>
              <a:t>LAB 4.0. LAYOUT</a:t>
            </a:r>
          </a:p>
        </p:txBody>
      </p:sp>
      <p:sp>
        <p:nvSpPr>
          <p:cNvPr id="6" name="Rectángulo 5">
            <a:extLst>
              <a:ext uri="{FF2B5EF4-FFF2-40B4-BE49-F238E27FC236}">
                <a16:creationId xmlns:a16="http://schemas.microsoft.com/office/drawing/2014/main" id="{3F96A889-5769-35EA-E06F-909C0BF60526}"/>
              </a:ext>
            </a:extLst>
          </p:cNvPr>
          <p:cNvSpPr/>
          <p:nvPr/>
        </p:nvSpPr>
        <p:spPr>
          <a:xfrm>
            <a:off x="609441" y="1418373"/>
            <a:ext cx="5332571"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FFFECA82-499F-DD19-D23B-9CFF38E04DE6}"/>
              </a:ext>
            </a:extLst>
          </p:cNvPr>
          <p:cNvSpPr txBox="1"/>
          <p:nvPr/>
        </p:nvSpPr>
        <p:spPr>
          <a:xfrm>
            <a:off x="685800" y="1895601"/>
            <a:ext cx="4626588" cy="4247317"/>
          </a:xfrm>
          <a:prstGeom prst="rect">
            <a:avLst/>
          </a:prstGeom>
          <a:noFill/>
        </p:spPr>
        <p:txBody>
          <a:bodyPr wrap="none" rtlCol="0">
            <a:spAutoFit/>
          </a:bodyPr>
          <a:lstStyle/>
          <a:p>
            <a:r>
              <a:rPr lang="es-ES" sz="900"/>
              <a:t>@gf.cell</a:t>
            </a:r>
          </a:p>
          <a:p>
            <a:r>
              <a:rPr lang="es-ES" sz="900"/>
              <a:t>def MMI_1x4 (l_pi=263.95, ancho_mmi=13.2, width_wg=1.5):</a:t>
            </a:r>
          </a:p>
          <a:p>
            <a:r>
              <a:rPr lang="es-ES" sz="900"/>
              <a:t>    c = gf.Component()</a:t>
            </a:r>
          </a:p>
          <a:p>
            <a:endParaRPr lang="es-ES" sz="900"/>
          </a:p>
          <a:p>
            <a:r>
              <a:rPr lang="es-ES" sz="900"/>
              <a:t>    num_inputs = 1</a:t>
            </a:r>
          </a:p>
          <a:p>
            <a:r>
              <a:rPr lang="es-ES" sz="900"/>
              <a:t>    num_outputs = 4</a:t>
            </a:r>
          </a:p>
          <a:p>
            <a:endParaRPr lang="es-ES" sz="900"/>
          </a:p>
          <a:p>
            <a:r>
              <a:rPr lang="es-ES" sz="900"/>
              <a:t>    #1. Calculamos la longitud del MMI:</a:t>
            </a:r>
          </a:p>
          <a:p>
            <a:r>
              <a:rPr lang="es-ES" sz="900"/>
              <a:t>    long_mmi = (3 / (4 * num_outputs)) * l_pi - 2.5 #del lab 2</a:t>
            </a:r>
          </a:p>
          <a:p>
            <a:endParaRPr lang="es-ES" sz="900"/>
          </a:p>
          <a:p>
            <a:r>
              <a:rPr lang="es-ES" sz="900"/>
              <a:t>    #2. Calculamos las posiciones de las guías de ondas de salida </a:t>
            </a:r>
          </a:p>
          <a:p>
            <a:r>
              <a:rPr lang="es-ES" sz="900"/>
              <a:t>    posiciones_outputs = [(ancho_mmi / num_outputs) * pos for pos in [-1.64, -0.55, 0.55, 1.64]]</a:t>
            </a:r>
          </a:p>
          <a:p>
            <a:r>
              <a:rPr lang="es-ES" sz="900"/>
              <a:t>    </a:t>
            </a:r>
          </a:p>
          <a:p>
            <a:r>
              <a:rPr lang="es-ES" sz="900"/>
              <a:t>    # 3. Instanciamos el MMI nativo dentro de nuestro componente contenedor</a:t>
            </a:r>
          </a:p>
          <a:p>
            <a:r>
              <a:rPr lang="es-ES" sz="900"/>
              <a:t>    mmi_ref = c.add_ref(gf.components.mmi(</a:t>
            </a:r>
          </a:p>
          <a:p>
            <a:r>
              <a:rPr lang="es-ES" sz="900"/>
              <a:t>        inputs=num_inputs,</a:t>
            </a:r>
          </a:p>
          <a:p>
            <a:r>
              <a:rPr lang="es-ES" sz="900"/>
              <a:t>        width=width_wg,</a:t>
            </a:r>
          </a:p>
          <a:p>
            <a:r>
              <a:rPr lang="es-ES" sz="900"/>
              <a:t>        width_taper=width_wg,  # Ancho constante en el taper</a:t>
            </a:r>
          </a:p>
          <a:p>
            <a:r>
              <a:rPr lang="es-ES" sz="900"/>
              <a:t>        outputs=num_outputs,</a:t>
            </a:r>
          </a:p>
          <a:p>
            <a:r>
              <a:rPr lang="es-ES" sz="900"/>
              <a:t>        length_mmi=long_mmi,</a:t>
            </a:r>
          </a:p>
          <a:p>
            <a:r>
              <a:rPr lang="es-ES" sz="900"/>
              <a:t>        width_mmi=ancho_mmi,</a:t>
            </a:r>
          </a:p>
          <a:p>
            <a:r>
              <a:rPr lang="es-ES" sz="900"/>
              <a:t>        input_positions=[0],   # Entrada centrada en Y=0</a:t>
            </a:r>
          </a:p>
          <a:p>
            <a:r>
              <a:rPr lang="es-ES" sz="900"/>
              <a:t>        output_positions=posiciones_outputs</a:t>
            </a:r>
          </a:p>
          <a:p>
            <a:r>
              <a:rPr lang="es-ES" sz="900"/>
              <a:t>    ))</a:t>
            </a:r>
          </a:p>
          <a:p>
            <a:r>
              <a:rPr lang="es-ES" sz="900"/>
              <a:t>  </a:t>
            </a:r>
          </a:p>
          <a:p>
            <a:r>
              <a:rPr lang="es-ES" sz="900"/>
              <a:t>    # 4. Reenviamos los puertos del MMI interno a nuestra celda contenedora</a:t>
            </a:r>
          </a:p>
          <a:p>
            <a:r>
              <a:rPr lang="es-ES" sz="900"/>
              <a:t>    c.add_ports(mmi_ref.ports)</a:t>
            </a:r>
          </a:p>
          <a:p>
            <a:r>
              <a:rPr lang="es-ES" sz="900"/>
              <a:t>    c.draw_ports() # los representamos</a:t>
            </a:r>
            <a:br>
              <a:rPr lang="es-ES" sz="900"/>
            </a:br>
            <a:endParaRPr lang="es-ES" sz="900"/>
          </a:p>
          <a:p>
            <a:r>
              <a:rPr lang="es-ES" sz="900"/>
              <a:t>    return c</a:t>
            </a:r>
          </a:p>
        </p:txBody>
      </p:sp>
      <p:sp>
        <p:nvSpPr>
          <p:cNvPr id="8" name="Rectángulo 7">
            <a:extLst>
              <a:ext uri="{FF2B5EF4-FFF2-40B4-BE49-F238E27FC236}">
                <a16:creationId xmlns:a16="http://schemas.microsoft.com/office/drawing/2014/main" id="{DA6CB091-CB65-E1AA-460C-2BCF08A01962}"/>
              </a:ext>
            </a:extLst>
          </p:cNvPr>
          <p:cNvSpPr/>
          <p:nvPr/>
        </p:nvSpPr>
        <p:spPr>
          <a:xfrm>
            <a:off x="6476841" y="1420406"/>
            <a:ext cx="5332571"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uadroTexto 1">
            <a:extLst>
              <a:ext uri="{FF2B5EF4-FFF2-40B4-BE49-F238E27FC236}">
                <a16:creationId xmlns:a16="http://schemas.microsoft.com/office/drawing/2014/main" id="{DA92F2C8-2E05-7B41-A6B6-2E04D5F94383}"/>
              </a:ext>
            </a:extLst>
          </p:cNvPr>
          <p:cNvSpPr txBox="1"/>
          <p:nvPr/>
        </p:nvSpPr>
        <p:spPr>
          <a:xfrm>
            <a:off x="609441" y="1418373"/>
            <a:ext cx="889987" cy="523220"/>
          </a:xfrm>
          <a:prstGeom prst="rect">
            <a:avLst/>
          </a:prstGeom>
          <a:noFill/>
        </p:spPr>
        <p:txBody>
          <a:bodyPr wrap="none" rtlCol="0">
            <a:spAutoFit/>
          </a:bodyPr>
          <a:lstStyle/>
          <a:p>
            <a:pPr algn="ctr"/>
            <a:r>
              <a:rPr lang="en-US" sz="2800"/>
              <a:t>MMI</a:t>
            </a:r>
          </a:p>
        </p:txBody>
      </p:sp>
      <p:pic>
        <p:nvPicPr>
          <p:cNvPr id="5" name="Imagen 4">
            <a:extLst>
              <a:ext uri="{FF2B5EF4-FFF2-40B4-BE49-F238E27FC236}">
                <a16:creationId xmlns:a16="http://schemas.microsoft.com/office/drawing/2014/main" id="{D862A77D-C583-ECE6-4E0F-E12BAD763B59}"/>
              </a:ext>
            </a:extLst>
          </p:cNvPr>
          <p:cNvPicPr>
            <a:picLocks noChangeAspect="1"/>
          </p:cNvPicPr>
          <p:nvPr/>
        </p:nvPicPr>
        <p:blipFill>
          <a:blip r:embed="rId4"/>
          <a:stretch>
            <a:fillRect/>
          </a:stretch>
        </p:blipFill>
        <p:spPr>
          <a:xfrm>
            <a:off x="6596704" y="1795682"/>
            <a:ext cx="4985855" cy="3763832"/>
          </a:xfrm>
          <a:prstGeom prst="rect">
            <a:avLst/>
          </a:prstGeom>
          <a:ln>
            <a:solidFill>
              <a:schemeClr val="accent1"/>
            </a:solidFill>
          </a:ln>
        </p:spPr>
      </p:pic>
    </p:spTree>
    <p:extLst>
      <p:ext uri="{BB962C8B-B14F-4D97-AF65-F5344CB8AC3E}">
        <p14:creationId xmlns:p14="http://schemas.microsoft.com/office/powerpoint/2010/main" val="38673868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DC857-8090-844A-E0C4-D2E9C37E5881}"/>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F048B6A-635E-4CCD-8235-5402578C2852}"/>
              </a:ext>
            </a:extLst>
          </p:cNvPr>
          <p:cNvSpPr txBox="1">
            <a:spLocks noGrp="1"/>
          </p:cNvSpPr>
          <p:nvPr>
            <p:ph type="title"/>
          </p:nvPr>
        </p:nvSpPr>
        <p:spPr>
          <a:xfrm>
            <a:off x="685800" y="408883"/>
            <a:ext cx="10994410" cy="874598"/>
          </a:xfrm>
          <a:prstGeom prst="rect">
            <a:avLst/>
          </a:prstGeom>
        </p:spPr>
        <p:txBody>
          <a:bodyPr vert="horz" wrap="square" lIns="0" tIns="12700" rIns="0" bIns="0" rtlCol="0">
            <a:spAutoFit/>
          </a:bodyPr>
          <a:lstStyle/>
          <a:p>
            <a:pPr marL="12700" algn="just">
              <a:lnSpc>
                <a:spcPct val="100000"/>
              </a:lnSpc>
              <a:spcBef>
                <a:spcPts val="100"/>
              </a:spcBef>
            </a:pPr>
            <a:r>
              <a:rPr lang="en-US"/>
              <a:t>Learning outcome #2a – Notebook section 2. Layout Fundamentals – </a:t>
            </a:r>
            <a:r>
              <a:rPr lang="en-US">
                <a:solidFill>
                  <a:srgbClr val="FF0000"/>
                </a:solidFill>
              </a:rPr>
              <a:t>1 slide per component</a:t>
            </a:r>
            <a:br>
              <a:rPr lang="en-US" sz="2500"/>
            </a:br>
            <a:r>
              <a:rPr lang="en-US" sz="1800" b="0" i="1"/>
              <a:t>“Use your design results from Lab2 and Lab3 to create layout instances of your designed components: DCs, MMIs, MZIs &amp; Ring Resonators” </a:t>
            </a:r>
            <a:r>
              <a:rPr lang="en-US" sz="1800" b="0" i="1">
                <a:solidFill>
                  <a:srgbClr val="FF0000"/>
                </a:solidFill>
                <a:sym typeface="Wingdings" pitchFamily="2" charset="2"/>
              </a:rPr>
              <a:t> Make cells for all your components</a:t>
            </a:r>
            <a:endParaRPr sz="2500" b="0" i="1">
              <a:solidFill>
                <a:srgbClr val="FF0000"/>
              </a:solidFill>
              <a:latin typeface="+mj-lt"/>
              <a:cs typeface="Lucida Sans"/>
            </a:endParaRPr>
          </a:p>
        </p:txBody>
      </p:sp>
      <p:pic>
        <p:nvPicPr>
          <p:cNvPr id="83" name="Gráfico 82">
            <a:extLst>
              <a:ext uri="{FF2B5EF4-FFF2-40B4-BE49-F238E27FC236}">
                <a16:creationId xmlns:a16="http://schemas.microsoft.com/office/drawing/2014/main" id="{EAC21443-F08C-8E50-7449-A49FFCA3A88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8A70A524-B492-D569-9BE4-884C63C759DF}"/>
              </a:ext>
            </a:extLst>
          </p:cNvPr>
          <p:cNvSpPr>
            <a:spLocks noGrp="1"/>
          </p:cNvSpPr>
          <p:nvPr>
            <p:ph type="sldNum" sz="quarter" idx="7"/>
          </p:nvPr>
        </p:nvSpPr>
        <p:spPr/>
        <p:txBody>
          <a:bodyPr/>
          <a:lstStyle/>
          <a:p>
            <a:fld id="{B6F15528-21DE-4FAA-801E-634DDDAF4B2B}" type="slidenum">
              <a:rPr lang="es-ES" smtClean="0"/>
              <a:t>11</a:t>
            </a:fld>
            <a:endParaRPr lang="es-ES"/>
          </a:p>
        </p:txBody>
      </p:sp>
      <p:sp>
        <p:nvSpPr>
          <p:cNvPr id="3" name="Marcador de pie de página 2">
            <a:extLst>
              <a:ext uri="{FF2B5EF4-FFF2-40B4-BE49-F238E27FC236}">
                <a16:creationId xmlns:a16="http://schemas.microsoft.com/office/drawing/2014/main" id="{E2B3962C-C4A6-366E-A4CA-8319F70A7056}"/>
              </a:ext>
            </a:extLst>
          </p:cNvPr>
          <p:cNvSpPr>
            <a:spLocks noGrp="1"/>
          </p:cNvSpPr>
          <p:nvPr>
            <p:ph type="ftr" sz="quarter" idx="5"/>
          </p:nvPr>
        </p:nvSpPr>
        <p:spPr/>
        <p:txBody>
          <a:bodyPr/>
          <a:lstStyle/>
          <a:p>
            <a:pPr marL="12700">
              <a:spcBef>
                <a:spcPts val="15"/>
              </a:spcBef>
            </a:pPr>
            <a:r>
              <a:rPr lang="es-ES" spc="-5"/>
              <a:t>LAB 4.0. LAYOUT</a:t>
            </a:r>
          </a:p>
        </p:txBody>
      </p:sp>
      <p:sp>
        <p:nvSpPr>
          <p:cNvPr id="6" name="Rectángulo 5">
            <a:extLst>
              <a:ext uri="{FF2B5EF4-FFF2-40B4-BE49-F238E27FC236}">
                <a16:creationId xmlns:a16="http://schemas.microsoft.com/office/drawing/2014/main" id="{2A8A9396-EBFC-E231-5A03-8E5F36EB479C}"/>
              </a:ext>
            </a:extLst>
          </p:cNvPr>
          <p:cNvSpPr/>
          <p:nvPr/>
        </p:nvSpPr>
        <p:spPr>
          <a:xfrm>
            <a:off x="609441" y="1418373"/>
            <a:ext cx="5332571"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1ED09F68-7AD3-9583-9DB5-9C856D277A33}"/>
              </a:ext>
            </a:extLst>
          </p:cNvPr>
          <p:cNvSpPr txBox="1"/>
          <p:nvPr/>
        </p:nvSpPr>
        <p:spPr>
          <a:xfrm>
            <a:off x="609441" y="2510488"/>
            <a:ext cx="5696915" cy="2123658"/>
          </a:xfrm>
          <a:prstGeom prst="rect">
            <a:avLst/>
          </a:prstGeom>
          <a:noFill/>
        </p:spPr>
        <p:txBody>
          <a:bodyPr wrap="square" rtlCol="0">
            <a:spAutoFit/>
          </a:bodyPr>
          <a:lstStyle/>
          <a:p>
            <a:r>
              <a:rPr lang="es-ES" sz="1100"/>
              <a:t>@gf.cell</a:t>
            </a:r>
          </a:p>
          <a:p>
            <a:r>
              <a:rPr lang="es-ES" sz="1100"/>
              <a:t>def MZI (l_base=10.0, delta_l=600.025):</a:t>
            </a:r>
          </a:p>
          <a:p>
            <a:r>
              <a:rPr lang="es-ES" sz="1100"/>
              <a:t>    c = gf.Component()</a:t>
            </a:r>
            <a:br>
              <a:rPr lang="es-ES" sz="1100"/>
            </a:br>
            <a:endParaRPr lang="es-ES" sz="1100"/>
          </a:p>
          <a:p>
            <a:r>
              <a:rPr lang="es-ES" sz="1100"/>
              <a:t>    #1. Instancia del acoplador dentro de nuestro componente contenedor</a:t>
            </a:r>
          </a:p>
          <a:p>
            <a:r>
              <a:rPr lang="es-ES" sz="1100"/>
              <a:t>    mzi_ref = c.add_ref(gf.components.mzi_coupler(length_x=l_base, delta_length=delta_l))</a:t>
            </a:r>
          </a:p>
          <a:p>
            <a:endParaRPr lang="es-ES" sz="1100"/>
          </a:p>
          <a:p>
            <a:r>
              <a:rPr lang="es-ES" sz="1100"/>
              <a:t>    #Añadir puertos de dc_ref al componente contenedor c</a:t>
            </a:r>
          </a:p>
          <a:p>
            <a:r>
              <a:rPr lang="es-ES" sz="1100"/>
              <a:t>    c.add_ports(mzi_ref.ports)</a:t>
            </a:r>
          </a:p>
          <a:p>
            <a:r>
              <a:rPr lang="es-ES" sz="1100"/>
              <a:t>    c.draw_ports() # los representamos</a:t>
            </a:r>
          </a:p>
          <a:p>
            <a:endParaRPr lang="es-ES" sz="1100"/>
          </a:p>
          <a:p>
            <a:r>
              <a:rPr lang="es-ES" sz="1100"/>
              <a:t>    return c</a:t>
            </a:r>
          </a:p>
        </p:txBody>
      </p:sp>
      <p:sp>
        <p:nvSpPr>
          <p:cNvPr id="8" name="Rectángulo 7">
            <a:extLst>
              <a:ext uri="{FF2B5EF4-FFF2-40B4-BE49-F238E27FC236}">
                <a16:creationId xmlns:a16="http://schemas.microsoft.com/office/drawing/2014/main" id="{E297546F-8AB6-F12B-29EA-AAD0DFC11C15}"/>
              </a:ext>
            </a:extLst>
          </p:cNvPr>
          <p:cNvSpPr/>
          <p:nvPr/>
        </p:nvSpPr>
        <p:spPr>
          <a:xfrm>
            <a:off x="6476841" y="1420406"/>
            <a:ext cx="5332571"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uadroTexto 1">
            <a:extLst>
              <a:ext uri="{FF2B5EF4-FFF2-40B4-BE49-F238E27FC236}">
                <a16:creationId xmlns:a16="http://schemas.microsoft.com/office/drawing/2014/main" id="{5EFA013D-B2D2-1CA4-B69C-79BD5FCFC075}"/>
              </a:ext>
            </a:extLst>
          </p:cNvPr>
          <p:cNvSpPr txBox="1"/>
          <p:nvPr/>
        </p:nvSpPr>
        <p:spPr>
          <a:xfrm>
            <a:off x="679172" y="1418373"/>
            <a:ext cx="750526" cy="523220"/>
          </a:xfrm>
          <a:prstGeom prst="rect">
            <a:avLst/>
          </a:prstGeom>
          <a:noFill/>
        </p:spPr>
        <p:txBody>
          <a:bodyPr wrap="none" rtlCol="0">
            <a:spAutoFit/>
          </a:bodyPr>
          <a:lstStyle/>
          <a:p>
            <a:pPr algn="ctr"/>
            <a:r>
              <a:rPr lang="en-US" sz="2800"/>
              <a:t>MZI</a:t>
            </a:r>
          </a:p>
        </p:txBody>
      </p:sp>
      <p:pic>
        <p:nvPicPr>
          <p:cNvPr id="5" name="Imagen 4">
            <a:extLst>
              <a:ext uri="{FF2B5EF4-FFF2-40B4-BE49-F238E27FC236}">
                <a16:creationId xmlns:a16="http://schemas.microsoft.com/office/drawing/2014/main" id="{AEF5EB57-0370-7909-A4C8-13964D17BE7A}"/>
              </a:ext>
            </a:extLst>
          </p:cNvPr>
          <p:cNvPicPr>
            <a:picLocks noChangeAspect="1"/>
          </p:cNvPicPr>
          <p:nvPr/>
        </p:nvPicPr>
        <p:blipFill>
          <a:blip r:embed="rId4"/>
          <a:stretch>
            <a:fillRect/>
          </a:stretch>
        </p:blipFill>
        <p:spPr>
          <a:xfrm>
            <a:off x="6617407" y="1883310"/>
            <a:ext cx="5062803" cy="3821920"/>
          </a:xfrm>
          <a:prstGeom prst="rect">
            <a:avLst/>
          </a:prstGeom>
          <a:ln>
            <a:solidFill>
              <a:schemeClr val="accent1"/>
            </a:solidFill>
          </a:ln>
        </p:spPr>
      </p:pic>
    </p:spTree>
    <p:extLst>
      <p:ext uri="{BB962C8B-B14F-4D97-AF65-F5344CB8AC3E}">
        <p14:creationId xmlns:p14="http://schemas.microsoft.com/office/powerpoint/2010/main" val="1155671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E1BE4-F363-CB6F-49B6-EE0DE7BF6DDC}"/>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B45AC3F-DC50-7810-99CA-A68D7BBD65D7}"/>
              </a:ext>
            </a:extLst>
          </p:cNvPr>
          <p:cNvSpPr txBox="1">
            <a:spLocks noGrp="1"/>
          </p:cNvSpPr>
          <p:nvPr>
            <p:ph type="title"/>
          </p:nvPr>
        </p:nvSpPr>
        <p:spPr>
          <a:xfrm>
            <a:off x="685800" y="408883"/>
            <a:ext cx="10994410" cy="874598"/>
          </a:xfrm>
          <a:prstGeom prst="rect">
            <a:avLst/>
          </a:prstGeom>
        </p:spPr>
        <p:txBody>
          <a:bodyPr vert="horz" wrap="square" lIns="0" tIns="12700" rIns="0" bIns="0" rtlCol="0">
            <a:spAutoFit/>
          </a:bodyPr>
          <a:lstStyle/>
          <a:p>
            <a:pPr marL="12700" algn="just">
              <a:lnSpc>
                <a:spcPct val="100000"/>
              </a:lnSpc>
              <a:spcBef>
                <a:spcPts val="100"/>
              </a:spcBef>
            </a:pPr>
            <a:r>
              <a:rPr lang="en-US"/>
              <a:t>Learning outcome #2a – Notebook section 2. Layout Fundamentals – </a:t>
            </a:r>
            <a:r>
              <a:rPr lang="en-US">
                <a:solidFill>
                  <a:srgbClr val="FF0000"/>
                </a:solidFill>
              </a:rPr>
              <a:t>1 slide per component</a:t>
            </a:r>
            <a:br>
              <a:rPr lang="en-US" sz="2500"/>
            </a:br>
            <a:r>
              <a:rPr lang="en-US" sz="1800" b="0" i="1"/>
              <a:t>“Use your design results from Lab2 and Lab3 to create layout instances of your designed components: DCs, MMIs, MZIs &amp; Ring Resonators” </a:t>
            </a:r>
            <a:r>
              <a:rPr lang="en-US" sz="1800" b="0" i="1">
                <a:solidFill>
                  <a:srgbClr val="FF0000"/>
                </a:solidFill>
                <a:sym typeface="Wingdings" pitchFamily="2" charset="2"/>
              </a:rPr>
              <a:t> Make cells for all your components</a:t>
            </a:r>
            <a:endParaRPr sz="2500" b="0" i="1">
              <a:solidFill>
                <a:srgbClr val="FF0000"/>
              </a:solidFill>
              <a:latin typeface="+mj-lt"/>
              <a:cs typeface="Lucida Sans"/>
            </a:endParaRPr>
          </a:p>
        </p:txBody>
      </p:sp>
      <p:pic>
        <p:nvPicPr>
          <p:cNvPr id="83" name="Gráfico 82">
            <a:extLst>
              <a:ext uri="{FF2B5EF4-FFF2-40B4-BE49-F238E27FC236}">
                <a16:creationId xmlns:a16="http://schemas.microsoft.com/office/drawing/2014/main" id="{3631C121-3FC3-C9FF-86F4-295B505CA92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5325521-1B4B-B84A-60DE-025FE25779F0}"/>
              </a:ext>
            </a:extLst>
          </p:cNvPr>
          <p:cNvSpPr>
            <a:spLocks noGrp="1"/>
          </p:cNvSpPr>
          <p:nvPr>
            <p:ph type="sldNum" sz="quarter" idx="7"/>
          </p:nvPr>
        </p:nvSpPr>
        <p:spPr/>
        <p:txBody>
          <a:bodyPr/>
          <a:lstStyle/>
          <a:p>
            <a:fld id="{B6F15528-21DE-4FAA-801E-634DDDAF4B2B}" type="slidenum">
              <a:rPr lang="es-ES" smtClean="0"/>
              <a:t>12</a:t>
            </a:fld>
            <a:endParaRPr lang="es-ES"/>
          </a:p>
        </p:txBody>
      </p:sp>
      <p:sp>
        <p:nvSpPr>
          <p:cNvPr id="3" name="Marcador de pie de página 2">
            <a:extLst>
              <a:ext uri="{FF2B5EF4-FFF2-40B4-BE49-F238E27FC236}">
                <a16:creationId xmlns:a16="http://schemas.microsoft.com/office/drawing/2014/main" id="{EE30A67D-EFEC-0C68-028A-BD9C6482F353}"/>
              </a:ext>
            </a:extLst>
          </p:cNvPr>
          <p:cNvSpPr>
            <a:spLocks noGrp="1"/>
          </p:cNvSpPr>
          <p:nvPr>
            <p:ph type="ftr" sz="quarter" idx="5"/>
          </p:nvPr>
        </p:nvSpPr>
        <p:spPr/>
        <p:txBody>
          <a:bodyPr/>
          <a:lstStyle/>
          <a:p>
            <a:pPr marL="12700">
              <a:spcBef>
                <a:spcPts val="15"/>
              </a:spcBef>
            </a:pPr>
            <a:r>
              <a:rPr lang="es-ES" spc="-5"/>
              <a:t>LAB 4.0. LAYOUT</a:t>
            </a:r>
          </a:p>
        </p:txBody>
      </p:sp>
      <p:sp>
        <p:nvSpPr>
          <p:cNvPr id="6" name="Rectángulo 5">
            <a:extLst>
              <a:ext uri="{FF2B5EF4-FFF2-40B4-BE49-F238E27FC236}">
                <a16:creationId xmlns:a16="http://schemas.microsoft.com/office/drawing/2014/main" id="{3072CA40-45C0-807D-2EC5-0EF5DC7BCAD5}"/>
              </a:ext>
            </a:extLst>
          </p:cNvPr>
          <p:cNvSpPr/>
          <p:nvPr/>
        </p:nvSpPr>
        <p:spPr>
          <a:xfrm>
            <a:off x="609441" y="1418373"/>
            <a:ext cx="5332571"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9D70FC1F-1D14-A51C-2FE3-8468D30779B6}"/>
              </a:ext>
            </a:extLst>
          </p:cNvPr>
          <p:cNvSpPr txBox="1"/>
          <p:nvPr/>
        </p:nvSpPr>
        <p:spPr>
          <a:xfrm>
            <a:off x="609441" y="2053739"/>
            <a:ext cx="5317738" cy="4154984"/>
          </a:xfrm>
          <a:prstGeom prst="rect">
            <a:avLst/>
          </a:prstGeom>
          <a:noFill/>
        </p:spPr>
        <p:txBody>
          <a:bodyPr wrap="none" rtlCol="0">
            <a:spAutoFit/>
          </a:bodyPr>
          <a:lstStyle/>
          <a:p>
            <a:r>
              <a:rPr lang="es-ES" sz="1200" dirty="0"/>
              <a:t>@gf.cell</a:t>
            </a:r>
          </a:p>
          <a:p>
            <a:r>
              <a:rPr lang="es-ES" sz="1200" dirty="0" err="1"/>
              <a:t>def</a:t>
            </a:r>
            <a:r>
              <a:rPr lang="es-ES" sz="1200" dirty="0"/>
              <a:t> </a:t>
            </a:r>
            <a:r>
              <a:rPr lang="es-ES" sz="1200" dirty="0" err="1"/>
              <a:t>single_ring_resonator</a:t>
            </a:r>
            <a:r>
              <a:rPr lang="es-ES" sz="1200" dirty="0"/>
              <a:t> (</a:t>
            </a:r>
            <a:r>
              <a:rPr lang="es-ES" sz="1200" dirty="0" err="1"/>
              <a:t>l_ring</a:t>
            </a:r>
            <a:r>
              <a:rPr lang="es-ES" sz="1200" dirty="0"/>
              <a:t>=80.08, </a:t>
            </a:r>
            <a:r>
              <a:rPr lang="es-ES" sz="1200" dirty="0" err="1"/>
              <a:t>width_wg</a:t>
            </a:r>
            <a:r>
              <a:rPr lang="es-ES" sz="1200" dirty="0"/>
              <a:t>=1.2, </a:t>
            </a:r>
            <a:r>
              <a:rPr lang="es-ES" sz="1200" dirty="0" err="1"/>
              <a:t>layer_wg</a:t>
            </a:r>
            <a:r>
              <a:rPr lang="es-ES" sz="1200" dirty="0"/>
              <a:t>='WG'):</a:t>
            </a:r>
          </a:p>
          <a:p>
            <a:r>
              <a:rPr lang="es-ES" sz="1200" dirty="0"/>
              <a:t>    c = </a:t>
            </a:r>
            <a:r>
              <a:rPr lang="es-ES" sz="1200" dirty="0" err="1"/>
              <a:t>gf.Component</a:t>
            </a:r>
            <a:r>
              <a:rPr lang="es-ES" sz="1200" dirty="0"/>
              <a:t>()</a:t>
            </a:r>
            <a:br>
              <a:rPr lang="es-ES" sz="1200" dirty="0"/>
            </a:br>
            <a:endParaRPr lang="es-ES" sz="1200" dirty="0"/>
          </a:p>
          <a:p>
            <a:r>
              <a:rPr lang="es-ES" sz="1200" dirty="0"/>
              <a:t>    # 1. Calculamos el radio de forma dinámica a partir de la longitud total del anillo</a:t>
            </a:r>
          </a:p>
          <a:p>
            <a:r>
              <a:rPr lang="es-ES" sz="1200" dirty="0"/>
              <a:t>    </a:t>
            </a:r>
            <a:r>
              <a:rPr lang="es-ES" sz="1200" dirty="0" err="1"/>
              <a:t>radius_r</a:t>
            </a:r>
            <a:r>
              <a:rPr lang="es-ES" sz="1200" dirty="0"/>
              <a:t> = </a:t>
            </a:r>
            <a:r>
              <a:rPr lang="es-ES" sz="1200" dirty="0" err="1"/>
              <a:t>l_ring</a:t>
            </a:r>
            <a:r>
              <a:rPr lang="es-ES" sz="1200" dirty="0"/>
              <a:t> / (2 * </a:t>
            </a:r>
            <a:r>
              <a:rPr lang="es-ES" sz="1200" dirty="0" err="1"/>
              <a:t>math.pi</a:t>
            </a:r>
            <a:r>
              <a:rPr lang="es-ES" sz="1200" dirty="0"/>
              <a:t>)</a:t>
            </a:r>
          </a:p>
          <a:p>
            <a:r>
              <a:rPr lang="es-ES" sz="1200" dirty="0"/>
              <a:t>    </a:t>
            </a:r>
          </a:p>
          <a:p>
            <a:r>
              <a:rPr lang="es-ES" sz="1200" dirty="0"/>
              <a:t>    # 2. Definimos la sección transversal para permitir radios pequeños (&lt; 35 </a:t>
            </a:r>
            <a:r>
              <a:rPr lang="es-ES" sz="1200" dirty="0" err="1"/>
              <a:t>um</a:t>
            </a:r>
            <a:r>
              <a:rPr lang="es-ES" sz="1200" dirty="0"/>
              <a:t>)</a:t>
            </a:r>
          </a:p>
          <a:p>
            <a:r>
              <a:rPr lang="es-ES" sz="1200" dirty="0"/>
              <a:t>    </a:t>
            </a:r>
            <a:r>
              <a:rPr lang="es-ES" sz="1200" dirty="0" err="1"/>
              <a:t>xs</a:t>
            </a:r>
            <a:r>
              <a:rPr lang="es-ES" sz="1200" dirty="0"/>
              <a:t> = </a:t>
            </a:r>
            <a:r>
              <a:rPr lang="es-ES" sz="1200" dirty="0" err="1"/>
              <a:t>gf.cross_section.strip</a:t>
            </a:r>
            <a:r>
              <a:rPr lang="es-ES" sz="1200" dirty="0"/>
              <a:t>(</a:t>
            </a:r>
            <a:r>
              <a:rPr lang="es-ES" sz="1200" dirty="0" err="1"/>
              <a:t>width</a:t>
            </a:r>
            <a:r>
              <a:rPr lang="es-ES" sz="1200" dirty="0"/>
              <a:t>=</a:t>
            </a:r>
            <a:r>
              <a:rPr lang="es-ES" sz="1200" dirty="0" err="1"/>
              <a:t>width_wg</a:t>
            </a:r>
            <a:r>
              <a:rPr lang="es-ES" sz="1200" dirty="0"/>
              <a:t>, </a:t>
            </a:r>
            <a:r>
              <a:rPr lang="es-ES" sz="1200" dirty="0" err="1"/>
              <a:t>layer</a:t>
            </a:r>
            <a:r>
              <a:rPr lang="es-ES" sz="1200" dirty="0"/>
              <a:t>=</a:t>
            </a:r>
            <a:r>
              <a:rPr lang="es-ES" sz="1200" dirty="0" err="1"/>
              <a:t>layer_wg</a:t>
            </a:r>
            <a:r>
              <a:rPr lang="es-ES" sz="1200" dirty="0"/>
              <a:t>)</a:t>
            </a:r>
          </a:p>
          <a:p>
            <a:r>
              <a:rPr lang="es-ES" sz="1200" dirty="0"/>
              <a:t>    </a:t>
            </a:r>
          </a:p>
          <a:p>
            <a:r>
              <a:rPr lang="es-ES" sz="1200" dirty="0"/>
              <a:t>    # 3. Instanciamos el componente nativo de </a:t>
            </a:r>
            <a:r>
              <a:rPr lang="es-ES" sz="1200" dirty="0" err="1"/>
              <a:t>GDSFactory</a:t>
            </a:r>
            <a:endParaRPr lang="es-ES" sz="1200" dirty="0"/>
          </a:p>
          <a:p>
            <a:r>
              <a:rPr lang="es-ES" sz="1200" dirty="0"/>
              <a:t>    </a:t>
            </a:r>
            <a:r>
              <a:rPr lang="es-ES" sz="1200" dirty="0" err="1"/>
              <a:t>ring_ref</a:t>
            </a:r>
            <a:r>
              <a:rPr lang="es-ES" sz="1200" dirty="0"/>
              <a:t> = </a:t>
            </a:r>
            <a:r>
              <a:rPr lang="es-ES" sz="1200" dirty="0" err="1"/>
              <a:t>c.add_ref</a:t>
            </a:r>
            <a:r>
              <a:rPr lang="es-ES" sz="1200" dirty="0"/>
              <a:t>(</a:t>
            </a:r>
            <a:r>
              <a:rPr lang="es-ES" sz="1200" dirty="0" err="1"/>
              <a:t>gf.components.ring_single</a:t>
            </a:r>
            <a:r>
              <a:rPr lang="es-ES" sz="1200" dirty="0"/>
              <a:t>(</a:t>
            </a:r>
          </a:p>
          <a:p>
            <a:r>
              <a:rPr lang="es-ES" sz="1200" dirty="0"/>
              <a:t>        </a:t>
            </a:r>
            <a:r>
              <a:rPr lang="es-ES" sz="1200" dirty="0" err="1"/>
              <a:t>length_x</a:t>
            </a:r>
            <a:r>
              <a:rPr lang="es-ES" sz="1200" dirty="0"/>
              <a:t>=0,</a:t>
            </a:r>
          </a:p>
          <a:p>
            <a:r>
              <a:rPr lang="es-ES" sz="1200" dirty="0"/>
              <a:t>        </a:t>
            </a:r>
            <a:r>
              <a:rPr lang="es-ES" sz="1200" dirty="0" err="1"/>
              <a:t>length_y</a:t>
            </a:r>
            <a:r>
              <a:rPr lang="es-ES" sz="1200" dirty="0"/>
              <a:t>=0,</a:t>
            </a:r>
          </a:p>
          <a:p>
            <a:r>
              <a:rPr lang="es-ES" sz="1200" dirty="0"/>
              <a:t>        </a:t>
            </a:r>
            <a:r>
              <a:rPr lang="es-ES" sz="1200" dirty="0" err="1"/>
              <a:t>radius</a:t>
            </a:r>
            <a:r>
              <a:rPr lang="es-ES" sz="1200" dirty="0"/>
              <a:t>=</a:t>
            </a:r>
            <a:r>
              <a:rPr lang="es-ES" sz="1200" dirty="0" err="1"/>
              <a:t>radius_r</a:t>
            </a:r>
            <a:r>
              <a:rPr lang="es-ES" sz="1200" dirty="0"/>
              <a:t>,</a:t>
            </a:r>
          </a:p>
          <a:p>
            <a:r>
              <a:rPr lang="es-ES" sz="1200" dirty="0"/>
              <a:t>        </a:t>
            </a:r>
            <a:r>
              <a:rPr lang="es-ES" sz="1200" dirty="0" err="1"/>
              <a:t>cross_section</a:t>
            </a:r>
            <a:r>
              <a:rPr lang="es-ES" sz="1200" dirty="0"/>
              <a:t>=</a:t>
            </a:r>
            <a:r>
              <a:rPr lang="es-ES" sz="1200" dirty="0" err="1"/>
              <a:t>xs</a:t>
            </a:r>
            <a:endParaRPr lang="es-ES" sz="1200" dirty="0"/>
          </a:p>
          <a:p>
            <a:r>
              <a:rPr lang="es-ES" sz="1200" dirty="0"/>
              <a:t>    ))</a:t>
            </a:r>
          </a:p>
          <a:p>
            <a:endParaRPr lang="es-ES" sz="1200" dirty="0"/>
          </a:p>
          <a:p>
            <a:r>
              <a:rPr lang="es-ES" sz="1200" dirty="0"/>
              <a:t>    </a:t>
            </a:r>
            <a:r>
              <a:rPr lang="es-ES" sz="1200" dirty="0" err="1"/>
              <a:t>c.add_ports</a:t>
            </a:r>
            <a:r>
              <a:rPr lang="es-ES" sz="1200" dirty="0"/>
              <a:t>(</a:t>
            </a:r>
            <a:r>
              <a:rPr lang="es-ES" sz="1200" dirty="0" err="1"/>
              <a:t>ring_ref.ports</a:t>
            </a:r>
            <a:r>
              <a:rPr lang="es-ES" sz="1200" dirty="0"/>
              <a:t>)</a:t>
            </a:r>
          </a:p>
          <a:p>
            <a:r>
              <a:rPr lang="es-ES" sz="1200" dirty="0"/>
              <a:t>    </a:t>
            </a:r>
            <a:r>
              <a:rPr lang="es-ES" sz="1200" dirty="0" err="1"/>
              <a:t>c.draw_ports</a:t>
            </a:r>
            <a:r>
              <a:rPr lang="es-ES" sz="1200" dirty="0"/>
              <a:t>() # los representamos</a:t>
            </a:r>
          </a:p>
          <a:p>
            <a:endParaRPr lang="es-ES" sz="1200" dirty="0"/>
          </a:p>
          <a:p>
            <a:r>
              <a:rPr lang="es-ES" sz="1200" dirty="0"/>
              <a:t>    </a:t>
            </a:r>
            <a:r>
              <a:rPr lang="es-ES" sz="1200" dirty="0" err="1"/>
              <a:t>return</a:t>
            </a:r>
            <a:r>
              <a:rPr lang="es-ES" sz="1200" dirty="0"/>
              <a:t> c</a:t>
            </a:r>
          </a:p>
        </p:txBody>
      </p:sp>
      <p:sp>
        <p:nvSpPr>
          <p:cNvPr id="8" name="Rectángulo 7">
            <a:extLst>
              <a:ext uri="{FF2B5EF4-FFF2-40B4-BE49-F238E27FC236}">
                <a16:creationId xmlns:a16="http://schemas.microsoft.com/office/drawing/2014/main" id="{28FB3224-6331-26A4-1660-3A1B3C20BC6A}"/>
              </a:ext>
            </a:extLst>
          </p:cNvPr>
          <p:cNvSpPr/>
          <p:nvPr/>
        </p:nvSpPr>
        <p:spPr>
          <a:xfrm>
            <a:off x="6476841" y="1420406"/>
            <a:ext cx="5332571"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uadroTexto 1">
            <a:extLst>
              <a:ext uri="{FF2B5EF4-FFF2-40B4-BE49-F238E27FC236}">
                <a16:creationId xmlns:a16="http://schemas.microsoft.com/office/drawing/2014/main" id="{969192FD-7EF0-BE77-92DC-96647527B58C}"/>
              </a:ext>
            </a:extLst>
          </p:cNvPr>
          <p:cNvSpPr txBox="1"/>
          <p:nvPr/>
        </p:nvSpPr>
        <p:spPr>
          <a:xfrm>
            <a:off x="609441" y="1474446"/>
            <a:ext cx="2386872" cy="523220"/>
          </a:xfrm>
          <a:prstGeom prst="rect">
            <a:avLst/>
          </a:prstGeom>
          <a:noFill/>
        </p:spPr>
        <p:txBody>
          <a:bodyPr wrap="none" rtlCol="0">
            <a:spAutoFit/>
          </a:bodyPr>
          <a:lstStyle/>
          <a:p>
            <a:pPr algn="ctr"/>
            <a:r>
              <a:rPr lang="en-US" sz="2800"/>
              <a:t>Ring Resonator</a:t>
            </a:r>
          </a:p>
        </p:txBody>
      </p:sp>
      <p:pic>
        <p:nvPicPr>
          <p:cNvPr id="5" name="Imagen 4">
            <a:extLst>
              <a:ext uri="{FF2B5EF4-FFF2-40B4-BE49-F238E27FC236}">
                <a16:creationId xmlns:a16="http://schemas.microsoft.com/office/drawing/2014/main" id="{CB04E754-A99C-1567-CD46-F9DF5D431317}"/>
              </a:ext>
            </a:extLst>
          </p:cNvPr>
          <p:cNvPicPr>
            <a:picLocks noChangeAspect="1"/>
          </p:cNvPicPr>
          <p:nvPr/>
        </p:nvPicPr>
        <p:blipFill>
          <a:blip r:embed="rId4"/>
          <a:stretch>
            <a:fillRect/>
          </a:stretch>
        </p:blipFill>
        <p:spPr>
          <a:xfrm>
            <a:off x="6566301" y="1849020"/>
            <a:ext cx="5153649" cy="3890500"/>
          </a:xfrm>
          <a:prstGeom prst="rect">
            <a:avLst/>
          </a:prstGeom>
          <a:ln>
            <a:solidFill>
              <a:schemeClr val="accent1"/>
            </a:solidFill>
          </a:ln>
        </p:spPr>
      </p:pic>
    </p:spTree>
    <p:extLst>
      <p:ext uri="{BB962C8B-B14F-4D97-AF65-F5344CB8AC3E}">
        <p14:creationId xmlns:p14="http://schemas.microsoft.com/office/powerpoint/2010/main" val="25129877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C463A-FEB0-DAC2-C592-982AED782F72}"/>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D9825A0-3864-7B82-F4C0-6912BF1AE353}"/>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a:t>Learning outcome #3 – Notebook section 3. Complete layout</a:t>
            </a:r>
            <a:endParaRPr sz="2500" b="0" i="1">
              <a:latin typeface="+mj-lt"/>
              <a:cs typeface="Lucida Sans"/>
            </a:endParaRPr>
          </a:p>
        </p:txBody>
      </p:sp>
      <p:pic>
        <p:nvPicPr>
          <p:cNvPr id="83" name="Gráfico 82">
            <a:extLst>
              <a:ext uri="{FF2B5EF4-FFF2-40B4-BE49-F238E27FC236}">
                <a16:creationId xmlns:a16="http://schemas.microsoft.com/office/drawing/2014/main" id="{0DEB6AD1-A7A1-CBBC-33E2-C1A03F2E3EC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0F7002D-478B-4959-3169-5E518898EBC4}"/>
              </a:ext>
            </a:extLst>
          </p:cNvPr>
          <p:cNvSpPr>
            <a:spLocks noGrp="1"/>
          </p:cNvSpPr>
          <p:nvPr>
            <p:ph type="sldNum" sz="quarter" idx="7"/>
          </p:nvPr>
        </p:nvSpPr>
        <p:spPr/>
        <p:txBody>
          <a:bodyPr/>
          <a:lstStyle/>
          <a:p>
            <a:fld id="{B6F15528-21DE-4FAA-801E-634DDDAF4B2B}" type="slidenum">
              <a:rPr lang="es-ES" smtClean="0"/>
              <a:t>13</a:t>
            </a:fld>
            <a:endParaRPr lang="es-ES"/>
          </a:p>
        </p:txBody>
      </p:sp>
      <p:sp>
        <p:nvSpPr>
          <p:cNvPr id="3" name="Marcador de pie de página 2">
            <a:extLst>
              <a:ext uri="{FF2B5EF4-FFF2-40B4-BE49-F238E27FC236}">
                <a16:creationId xmlns:a16="http://schemas.microsoft.com/office/drawing/2014/main" id="{C305F97E-3B7E-8203-F806-FFA5E41962D7}"/>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58187553-D412-F56C-DD26-11B2C97C2B31}"/>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n-US" sz="1200">
                <a:latin typeface="Arial" panose="020B0604020202020204" pitchFamily="34" charset="0"/>
                <a:cs typeface="Arial" panose="020B0604020202020204" pitchFamily="34" charset="0"/>
              </a:rPr>
              <a:t>Python code block 1: En este bloque se crea el componente main y dentro de este se crea el chip (die) dibujando un marco físico exterior de 5 mm x 5 mm, se coloca un divisor óptico MMI 1x2 en la parte inferior del chip y se enruta, es decir, se colocan guías rectas en los bordes del chip y estas se conectan al MMI. </a:t>
            </a:r>
          </a:p>
          <a:p>
            <a:pPr algn="just"/>
            <a:endParaRPr lang="en-US" sz="1200">
              <a:latin typeface="Arial" panose="020B0604020202020204" pitchFamily="34" charset="0"/>
              <a:cs typeface="Arial" panose="020B0604020202020204" pitchFamily="34" charset="0"/>
            </a:endParaRPr>
          </a:p>
          <a:p>
            <a:pPr algn="just"/>
            <a:r>
              <a:rPr lang="en-US" sz="1200">
                <a:latin typeface="Arial" panose="020B0604020202020204" pitchFamily="34" charset="0"/>
                <a:cs typeface="Arial" panose="020B0604020202020204" pitchFamily="34" charset="0"/>
              </a:rPr>
              <a:t>Python code block 2: Este bloque instancia tres referencias al MMI 1x2 (mmi1, mmi2…). El primero actúa como entrada principal y los otros dos se desplazan en el espacio; Utiliza curvas en “S” para conectar las dos salidas del primer MMI (o2 y o3) a las entradas de los dos MMIs de la segunda etapa; y por último, expone hacia el exterior la entrada del primer Bloque y las 4 salidas resultants de la segunda etapa</a:t>
            </a:r>
          </a:p>
          <a:p>
            <a:pPr algn="just"/>
            <a:endParaRPr lang="en-US" sz="1200">
              <a:latin typeface="Arial" panose="020B0604020202020204" pitchFamily="34" charset="0"/>
              <a:cs typeface="Arial" panose="020B0604020202020204" pitchFamily="34" charset="0"/>
            </a:endParaRPr>
          </a:p>
          <a:p>
            <a:pPr algn="just"/>
            <a:r>
              <a:rPr lang="en-US" sz="1200">
                <a:latin typeface="Arial" panose="020B0604020202020204" pitchFamily="34" charset="0"/>
                <a:cs typeface="Arial" panose="020B0604020202020204" pitchFamily="34" charset="0"/>
              </a:rPr>
              <a:t>Python code block 3: Una vez creado el componente que se comporta como un MMI de 1x4, se crea una instancia de referencia a este, dentro del main</a:t>
            </a:r>
          </a:p>
          <a:p>
            <a:pPr algn="just"/>
            <a:endParaRPr lang="en-US" sz="1200">
              <a:latin typeface="Arial" panose="020B0604020202020204" pitchFamily="34" charset="0"/>
              <a:cs typeface="Arial" panose="020B0604020202020204" pitchFamily="34" charset="0"/>
            </a:endParaRPr>
          </a:p>
          <a:p>
            <a:pPr algn="just"/>
            <a:r>
              <a:rPr lang="en-US" sz="1200">
                <a:latin typeface="Arial" panose="020B0604020202020204" pitchFamily="34" charset="0"/>
                <a:cs typeface="Arial" panose="020B0604020202020204" pitchFamily="34" charset="0"/>
              </a:rPr>
              <a:t>Python code block 4: Este Bloque realiza la colocación final y enrutado de la celda 1x4 dentro del chip. Concretamente, crea bloques compactos de guías rectas paralelas equiespaciadas (sp=200 um): in_arr justo en el borde Izquierdo (X=0) para actuar como canales de entrada y out_arr justo en el borde derecho (X = dieW - border) para recoger los canales de salida. Además, mueve la celda cell_1x4 para centrarla horizontalmente en el chip, y en el eje vertical lo alinea en altura también. Por último enruta, es decir, conecta la entrada del array Izquierdo al MMI y las 4 salidas del árbol con las 4 guías paralelas del borde derecho. </a:t>
            </a:r>
          </a:p>
          <a:p>
            <a:pPr algn="just"/>
            <a:endParaRPr lang="en-US" sz="120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F4B67F4D-126C-4796-4E73-E68F0F3CB6B3}"/>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BCB5B85A-8A08-7629-81D3-ADB24C72F558}"/>
              </a:ext>
            </a:extLst>
          </p:cNvPr>
          <p:cNvPicPr>
            <a:picLocks noChangeAspect="1"/>
          </p:cNvPicPr>
          <p:nvPr/>
        </p:nvPicPr>
        <p:blipFill>
          <a:blip r:embed="rId4"/>
          <a:stretch>
            <a:fillRect/>
          </a:stretch>
        </p:blipFill>
        <p:spPr>
          <a:xfrm>
            <a:off x="6343530" y="1372444"/>
            <a:ext cx="5448538" cy="4113112"/>
          </a:xfrm>
          <a:prstGeom prst="rect">
            <a:avLst/>
          </a:prstGeom>
        </p:spPr>
      </p:pic>
    </p:spTree>
    <p:extLst>
      <p:ext uri="{BB962C8B-B14F-4D97-AF65-F5344CB8AC3E}">
        <p14:creationId xmlns:p14="http://schemas.microsoft.com/office/powerpoint/2010/main" val="31908115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787F0-CB2C-2FE5-5614-A0F16A628E7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02B708D-0704-5977-EC6F-88CF05CBBE8F}"/>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a:t>Learning outcome #4 – Notebook section 4. Exercises – 1 slide per bullet point</a:t>
            </a:r>
            <a:endParaRPr sz="2500" b="0" i="1">
              <a:latin typeface="+mj-lt"/>
              <a:cs typeface="Lucida Sans"/>
            </a:endParaRPr>
          </a:p>
        </p:txBody>
      </p:sp>
      <p:pic>
        <p:nvPicPr>
          <p:cNvPr id="83" name="Gráfico 82">
            <a:extLst>
              <a:ext uri="{FF2B5EF4-FFF2-40B4-BE49-F238E27FC236}">
                <a16:creationId xmlns:a16="http://schemas.microsoft.com/office/drawing/2014/main" id="{25386122-0096-23D3-AB3A-550FBF0A314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13FD8D6-DEAF-544C-DE8A-FEED1CFD257F}"/>
              </a:ext>
            </a:extLst>
          </p:cNvPr>
          <p:cNvSpPr>
            <a:spLocks noGrp="1"/>
          </p:cNvSpPr>
          <p:nvPr>
            <p:ph type="sldNum" sz="quarter" idx="7"/>
          </p:nvPr>
        </p:nvSpPr>
        <p:spPr/>
        <p:txBody>
          <a:bodyPr/>
          <a:lstStyle/>
          <a:p>
            <a:fld id="{B6F15528-21DE-4FAA-801E-634DDDAF4B2B}" type="slidenum">
              <a:rPr lang="es-ES" smtClean="0"/>
              <a:t>14</a:t>
            </a:fld>
            <a:endParaRPr lang="es-ES"/>
          </a:p>
        </p:txBody>
      </p:sp>
      <p:sp>
        <p:nvSpPr>
          <p:cNvPr id="3" name="Marcador de pie de página 2">
            <a:extLst>
              <a:ext uri="{FF2B5EF4-FFF2-40B4-BE49-F238E27FC236}">
                <a16:creationId xmlns:a16="http://schemas.microsoft.com/office/drawing/2014/main" id="{30B40145-CD7B-EB6E-E37D-B6E973BB915B}"/>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3C6D55FC-5031-5DAE-893E-BF1355747932}"/>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n-US" sz="1200" b="1" dirty="0">
                <a:latin typeface="Arial" panose="020B0604020202020204" pitchFamily="34" charset="0"/>
                <a:cs typeface="Arial" panose="020B0604020202020204" pitchFamily="34" charset="0"/>
              </a:rPr>
              <a:t>Code for …</a:t>
            </a:r>
          </a:p>
          <a:p>
            <a:pPr algn="just"/>
            <a:endParaRPr lang="en-US" sz="1200" b="1" dirty="0">
              <a:latin typeface="Arial" panose="020B0604020202020204" pitchFamily="34" charset="0"/>
              <a:cs typeface="Arial" panose="020B0604020202020204" pitchFamily="34" charset="0"/>
            </a:endParaRPr>
          </a:p>
          <a:p>
            <a:pPr algn="just"/>
            <a:r>
              <a:rPr lang="en-US" sz="1200" b="1" dirty="0">
                <a:latin typeface="Arial" panose="020B0604020202020204" pitchFamily="34" charset="0"/>
                <a:cs typeface="Arial" panose="020B0604020202020204" pitchFamily="34" charset="0"/>
              </a:rPr>
              <a:t>Part a) Creating components</a:t>
            </a:r>
          </a:p>
          <a:p>
            <a:pPr algn="just"/>
            <a:r>
              <a:rPr lang="en-US" sz="1200" dirty="0">
                <a:latin typeface="Arial" panose="020B0604020202020204" pitchFamily="34" charset="0"/>
                <a:cs typeface="Arial" panose="020B0604020202020204" pitchFamily="34" charset="0"/>
              </a:rPr>
              <a:t>- Create a cell component for a unbalanced MZI, using 2x2 50:50 MMIs with arm length difference as parameter</a:t>
            </a:r>
          </a:p>
          <a:p>
            <a:pPr algn="just"/>
            <a:r>
              <a:rPr lang="en-US" sz="1200" dirty="0">
                <a:latin typeface="Arial" panose="020B0604020202020204" pitchFamily="34" charset="0"/>
                <a:cs typeface="Arial" panose="020B0604020202020204" pitchFamily="34" charset="0"/>
              </a:rPr>
              <a:t>- Create a cell component based on the previous, where the arms have thermal tuners on top of each one</a:t>
            </a:r>
          </a:p>
          <a:p>
            <a:pPr algn="just"/>
            <a:r>
              <a:rPr lang="en-US" sz="1200" dirty="0">
                <a:latin typeface="Arial" panose="020B0604020202020204" pitchFamily="34" charset="0"/>
                <a:cs typeface="Arial" panose="020B0604020202020204" pitchFamily="34" charset="0"/>
              </a:rPr>
              <a:t>- Create a cell component for an all-pass ring resonator, using 2x2 50:50 MMIs, with extra length parameter for different perimeters</a:t>
            </a:r>
          </a:p>
          <a:p>
            <a:pPr algn="just"/>
            <a:r>
              <a:rPr lang="en-US" sz="1200" dirty="0">
                <a:latin typeface="Arial" panose="020B0604020202020204" pitchFamily="34" charset="0"/>
                <a:cs typeface="Arial" panose="020B0604020202020204" pitchFamily="34" charset="0"/>
              </a:rPr>
              <a:t>- Create a cell component based on the previous, where the ring has a thermal tuner on top along all the perimeter</a:t>
            </a:r>
          </a:p>
          <a:p>
            <a:pPr algn="just"/>
            <a:r>
              <a:rPr lang="en-US" sz="1200" dirty="0">
                <a:latin typeface="Arial" panose="020B0604020202020204" pitchFamily="34" charset="0"/>
                <a:cs typeface="Arial" panose="020B0604020202020204" pitchFamily="34" charset="0"/>
              </a:rPr>
              <a:t>- Create a cell component based on existing </a:t>
            </a:r>
            <a:r>
              <a:rPr lang="en-US" sz="1200" dirty="0" err="1">
                <a:latin typeface="Arial" panose="020B0604020202020204" pitchFamily="34" charset="0"/>
                <a:cs typeface="Arial" panose="020B0604020202020204" pitchFamily="34" charset="0"/>
              </a:rPr>
              <a:t>GDSfactory</a:t>
            </a:r>
            <a:r>
              <a:rPr lang="en-US" sz="1200" dirty="0">
                <a:latin typeface="Arial" panose="020B0604020202020204" pitchFamily="34" charset="0"/>
                <a:cs typeface="Arial" panose="020B0604020202020204" pitchFamily="34" charset="0"/>
              </a:rPr>
              <a:t> spiral components, with length as parameter</a:t>
            </a:r>
          </a:p>
          <a:p>
            <a:pPr algn="just"/>
            <a:endParaRPr lang="en-US" sz="1200" dirty="0">
              <a:latin typeface="Arial" panose="020B0604020202020204" pitchFamily="34" charset="0"/>
              <a:cs typeface="Arial" panose="020B0604020202020204" pitchFamily="34" charset="0"/>
            </a:endParaRPr>
          </a:p>
          <a:p>
            <a:pPr algn="just"/>
            <a:r>
              <a:rPr lang="en-US" sz="1200" b="1" dirty="0">
                <a:latin typeface="Arial" panose="020B0604020202020204" pitchFamily="34" charset="0"/>
                <a:cs typeface="Arial" panose="020B0604020202020204" pitchFamily="34" charset="0"/>
              </a:rPr>
              <a:t>Part b) Creating die</a:t>
            </a:r>
          </a:p>
          <a:p>
            <a:pPr algn="just"/>
            <a:r>
              <a:rPr lang="en-US" sz="1200" dirty="0">
                <a:latin typeface="Arial" panose="020B0604020202020204" pitchFamily="34" charset="0"/>
                <a:cs typeface="Arial" panose="020B0604020202020204" pitchFamily="34" charset="0"/>
              </a:rPr>
              <a:t>- Create a die  W = 5 mm x L = 10 mm </a:t>
            </a:r>
          </a:p>
          <a:p>
            <a:pPr algn="just"/>
            <a:r>
              <a:rPr lang="en-US" sz="1200" dirty="0">
                <a:latin typeface="Arial" panose="020B0604020202020204" pitchFamily="34" charset="0"/>
                <a:cs typeface="Arial" panose="020B0604020202020204" pitchFamily="34" charset="0"/>
              </a:rPr>
              <a:t>- Create an array of I/</a:t>
            </a:r>
            <a:r>
              <a:rPr lang="en-US" sz="1200" dirty="0" err="1">
                <a:latin typeface="Arial" panose="020B0604020202020204" pitchFamily="34" charset="0"/>
                <a:cs typeface="Arial" panose="020B0604020202020204" pitchFamily="34" charset="0"/>
              </a:rPr>
              <a:t>Os</a:t>
            </a:r>
            <a:r>
              <a:rPr lang="en-US" sz="1200" dirty="0">
                <a:latin typeface="Arial" panose="020B0604020202020204" pitchFamily="34" charset="0"/>
                <a:cs typeface="Arial" panose="020B0604020202020204" pitchFamily="34" charset="0"/>
              </a:rPr>
              <a:t> spaced at 250 µm (as much I/</a:t>
            </a:r>
            <a:r>
              <a:rPr lang="en-US" sz="1200" dirty="0" err="1">
                <a:latin typeface="Arial" panose="020B0604020202020204" pitchFamily="34" charset="0"/>
                <a:cs typeface="Arial" panose="020B0604020202020204" pitchFamily="34" charset="0"/>
              </a:rPr>
              <a:t>Os</a:t>
            </a:r>
            <a:r>
              <a:rPr lang="en-US" sz="1200" dirty="0">
                <a:latin typeface="Arial" panose="020B0604020202020204" pitchFamily="34" charset="0"/>
                <a:cs typeface="Arial" panose="020B0604020202020204" pitchFamily="34" charset="0"/>
              </a:rPr>
              <a:t> as the width allows)</a:t>
            </a:r>
          </a:p>
          <a:p>
            <a:pPr algn="just"/>
            <a:r>
              <a:rPr lang="en-US" sz="1200" dirty="0">
                <a:latin typeface="Arial" panose="020B0604020202020204" pitchFamily="34" charset="0"/>
                <a:cs typeface="Arial" panose="020B0604020202020204" pitchFamily="34" charset="0"/>
              </a:rPr>
              <a:t>- Create a cell component of this die, with I/</a:t>
            </a:r>
            <a:r>
              <a:rPr lang="en-US" sz="1200" dirty="0" err="1">
                <a:latin typeface="Arial" panose="020B0604020202020204" pitchFamily="34" charset="0"/>
                <a:cs typeface="Arial" panose="020B0604020202020204" pitchFamily="34" charset="0"/>
              </a:rPr>
              <a:t>Os</a:t>
            </a:r>
            <a:r>
              <a:rPr lang="en-US" sz="1200" dirty="0">
                <a:latin typeface="Arial" panose="020B0604020202020204" pitchFamily="34" charset="0"/>
                <a:cs typeface="Arial" panose="020B0604020202020204" pitchFamily="34" charset="0"/>
              </a:rPr>
              <a:t> accessible to connect</a:t>
            </a:r>
          </a:p>
          <a:p>
            <a:pPr algn="just"/>
            <a:endParaRPr lang="en-US" sz="1200" dirty="0">
              <a:latin typeface="Arial" panose="020B0604020202020204" pitchFamily="34" charset="0"/>
              <a:cs typeface="Arial" panose="020B0604020202020204" pitchFamily="34" charset="0"/>
            </a:endParaRPr>
          </a:p>
          <a:p>
            <a:pPr algn="just"/>
            <a:r>
              <a:rPr lang="en-US" sz="1200" b="1" dirty="0">
                <a:latin typeface="Arial" panose="020B0604020202020204" pitchFamily="34" charset="0"/>
                <a:cs typeface="Arial" panose="020B0604020202020204" pitchFamily="34" charset="0"/>
              </a:rPr>
              <a:t>Part c) </a:t>
            </a:r>
            <a:r>
              <a:rPr lang="en-US" sz="1200" b="1" dirty="0" err="1">
                <a:latin typeface="Arial" panose="020B0604020202020204" pitchFamily="34" charset="0"/>
                <a:cs typeface="Arial" panose="020B0604020202020204" pitchFamily="34" charset="0"/>
              </a:rPr>
              <a:t>Floorplaning</a:t>
            </a:r>
            <a:r>
              <a:rPr lang="en-US" sz="1200" b="1" dirty="0">
                <a:latin typeface="Arial" panose="020B0604020202020204" pitchFamily="34" charset="0"/>
                <a:cs typeface="Arial" panose="020B0604020202020204" pitchFamily="34" charset="0"/>
              </a:rPr>
              <a:t> and die layout</a:t>
            </a:r>
          </a:p>
          <a:p>
            <a:pPr algn="just"/>
            <a:r>
              <a:rPr lang="en-US" sz="1200" dirty="0">
                <a:latin typeface="Arial" panose="020B0604020202020204" pitchFamily="34" charset="0"/>
                <a:cs typeface="Arial" panose="020B0604020202020204" pitchFamily="34" charset="0"/>
              </a:rPr>
              <a:t>- Make an instance of the die as host component for your layout</a:t>
            </a:r>
          </a:p>
          <a:p>
            <a:pPr algn="just"/>
            <a:r>
              <a:rPr lang="en-US" sz="1200" dirty="0">
                <a:latin typeface="Arial" panose="020B0604020202020204" pitchFamily="34" charset="0"/>
                <a:cs typeface="Arial" panose="020B0604020202020204" pitchFamily="34" charset="0"/>
              </a:rPr>
              <a:t>- Add 3 sets of 3 straight waveguides, from left to right of the die, top, middle and bottom of the die</a:t>
            </a:r>
          </a:p>
          <a:p>
            <a:pPr algn="just"/>
            <a:r>
              <a:rPr lang="en-US" sz="1200" dirty="0">
                <a:latin typeface="Arial" panose="020B0604020202020204" pitchFamily="34" charset="0"/>
                <a:cs typeface="Arial" panose="020B0604020202020204" pitchFamily="34" charset="0"/>
              </a:rPr>
              <a:t>- Add 2 of each of the components above, with different lengths</a:t>
            </a:r>
          </a:p>
          <a:p>
            <a:pPr algn="just"/>
            <a:r>
              <a:rPr lang="en-US" sz="1200" dirty="0">
                <a:latin typeface="Arial" panose="020B0604020202020204" pitchFamily="34" charset="0"/>
                <a:cs typeface="Arial" panose="020B0604020202020204" pitchFamily="34" charset="0"/>
              </a:rPr>
              <a:t>- Connect all your components to the I/</a:t>
            </a:r>
            <a:r>
              <a:rPr lang="en-US" sz="1200" dirty="0" err="1">
                <a:latin typeface="Arial" panose="020B0604020202020204" pitchFamily="34" charset="0"/>
                <a:cs typeface="Arial" panose="020B0604020202020204" pitchFamily="34" charset="0"/>
              </a:rPr>
              <a:t>Os</a:t>
            </a:r>
            <a:r>
              <a:rPr lang="en-US" sz="1200" dirty="0">
                <a:latin typeface="Arial" panose="020B0604020202020204" pitchFamily="34" charset="0"/>
                <a:cs typeface="Arial" panose="020B0604020202020204" pitchFamily="34" charset="0"/>
              </a:rPr>
              <a:t> </a:t>
            </a:r>
          </a:p>
        </p:txBody>
      </p:sp>
      <p:sp>
        <p:nvSpPr>
          <p:cNvPr id="8" name="Rectángulo 7">
            <a:extLst>
              <a:ext uri="{FF2B5EF4-FFF2-40B4-BE49-F238E27FC236}">
                <a16:creationId xmlns:a16="http://schemas.microsoft.com/office/drawing/2014/main" id="{B7F15AC0-F440-2DF1-6C9D-0A7E2EAFC2C8}"/>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9452515D-9AC0-62DB-2A62-0C197A32C5E7}"/>
              </a:ext>
            </a:extLst>
          </p:cNvPr>
          <p:cNvSpPr txBox="1"/>
          <p:nvPr/>
        </p:nvSpPr>
        <p:spPr>
          <a:xfrm>
            <a:off x="6858137" y="3105834"/>
            <a:ext cx="4419351" cy="369332"/>
          </a:xfrm>
          <a:prstGeom prst="rect">
            <a:avLst/>
          </a:prstGeom>
          <a:noFill/>
        </p:spPr>
        <p:txBody>
          <a:bodyPr wrap="none" rtlCol="0">
            <a:spAutoFit/>
          </a:bodyPr>
          <a:lstStyle/>
          <a:p>
            <a:pPr algn="ctr"/>
            <a:r>
              <a:rPr lang="es-ES" dirty="0">
                <a:solidFill>
                  <a:srgbClr val="FF0000"/>
                </a:solidFill>
              </a:rPr>
              <a:t>Resultados a partir de la siguiente diapositiva</a:t>
            </a:r>
            <a:endParaRPr lang="en-US" dirty="0">
              <a:solidFill>
                <a:srgbClr val="FF0000"/>
              </a:solidFill>
            </a:endParaRPr>
          </a:p>
        </p:txBody>
      </p:sp>
    </p:spTree>
    <p:extLst>
      <p:ext uri="{BB962C8B-B14F-4D97-AF65-F5344CB8AC3E}">
        <p14:creationId xmlns:p14="http://schemas.microsoft.com/office/powerpoint/2010/main" val="7087385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06E6E-6954-1BB5-F2CD-EF50F68526E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99E59540-AF73-F53B-EDFE-9A641FFDC39A}"/>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#4 – Notebook section 4. Exercises – Part a) MZI</a:t>
            </a:r>
            <a:endParaRPr sz="2500" b="0" i="1" dirty="0">
              <a:latin typeface="+mj-lt"/>
              <a:cs typeface="Lucida Sans"/>
            </a:endParaRPr>
          </a:p>
        </p:txBody>
      </p:sp>
      <p:pic>
        <p:nvPicPr>
          <p:cNvPr id="83" name="Gráfico 82">
            <a:extLst>
              <a:ext uri="{FF2B5EF4-FFF2-40B4-BE49-F238E27FC236}">
                <a16:creationId xmlns:a16="http://schemas.microsoft.com/office/drawing/2014/main" id="{58D51A52-800B-E8FC-8D03-D9B66EB25ED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8AED7E70-9DE1-6B4E-522D-C9C0F95B7285}"/>
              </a:ext>
            </a:extLst>
          </p:cNvPr>
          <p:cNvSpPr>
            <a:spLocks noGrp="1"/>
          </p:cNvSpPr>
          <p:nvPr>
            <p:ph type="sldNum" sz="quarter" idx="7"/>
          </p:nvPr>
        </p:nvSpPr>
        <p:spPr/>
        <p:txBody>
          <a:bodyPr/>
          <a:lstStyle/>
          <a:p>
            <a:fld id="{B6F15528-21DE-4FAA-801E-634DDDAF4B2B}" type="slidenum">
              <a:rPr lang="es-ES" smtClean="0"/>
              <a:t>15</a:t>
            </a:fld>
            <a:endParaRPr lang="es-ES"/>
          </a:p>
        </p:txBody>
      </p:sp>
      <p:sp>
        <p:nvSpPr>
          <p:cNvPr id="3" name="Marcador de pie de página 2">
            <a:extLst>
              <a:ext uri="{FF2B5EF4-FFF2-40B4-BE49-F238E27FC236}">
                <a16:creationId xmlns:a16="http://schemas.microsoft.com/office/drawing/2014/main" id="{2BBA5982-5980-5A28-A586-908A6303AA32}"/>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0C7998C4-AF63-E35B-7B26-E31983064967}"/>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n-US" sz="1200" b="1" dirty="0">
                <a:latin typeface="Arial" panose="020B0604020202020204" pitchFamily="34" charset="0"/>
                <a:cs typeface="Arial" panose="020B0604020202020204" pitchFamily="34" charset="0"/>
              </a:rPr>
              <a:t>Task: </a:t>
            </a:r>
            <a:r>
              <a:rPr lang="en-US" sz="1200" dirty="0">
                <a:latin typeface="Arial" panose="020B0604020202020204" pitchFamily="34" charset="0"/>
                <a:cs typeface="Arial" panose="020B0604020202020204" pitchFamily="34" charset="0"/>
              </a:rPr>
              <a:t>Create a cell component for a unbalanced MZI, using 2x2 50:50 MMIs with arm length difference as parameter</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09973D2A-749F-8A86-7194-624601BC81DC}"/>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5FCCDF8C-0F16-7FC5-2821-1B721612B7E0}"/>
              </a:ext>
            </a:extLst>
          </p:cNvPr>
          <p:cNvPicPr>
            <a:picLocks noChangeAspect="1"/>
          </p:cNvPicPr>
          <p:nvPr/>
        </p:nvPicPr>
        <p:blipFill>
          <a:blip r:embed="rId4"/>
          <a:stretch>
            <a:fillRect/>
          </a:stretch>
        </p:blipFill>
        <p:spPr>
          <a:xfrm>
            <a:off x="6382979" y="1402224"/>
            <a:ext cx="5369639" cy="4053551"/>
          </a:xfrm>
          <a:prstGeom prst="rect">
            <a:avLst/>
          </a:prstGeom>
        </p:spPr>
      </p:pic>
      <p:sp>
        <p:nvSpPr>
          <p:cNvPr id="4" name="CuadroTexto 3">
            <a:extLst>
              <a:ext uri="{FF2B5EF4-FFF2-40B4-BE49-F238E27FC236}">
                <a16:creationId xmlns:a16="http://schemas.microsoft.com/office/drawing/2014/main" id="{DDA95C33-3778-FE7D-EA21-0DC7C37EFE06}"/>
              </a:ext>
            </a:extLst>
          </p:cNvPr>
          <p:cNvSpPr txBox="1"/>
          <p:nvPr/>
        </p:nvSpPr>
        <p:spPr>
          <a:xfrm>
            <a:off x="685800" y="1602658"/>
            <a:ext cx="5410200" cy="4062651"/>
          </a:xfrm>
          <a:prstGeom prst="rect">
            <a:avLst/>
          </a:prstGeom>
          <a:noFill/>
        </p:spPr>
        <p:txBody>
          <a:bodyPr wrap="square" rtlCol="0">
            <a:spAutoFit/>
          </a:bodyPr>
          <a:lstStyle/>
          <a:p>
            <a:r>
              <a:rPr lang="es-ES" sz="1200" dirty="0" err="1"/>
              <a:t>gf.clear_cache</a:t>
            </a:r>
            <a:r>
              <a:rPr lang="es-ES" sz="1200" dirty="0"/>
              <a:t>()</a:t>
            </a:r>
            <a:br>
              <a:rPr lang="es-ES" sz="1200" dirty="0"/>
            </a:br>
            <a:endParaRPr lang="es-ES" sz="1200" dirty="0"/>
          </a:p>
          <a:p>
            <a:r>
              <a:rPr lang="es-ES" sz="1200" dirty="0"/>
              <a:t>@gf.cell</a:t>
            </a:r>
            <a:br>
              <a:rPr lang="es-ES" sz="1200" dirty="0"/>
            </a:br>
            <a:endParaRPr lang="es-ES" sz="1200" dirty="0"/>
          </a:p>
          <a:p>
            <a:r>
              <a:rPr lang="es-ES" sz="1200" dirty="0" err="1"/>
              <a:t>def</a:t>
            </a:r>
            <a:r>
              <a:rPr lang="es-ES" sz="1200" dirty="0"/>
              <a:t> mzi_unbalanced_2x2(</a:t>
            </a:r>
            <a:r>
              <a:rPr lang="es-ES" sz="1200" dirty="0" err="1"/>
              <a:t>delta_length</a:t>
            </a:r>
            <a:r>
              <a:rPr lang="es-ES" sz="1200" dirty="0"/>
              <a:t>=100.0): #sólo </a:t>
            </a:r>
            <a:r>
              <a:rPr lang="es-ES" sz="1200" dirty="0" err="1"/>
              <a:t>delta_l</a:t>
            </a:r>
            <a:r>
              <a:rPr lang="es-ES" sz="1200" dirty="0"/>
              <a:t> como parámetro</a:t>
            </a:r>
          </a:p>
          <a:p>
            <a:r>
              <a:rPr lang="es-ES" sz="1200" dirty="0"/>
              <a:t>    c = </a:t>
            </a:r>
            <a:r>
              <a:rPr lang="es-ES" sz="1200" dirty="0" err="1"/>
              <a:t>gf.Component</a:t>
            </a:r>
            <a:r>
              <a:rPr lang="es-ES" sz="1200" dirty="0"/>
              <a:t>()</a:t>
            </a:r>
          </a:p>
          <a:p>
            <a:r>
              <a:rPr lang="es-ES" sz="1200" dirty="0"/>
              <a:t>    </a:t>
            </a:r>
            <a:r>
              <a:rPr lang="es-ES" sz="1200" dirty="0" err="1"/>
              <a:t>mzi_ref</a:t>
            </a:r>
            <a:r>
              <a:rPr lang="es-ES" sz="1200" dirty="0"/>
              <a:t> = </a:t>
            </a:r>
            <a:r>
              <a:rPr lang="es-ES" sz="1200" dirty="0" err="1"/>
              <a:t>c.add_ref</a:t>
            </a:r>
            <a:r>
              <a:rPr lang="es-ES" sz="1200" dirty="0"/>
              <a:t>(gf.components.mzi2x2_2x2(</a:t>
            </a:r>
          </a:p>
          <a:p>
            <a:r>
              <a:rPr lang="es-ES" sz="1200" dirty="0"/>
              <a:t>        </a:t>
            </a:r>
            <a:r>
              <a:rPr lang="es-ES" sz="1200" dirty="0" err="1"/>
              <a:t>delta_length</a:t>
            </a:r>
            <a:r>
              <a:rPr lang="es-ES" sz="1200" dirty="0"/>
              <a:t>=</a:t>
            </a:r>
            <a:r>
              <a:rPr lang="es-ES" sz="1200" dirty="0" err="1"/>
              <a:t>delta_length</a:t>
            </a:r>
            <a:r>
              <a:rPr lang="es-ES" sz="1200" dirty="0"/>
              <a:t>,</a:t>
            </a:r>
          </a:p>
          <a:p>
            <a:r>
              <a:rPr lang="es-ES" sz="1200" dirty="0"/>
              <a:t>        </a:t>
            </a:r>
            <a:r>
              <a:rPr lang="es-ES" sz="1200" dirty="0" err="1"/>
              <a:t>length_x</a:t>
            </a:r>
            <a:r>
              <a:rPr lang="es-ES" sz="1200" dirty="0"/>
              <a:t>=20.0 #fija pero puede modificarse dentro de esta celda</a:t>
            </a:r>
          </a:p>
          <a:p>
            <a:r>
              <a:rPr lang="es-ES" sz="1200" dirty="0"/>
              <a:t>    ))</a:t>
            </a:r>
          </a:p>
          <a:p>
            <a:r>
              <a:rPr lang="es-ES" sz="1200" dirty="0"/>
              <a:t>    </a:t>
            </a:r>
            <a:r>
              <a:rPr lang="es-ES" sz="1200" dirty="0" err="1"/>
              <a:t>c.add_ports</a:t>
            </a:r>
            <a:r>
              <a:rPr lang="es-ES" sz="1200" dirty="0"/>
              <a:t>(</a:t>
            </a:r>
            <a:r>
              <a:rPr lang="es-ES" sz="1200" dirty="0" err="1"/>
              <a:t>mzi_ref.ports</a:t>
            </a:r>
            <a:r>
              <a:rPr lang="es-ES" sz="1200" dirty="0"/>
              <a:t>)</a:t>
            </a:r>
          </a:p>
          <a:p>
            <a:r>
              <a:rPr lang="es-ES" sz="1200" dirty="0"/>
              <a:t>    </a:t>
            </a:r>
            <a:r>
              <a:rPr lang="es-ES" sz="1200" dirty="0" err="1"/>
              <a:t>c.draw_ports</a:t>
            </a:r>
            <a:r>
              <a:rPr lang="es-ES" sz="1200" dirty="0"/>
              <a:t>()</a:t>
            </a:r>
          </a:p>
          <a:p>
            <a:r>
              <a:rPr lang="es-ES" sz="1200" dirty="0"/>
              <a:t>    </a:t>
            </a:r>
            <a:r>
              <a:rPr lang="es-ES" sz="1200" dirty="0" err="1"/>
              <a:t>return</a:t>
            </a:r>
            <a:r>
              <a:rPr lang="es-ES" sz="1200" dirty="0"/>
              <a:t> c</a:t>
            </a:r>
          </a:p>
          <a:p>
            <a:br>
              <a:rPr lang="es-ES" sz="1200" dirty="0"/>
            </a:br>
            <a:endParaRPr lang="es-ES" sz="1200" dirty="0"/>
          </a:p>
          <a:p>
            <a:r>
              <a:rPr lang="es-ES" sz="1200" dirty="0"/>
              <a:t># Diseño Jerárquico</a:t>
            </a:r>
          </a:p>
          <a:p>
            <a:r>
              <a:rPr lang="es-ES" sz="1200" dirty="0" err="1"/>
              <a:t>wafer</a:t>
            </a:r>
            <a:r>
              <a:rPr lang="es-ES" sz="1200" dirty="0"/>
              <a:t> = </a:t>
            </a:r>
            <a:r>
              <a:rPr lang="es-ES" sz="1200" dirty="0" err="1"/>
              <a:t>gf.Component</a:t>
            </a:r>
            <a:r>
              <a:rPr lang="es-ES" sz="1200" dirty="0"/>
              <a:t>()</a:t>
            </a:r>
          </a:p>
          <a:p>
            <a:r>
              <a:rPr lang="es-ES" sz="1200" dirty="0"/>
              <a:t>unbalanced_2x2_mzi_1 = </a:t>
            </a:r>
            <a:r>
              <a:rPr lang="es-ES" sz="1200" dirty="0" err="1"/>
              <a:t>wafer.add_ref</a:t>
            </a:r>
            <a:r>
              <a:rPr lang="es-ES" sz="1200" dirty="0"/>
              <a:t>(mzi_unbalanced_2x2())</a:t>
            </a:r>
          </a:p>
          <a:p>
            <a:r>
              <a:rPr lang="es-ES" sz="1200" dirty="0" err="1"/>
              <a:t>wafer.plot</a:t>
            </a:r>
            <a:r>
              <a:rPr lang="es-ES" sz="1200" dirty="0"/>
              <a:t>()</a:t>
            </a:r>
          </a:p>
          <a:p>
            <a:r>
              <a:rPr lang="es-ES" sz="1200" dirty="0" err="1"/>
              <a:t>wafer.show</a:t>
            </a:r>
            <a:r>
              <a:rPr lang="es-ES" sz="1200" dirty="0"/>
              <a:t>()</a:t>
            </a:r>
          </a:p>
          <a:p>
            <a:endParaRPr lang="es-ES" dirty="0"/>
          </a:p>
        </p:txBody>
      </p:sp>
    </p:spTree>
    <p:extLst>
      <p:ext uri="{BB962C8B-B14F-4D97-AF65-F5344CB8AC3E}">
        <p14:creationId xmlns:p14="http://schemas.microsoft.com/office/powerpoint/2010/main" val="35953873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8D7DB-9E82-C338-D6FB-0E9EFB93D353}"/>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DD6190A0-3809-41A1-A11F-461CD7C1B8A6}"/>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#4 – Notebook section 4. Exercises – Part a) MZI thermal tuners</a:t>
            </a:r>
            <a:endParaRPr sz="2500" b="0" i="1" dirty="0">
              <a:latin typeface="+mj-lt"/>
              <a:cs typeface="Lucida Sans"/>
            </a:endParaRPr>
          </a:p>
        </p:txBody>
      </p:sp>
      <p:pic>
        <p:nvPicPr>
          <p:cNvPr id="83" name="Gráfico 82">
            <a:extLst>
              <a:ext uri="{FF2B5EF4-FFF2-40B4-BE49-F238E27FC236}">
                <a16:creationId xmlns:a16="http://schemas.microsoft.com/office/drawing/2014/main" id="{D39208DF-908A-21DC-07CA-6A0E3B475FE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189D814-A529-449D-613D-15F0403196AE}"/>
              </a:ext>
            </a:extLst>
          </p:cNvPr>
          <p:cNvSpPr>
            <a:spLocks noGrp="1"/>
          </p:cNvSpPr>
          <p:nvPr>
            <p:ph type="sldNum" sz="quarter" idx="7"/>
          </p:nvPr>
        </p:nvSpPr>
        <p:spPr/>
        <p:txBody>
          <a:bodyPr/>
          <a:lstStyle/>
          <a:p>
            <a:fld id="{B6F15528-21DE-4FAA-801E-634DDDAF4B2B}" type="slidenum">
              <a:rPr lang="es-ES" smtClean="0"/>
              <a:t>16</a:t>
            </a:fld>
            <a:endParaRPr lang="es-ES"/>
          </a:p>
        </p:txBody>
      </p:sp>
      <p:sp>
        <p:nvSpPr>
          <p:cNvPr id="3" name="Marcador de pie de página 2">
            <a:extLst>
              <a:ext uri="{FF2B5EF4-FFF2-40B4-BE49-F238E27FC236}">
                <a16:creationId xmlns:a16="http://schemas.microsoft.com/office/drawing/2014/main" id="{527AABFA-BC15-55A3-50D1-C9C0CE6B36CE}"/>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14E6CB14-CE6A-AAAA-582E-4B49F5DF189D}"/>
              </a:ext>
            </a:extLst>
          </p:cNvPr>
          <p:cNvSpPr txBox="1"/>
          <p:nvPr/>
        </p:nvSpPr>
        <p:spPr>
          <a:xfrm>
            <a:off x="685800" y="990599"/>
            <a:ext cx="5410200" cy="5867401"/>
          </a:xfrm>
          <a:prstGeom prst="rect">
            <a:avLst/>
          </a:prstGeom>
          <a:solidFill>
            <a:schemeClr val="bg1">
              <a:lumMod val="95000"/>
            </a:schemeClr>
          </a:solidFill>
          <a:ln w="28575">
            <a:solidFill>
              <a:srgbClr val="E0700D"/>
            </a:solidFill>
          </a:ln>
        </p:spPr>
        <p:txBody>
          <a:bodyPr wrap="square" rtlCol="0">
            <a:noAutofit/>
          </a:bodyPr>
          <a:lstStyle/>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8CEE2266-445F-78A3-F125-D389AEBB749C}"/>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uadroTexto 3">
            <a:extLst>
              <a:ext uri="{FF2B5EF4-FFF2-40B4-BE49-F238E27FC236}">
                <a16:creationId xmlns:a16="http://schemas.microsoft.com/office/drawing/2014/main" id="{3218C52B-9A31-F141-7948-9A77ED39DB06}"/>
              </a:ext>
            </a:extLst>
          </p:cNvPr>
          <p:cNvSpPr txBox="1"/>
          <p:nvPr/>
        </p:nvSpPr>
        <p:spPr>
          <a:xfrm>
            <a:off x="685800" y="990285"/>
            <a:ext cx="4830097" cy="5878532"/>
          </a:xfrm>
          <a:prstGeom prst="rect">
            <a:avLst/>
          </a:prstGeom>
          <a:noFill/>
        </p:spPr>
        <p:txBody>
          <a:bodyPr wrap="square" rtlCol="0">
            <a:spAutoFit/>
          </a:bodyPr>
          <a:lstStyle/>
          <a:p>
            <a:r>
              <a:rPr lang="en-US" sz="800" b="1" dirty="0">
                <a:latin typeface="Arial" panose="020B0604020202020204" pitchFamily="34" charset="0"/>
                <a:cs typeface="Arial" panose="020B0604020202020204" pitchFamily="34" charset="0"/>
              </a:rPr>
              <a:t>Task: </a:t>
            </a:r>
            <a:r>
              <a:rPr lang="en-US" sz="800" dirty="0">
                <a:latin typeface="Arial" panose="020B0604020202020204" pitchFamily="34" charset="0"/>
                <a:cs typeface="Arial" panose="020B0604020202020204" pitchFamily="34" charset="0"/>
              </a:rPr>
              <a:t>Create a cell component based on the previous, where the arms have thermal tuners on top of each one</a:t>
            </a:r>
          </a:p>
          <a:p>
            <a:endParaRPr lang="en-US" sz="800" dirty="0">
              <a:latin typeface="Arial" panose="020B0604020202020204" pitchFamily="34" charset="0"/>
              <a:cs typeface="Arial" panose="020B0604020202020204" pitchFamily="34" charset="0"/>
            </a:endParaRPr>
          </a:p>
          <a:p>
            <a:r>
              <a:rPr lang="es-ES" sz="800" dirty="0" err="1"/>
              <a:t>import</a:t>
            </a:r>
            <a:r>
              <a:rPr lang="es-ES" sz="800" dirty="0"/>
              <a:t> </a:t>
            </a:r>
            <a:r>
              <a:rPr lang="es-ES" sz="800" dirty="0" err="1"/>
              <a:t>gdsfactory</a:t>
            </a:r>
            <a:r>
              <a:rPr lang="es-ES" sz="800" dirty="0"/>
              <a:t> as </a:t>
            </a:r>
            <a:r>
              <a:rPr lang="es-ES" sz="800" dirty="0" err="1"/>
              <a:t>gf</a:t>
            </a:r>
            <a:endParaRPr lang="es-ES" sz="800" dirty="0"/>
          </a:p>
          <a:p>
            <a:endParaRPr lang="es-ES" sz="800" dirty="0"/>
          </a:p>
          <a:p>
            <a:r>
              <a:rPr lang="es-ES" sz="800" dirty="0"/>
              <a:t># Envolvemos el </a:t>
            </a:r>
            <a:r>
              <a:rPr lang="es-ES" sz="800" dirty="0" err="1"/>
              <a:t>heater</a:t>
            </a:r>
            <a:r>
              <a:rPr lang="es-ES" sz="800" dirty="0"/>
              <a:t> nativo en una celda para aislarlo de los parámetros del MZI</a:t>
            </a:r>
          </a:p>
          <a:p>
            <a:r>
              <a:rPr lang="es-ES" sz="800" dirty="0"/>
              <a:t>@gf.cell</a:t>
            </a:r>
          </a:p>
          <a:p>
            <a:r>
              <a:rPr lang="es-ES" sz="800" dirty="0" err="1"/>
              <a:t>def</a:t>
            </a:r>
            <a:r>
              <a:rPr lang="es-ES" sz="800" dirty="0"/>
              <a:t> </a:t>
            </a:r>
            <a:r>
              <a:rPr lang="es-ES" sz="800" dirty="0" err="1"/>
              <a:t>custom_heater_top</a:t>
            </a:r>
            <a:r>
              <a:rPr lang="es-ES" sz="800" dirty="0"/>
              <a:t>(</a:t>
            </a:r>
            <a:r>
              <a:rPr lang="es-ES" sz="800" dirty="0" err="1"/>
              <a:t>length</a:t>
            </a:r>
            <a:r>
              <a:rPr lang="es-ES" sz="800" dirty="0"/>
              <a:t>=200, **</a:t>
            </a:r>
            <a:r>
              <a:rPr lang="es-ES" sz="800" dirty="0" err="1"/>
              <a:t>kwargs</a:t>
            </a:r>
            <a:r>
              <a:rPr lang="es-ES" sz="800" dirty="0"/>
              <a:t>):</a:t>
            </a:r>
          </a:p>
          <a:p>
            <a:r>
              <a:rPr lang="es-ES" sz="800" dirty="0"/>
              <a:t>    </a:t>
            </a:r>
            <a:r>
              <a:rPr lang="es-ES" sz="800" dirty="0" err="1"/>
              <a:t>return</a:t>
            </a:r>
            <a:r>
              <a:rPr lang="es-ES" sz="800" dirty="0"/>
              <a:t> </a:t>
            </a:r>
            <a:r>
              <a:rPr lang="es-ES" sz="800" dirty="0" err="1"/>
              <a:t>gf.components.straight_heater_metal</a:t>
            </a:r>
            <a:r>
              <a:rPr lang="es-ES" sz="800" dirty="0"/>
              <a:t>(</a:t>
            </a:r>
            <a:r>
              <a:rPr lang="es-ES" sz="800" dirty="0" err="1"/>
              <a:t>length</a:t>
            </a:r>
            <a:r>
              <a:rPr lang="es-ES" sz="800" dirty="0"/>
              <a:t>=</a:t>
            </a:r>
            <a:r>
              <a:rPr lang="es-ES" sz="800" dirty="0" err="1"/>
              <a:t>length</a:t>
            </a:r>
            <a:r>
              <a:rPr lang="es-ES" sz="800" dirty="0"/>
              <a:t>)</a:t>
            </a:r>
          </a:p>
          <a:p>
            <a:endParaRPr lang="es-ES" sz="800" dirty="0"/>
          </a:p>
          <a:p>
            <a:r>
              <a:rPr lang="es-ES" sz="800" dirty="0"/>
              <a:t>@gf.cell</a:t>
            </a:r>
          </a:p>
          <a:p>
            <a:r>
              <a:rPr lang="es-ES" sz="800" dirty="0" err="1"/>
              <a:t>def</a:t>
            </a:r>
            <a:r>
              <a:rPr lang="es-ES" sz="800" dirty="0"/>
              <a:t> </a:t>
            </a:r>
            <a:r>
              <a:rPr lang="es-ES" sz="800" dirty="0" err="1"/>
              <a:t>mzi_phase_shifter_celda</a:t>
            </a:r>
            <a:r>
              <a:rPr lang="es-ES" sz="800" dirty="0"/>
              <a:t>(</a:t>
            </a:r>
            <a:r>
              <a:rPr lang="es-ES" sz="800" dirty="0" err="1"/>
              <a:t>delta_length</a:t>
            </a:r>
            <a:r>
              <a:rPr lang="es-ES" sz="800" dirty="0"/>
              <a:t>: </a:t>
            </a:r>
            <a:r>
              <a:rPr lang="es-ES" sz="800" dirty="0" err="1"/>
              <a:t>float</a:t>
            </a:r>
            <a:r>
              <a:rPr lang="es-ES" sz="800" dirty="0"/>
              <a:t> = 600.025) -&gt; </a:t>
            </a:r>
            <a:r>
              <a:rPr lang="es-ES" sz="800" dirty="0" err="1"/>
              <a:t>gf.Component</a:t>
            </a:r>
            <a:r>
              <a:rPr lang="es-ES" sz="800" dirty="0"/>
              <a:t>:</a:t>
            </a:r>
          </a:p>
          <a:p>
            <a:r>
              <a:rPr lang="es-ES" sz="800" dirty="0"/>
              <a:t>    c = </a:t>
            </a:r>
            <a:r>
              <a:rPr lang="es-ES" sz="800" dirty="0" err="1"/>
              <a:t>gf.Component</a:t>
            </a:r>
            <a:r>
              <a:rPr lang="es-ES" sz="800" dirty="0"/>
              <a:t>()</a:t>
            </a:r>
          </a:p>
          <a:p>
            <a:r>
              <a:rPr lang="es-ES" sz="800" dirty="0"/>
              <a:t>    </a:t>
            </a:r>
          </a:p>
          <a:p>
            <a:r>
              <a:rPr lang="es-ES" sz="800" dirty="0"/>
              <a:t>    </a:t>
            </a:r>
            <a:r>
              <a:rPr lang="es-ES" sz="800" dirty="0" err="1"/>
              <a:t>mzi_ref</a:t>
            </a:r>
            <a:r>
              <a:rPr lang="es-ES" sz="800" dirty="0"/>
              <a:t> = c &lt;&lt; gf.components.mzi2x2_2x2_phase_shifter(</a:t>
            </a:r>
          </a:p>
          <a:p>
            <a:r>
              <a:rPr lang="es-ES" sz="800" dirty="0"/>
              <a:t>        </a:t>
            </a:r>
            <a:r>
              <a:rPr lang="es-ES" sz="800" dirty="0" err="1"/>
              <a:t>delta_length</a:t>
            </a:r>
            <a:r>
              <a:rPr lang="es-ES" sz="800" dirty="0"/>
              <a:t>=</a:t>
            </a:r>
            <a:r>
              <a:rPr lang="es-ES" sz="800" dirty="0" err="1"/>
              <a:t>delta_length</a:t>
            </a:r>
            <a:r>
              <a:rPr lang="es-ES" sz="800" dirty="0"/>
              <a:t>, </a:t>
            </a:r>
          </a:p>
          <a:p>
            <a:r>
              <a:rPr lang="es-ES" sz="800" dirty="0"/>
              <a:t>        </a:t>
            </a:r>
            <a:r>
              <a:rPr lang="es-ES" sz="800" dirty="0" err="1"/>
              <a:t>length_y</a:t>
            </a:r>
            <a:r>
              <a:rPr lang="es-ES" sz="800" dirty="0"/>
              <a:t>=2.0, </a:t>
            </a:r>
          </a:p>
          <a:p>
            <a:r>
              <a:rPr lang="es-ES" sz="800" dirty="0"/>
              <a:t>        </a:t>
            </a:r>
            <a:r>
              <a:rPr lang="es-ES" sz="800" dirty="0" err="1"/>
              <a:t>length_x</a:t>
            </a:r>
            <a:r>
              <a:rPr lang="es-ES" sz="800" dirty="0"/>
              <a:t>=200.0, </a:t>
            </a:r>
          </a:p>
          <a:p>
            <a:r>
              <a:rPr lang="es-ES" sz="800" dirty="0"/>
              <a:t>        </a:t>
            </a:r>
            <a:r>
              <a:rPr lang="es-ES" sz="800" dirty="0" err="1"/>
              <a:t>bend</a:t>
            </a:r>
            <a:r>
              <a:rPr lang="es-ES" sz="800" dirty="0"/>
              <a:t>='</a:t>
            </a:r>
            <a:r>
              <a:rPr lang="es-ES" sz="800" dirty="0" err="1"/>
              <a:t>bend_euler</a:t>
            </a:r>
            <a:r>
              <a:rPr lang="es-ES" sz="800" dirty="0"/>
              <a:t>', </a:t>
            </a:r>
          </a:p>
          <a:p>
            <a:r>
              <a:rPr lang="es-ES" sz="800" dirty="0"/>
              <a:t>        </a:t>
            </a:r>
            <a:r>
              <a:rPr lang="es-ES" sz="800" dirty="0" err="1"/>
              <a:t>straight</a:t>
            </a:r>
            <a:r>
              <a:rPr lang="es-ES" sz="800" dirty="0"/>
              <a:t>='</a:t>
            </a:r>
            <a:r>
              <a:rPr lang="es-ES" sz="800" dirty="0" err="1"/>
              <a:t>straight</a:t>
            </a:r>
            <a:r>
              <a:rPr lang="es-ES" sz="800" dirty="0"/>
              <a:t>', </a:t>
            </a:r>
          </a:p>
          <a:p>
            <a:r>
              <a:rPr lang="es-ES" sz="800" dirty="0"/>
              <a:t>        </a:t>
            </a:r>
            <a:r>
              <a:rPr lang="es-ES" sz="800" dirty="0" err="1"/>
              <a:t>straight_x_top</a:t>
            </a:r>
            <a:r>
              <a:rPr lang="es-ES" sz="800" dirty="0"/>
              <a:t>=</a:t>
            </a:r>
            <a:r>
              <a:rPr lang="es-ES" sz="800" dirty="0" err="1"/>
              <a:t>custom_heater_top</a:t>
            </a:r>
            <a:r>
              <a:rPr lang="es-ES" sz="800" dirty="0"/>
              <a:t>, # Usamos nuestra celda aislada</a:t>
            </a:r>
          </a:p>
          <a:p>
            <a:r>
              <a:rPr lang="es-ES" sz="800" dirty="0"/>
              <a:t>        </a:t>
            </a:r>
            <a:r>
              <a:rPr lang="es-ES" sz="800" dirty="0" err="1"/>
              <a:t>splitter</a:t>
            </a:r>
            <a:r>
              <a:rPr lang="es-ES" sz="800" dirty="0"/>
              <a:t>='mmi2x2', </a:t>
            </a:r>
          </a:p>
          <a:p>
            <a:r>
              <a:rPr lang="es-ES" sz="800" dirty="0"/>
              <a:t>        </a:t>
            </a:r>
            <a:r>
              <a:rPr lang="es-ES" sz="800" dirty="0" err="1"/>
              <a:t>combiner</a:t>
            </a:r>
            <a:r>
              <a:rPr lang="es-ES" sz="800" dirty="0"/>
              <a:t>='mmi2x2', </a:t>
            </a:r>
          </a:p>
          <a:p>
            <a:r>
              <a:rPr lang="es-ES" sz="800" dirty="0"/>
              <a:t>        </a:t>
            </a:r>
            <a:r>
              <a:rPr lang="es-ES" sz="800" dirty="0" err="1"/>
              <a:t>with_splitter</a:t>
            </a:r>
            <a:r>
              <a:rPr lang="es-ES" sz="800" dirty="0"/>
              <a:t>=True,</a:t>
            </a:r>
          </a:p>
          <a:p>
            <a:r>
              <a:rPr lang="es-ES" sz="800" dirty="0"/>
              <a:t>        port_e1_splitter='o3', </a:t>
            </a:r>
          </a:p>
          <a:p>
            <a:r>
              <a:rPr lang="es-ES" sz="800" dirty="0"/>
              <a:t>        port_e0_splitter='o4', </a:t>
            </a:r>
          </a:p>
          <a:p>
            <a:r>
              <a:rPr lang="es-ES" sz="800" dirty="0"/>
              <a:t>        port_e1_combiner='o3', </a:t>
            </a:r>
          </a:p>
          <a:p>
            <a:r>
              <a:rPr lang="es-ES" sz="800" dirty="0"/>
              <a:t>        port_e0_combiner='o4', </a:t>
            </a:r>
          </a:p>
          <a:p>
            <a:r>
              <a:rPr lang="es-ES" sz="800" dirty="0"/>
              <a:t>        port1='o1', </a:t>
            </a:r>
          </a:p>
          <a:p>
            <a:r>
              <a:rPr lang="es-ES" sz="800" dirty="0"/>
              <a:t>        port2='o2', </a:t>
            </a:r>
          </a:p>
          <a:p>
            <a:r>
              <a:rPr lang="es-ES" sz="800" dirty="0"/>
              <a:t>        </a:t>
            </a:r>
            <a:r>
              <a:rPr lang="es-ES" sz="800" dirty="0" err="1"/>
              <a:t>nbends</a:t>
            </a:r>
            <a:r>
              <a:rPr lang="es-ES" sz="800" dirty="0"/>
              <a:t>=2, </a:t>
            </a:r>
          </a:p>
          <a:p>
            <a:r>
              <a:rPr lang="es-ES" sz="800" dirty="0"/>
              <a:t>        </a:t>
            </a:r>
            <a:r>
              <a:rPr lang="es-ES" sz="800" dirty="0" err="1"/>
              <a:t>cross_section</a:t>
            </a:r>
            <a:r>
              <a:rPr lang="es-ES" sz="800" dirty="0"/>
              <a:t>='</a:t>
            </a:r>
            <a:r>
              <a:rPr lang="es-ES" sz="800" dirty="0" err="1"/>
              <a:t>strip</a:t>
            </a:r>
            <a:r>
              <a:rPr lang="es-ES" sz="800" dirty="0"/>
              <a:t>', </a:t>
            </a:r>
          </a:p>
          <a:p>
            <a:r>
              <a:rPr lang="es-ES" sz="800" dirty="0"/>
              <a:t>        </a:t>
            </a:r>
            <a:r>
              <a:rPr lang="es-ES" sz="800" dirty="0" err="1"/>
              <a:t>mirror_bot</a:t>
            </a:r>
            <a:r>
              <a:rPr lang="es-ES" sz="800" dirty="0"/>
              <a:t>=False, </a:t>
            </a:r>
          </a:p>
          <a:p>
            <a:r>
              <a:rPr lang="es-ES" sz="800" dirty="0"/>
              <a:t>        </a:t>
            </a:r>
            <a:r>
              <a:rPr lang="es-ES" sz="800" dirty="0" err="1"/>
              <a:t>add_optical_ports_arms</a:t>
            </a:r>
            <a:r>
              <a:rPr lang="es-ES" sz="800" dirty="0"/>
              <a:t>=False, </a:t>
            </a:r>
          </a:p>
          <a:p>
            <a:r>
              <a:rPr lang="es-ES" sz="800" dirty="0"/>
              <a:t>        </a:t>
            </a:r>
            <a:r>
              <a:rPr lang="es-ES" sz="800" dirty="0" err="1"/>
              <a:t>min_length</a:t>
            </a:r>
            <a:r>
              <a:rPr lang="es-ES" sz="800" dirty="0"/>
              <a:t>=0.01, </a:t>
            </a:r>
          </a:p>
          <a:p>
            <a:r>
              <a:rPr lang="es-ES" sz="800" dirty="0"/>
              <a:t>        </a:t>
            </a:r>
            <a:r>
              <a:rPr lang="es-ES" sz="800" dirty="0" err="1"/>
              <a:t>auto_rename_ports</a:t>
            </a:r>
            <a:r>
              <a:rPr lang="es-ES" sz="800" dirty="0"/>
              <a:t>=True, </a:t>
            </a:r>
          </a:p>
          <a:p>
            <a:r>
              <a:rPr lang="es-ES" sz="800" dirty="0"/>
              <a:t>        </a:t>
            </a:r>
            <a:r>
              <a:rPr lang="es-ES" sz="800" dirty="0" err="1"/>
              <a:t>auto_detect_port_names</a:t>
            </a:r>
            <a:r>
              <a:rPr lang="es-ES" sz="800" dirty="0"/>
              <a:t>=False</a:t>
            </a:r>
          </a:p>
          <a:p>
            <a:r>
              <a:rPr lang="es-ES" sz="800" dirty="0"/>
              <a:t>    ).</a:t>
            </a:r>
            <a:r>
              <a:rPr lang="es-ES" sz="800" dirty="0" err="1"/>
              <a:t>copy</a:t>
            </a:r>
            <a:r>
              <a:rPr lang="es-ES" sz="800" dirty="0"/>
              <a:t>()</a:t>
            </a:r>
          </a:p>
          <a:p>
            <a:r>
              <a:rPr lang="es-ES" sz="800" dirty="0"/>
              <a:t>    </a:t>
            </a:r>
          </a:p>
          <a:p>
            <a:r>
              <a:rPr lang="es-ES" sz="800" dirty="0"/>
              <a:t>    </a:t>
            </a:r>
            <a:r>
              <a:rPr lang="es-ES" sz="800" dirty="0" err="1"/>
              <a:t>c.add_ports</a:t>
            </a:r>
            <a:r>
              <a:rPr lang="es-ES" sz="800" dirty="0"/>
              <a:t>(</a:t>
            </a:r>
            <a:r>
              <a:rPr lang="es-ES" sz="800" dirty="0" err="1"/>
              <a:t>mzi_ref.ports</a:t>
            </a:r>
            <a:r>
              <a:rPr lang="es-ES" sz="800" dirty="0"/>
              <a:t>)</a:t>
            </a:r>
          </a:p>
          <a:p>
            <a:r>
              <a:rPr lang="es-ES" sz="800" dirty="0"/>
              <a:t>    </a:t>
            </a:r>
            <a:r>
              <a:rPr lang="es-ES" sz="800" dirty="0" err="1"/>
              <a:t>c.draw_ports</a:t>
            </a:r>
            <a:r>
              <a:rPr lang="es-ES" sz="800" dirty="0"/>
              <a:t>()</a:t>
            </a:r>
          </a:p>
          <a:p>
            <a:r>
              <a:rPr lang="es-ES" sz="800" dirty="0"/>
              <a:t>    </a:t>
            </a:r>
            <a:r>
              <a:rPr lang="es-ES" sz="800" dirty="0" err="1"/>
              <a:t>return</a:t>
            </a:r>
            <a:r>
              <a:rPr lang="es-ES" sz="800" dirty="0"/>
              <a:t> c</a:t>
            </a:r>
          </a:p>
          <a:p>
            <a:endParaRPr lang="es-ES" sz="800" dirty="0"/>
          </a:p>
          <a:p>
            <a:r>
              <a:rPr lang="es-ES" sz="800" dirty="0"/>
              <a:t># Ejemplo de uso</a:t>
            </a:r>
          </a:p>
          <a:p>
            <a:r>
              <a:rPr lang="es-ES" sz="800" dirty="0" err="1"/>
              <a:t>mzi_final</a:t>
            </a:r>
            <a:r>
              <a:rPr lang="es-ES" sz="800" dirty="0"/>
              <a:t> = </a:t>
            </a:r>
            <a:r>
              <a:rPr lang="es-ES" sz="800" dirty="0" err="1"/>
              <a:t>mzi_phase_shifter_celda</a:t>
            </a:r>
            <a:r>
              <a:rPr lang="es-ES" sz="800" dirty="0"/>
              <a:t>(</a:t>
            </a:r>
            <a:r>
              <a:rPr lang="es-ES" sz="800" dirty="0" err="1"/>
              <a:t>delta_length</a:t>
            </a:r>
            <a:r>
              <a:rPr lang="es-ES" sz="800" dirty="0"/>
              <a:t>=600.025)</a:t>
            </a:r>
          </a:p>
          <a:p>
            <a:r>
              <a:rPr lang="es-ES" sz="800" dirty="0" err="1"/>
              <a:t>mzi_final.plot</a:t>
            </a:r>
            <a:r>
              <a:rPr lang="es-ES" sz="800" dirty="0"/>
              <a:t>()</a:t>
            </a:r>
          </a:p>
          <a:p>
            <a:r>
              <a:rPr lang="es-ES" sz="800" dirty="0" err="1"/>
              <a:t>mzi_final.show</a:t>
            </a:r>
            <a:r>
              <a:rPr lang="es-ES" sz="800" dirty="0"/>
              <a:t>()</a:t>
            </a:r>
          </a:p>
        </p:txBody>
      </p:sp>
      <p:pic>
        <p:nvPicPr>
          <p:cNvPr id="10" name="Imagen 9">
            <a:extLst>
              <a:ext uri="{FF2B5EF4-FFF2-40B4-BE49-F238E27FC236}">
                <a16:creationId xmlns:a16="http://schemas.microsoft.com/office/drawing/2014/main" id="{094E21E1-DA39-BAE5-10B8-EC480370A7C7}"/>
              </a:ext>
            </a:extLst>
          </p:cNvPr>
          <p:cNvPicPr>
            <a:picLocks noChangeAspect="1"/>
          </p:cNvPicPr>
          <p:nvPr/>
        </p:nvPicPr>
        <p:blipFill>
          <a:blip r:embed="rId4"/>
          <a:stretch>
            <a:fillRect/>
          </a:stretch>
        </p:blipFill>
        <p:spPr>
          <a:xfrm>
            <a:off x="6510183" y="1650335"/>
            <a:ext cx="5115232" cy="3861499"/>
          </a:xfrm>
          <a:prstGeom prst="rect">
            <a:avLst/>
          </a:prstGeom>
        </p:spPr>
      </p:pic>
    </p:spTree>
    <p:extLst>
      <p:ext uri="{BB962C8B-B14F-4D97-AF65-F5344CB8AC3E}">
        <p14:creationId xmlns:p14="http://schemas.microsoft.com/office/powerpoint/2010/main" val="26757961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AE4F2-8058-6DE7-809B-B781D939DE2E}"/>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A4D4B34A-99BD-C466-63FA-2800DE06CA09}"/>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#4 – Notebook section 4. Exercises – Part a) Ring Resonator</a:t>
            </a:r>
            <a:endParaRPr sz="2500" b="0" i="1" dirty="0">
              <a:latin typeface="+mj-lt"/>
              <a:cs typeface="Lucida Sans"/>
            </a:endParaRPr>
          </a:p>
        </p:txBody>
      </p:sp>
      <p:pic>
        <p:nvPicPr>
          <p:cNvPr id="83" name="Gráfico 82">
            <a:extLst>
              <a:ext uri="{FF2B5EF4-FFF2-40B4-BE49-F238E27FC236}">
                <a16:creationId xmlns:a16="http://schemas.microsoft.com/office/drawing/2014/main" id="{FDED450B-37C8-2178-C016-E3845B47965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E04D6F05-CFB8-9E11-5ED1-5830FDB1E137}"/>
              </a:ext>
            </a:extLst>
          </p:cNvPr>
          <p:cNvSpPr>
            <a:spLocks noGrp="1"/>
          </p:cNvSpPr>
          <p:nvPr>
            <p:ph type="sldNum" sz="quarter" idx="7"/>
          </p:nvPr>
        </p:nvSpPr>
        <p:spPr/>
        <p:txBody>
          <a:bodyPr/>
          <a:lstStyle/>
          <a:p>
            <a:fld id="{B6F15528-21DE-4FAA-801E-634DDDAF4B2B}" type="slidenum">
              <a:rPr lang="es-ES" smtClean="0"/>
              <a:t>17</a:t>
            </a:fld>
            <a:endParaRPr lang="es-ES"/>
          </a:p>
        </p:txBody>
      </p:sp>
      <p:sp>
        <p:nvSpPr>
          <p:cNvPr id="3" name="Marcador de pie de página 2">
            <a:extLst>
              <a:ext uri="{FF2B5EF4-FFF2-40B4-BE49-F238E27FC236}">
                <a16:creationId xmlns:a16="http://schemas.microsoft.com/office/drawing/2014/main" id="{013ED44C-473A-9E2E-3A74-8DA5EDAE4923}"/>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0C223184-42A6-6DE7-4E59-B63DD3C6B220}"/>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n-US" sz="1200" b="1" dirty="0">
                <a:latin typeface="Arial" panose="020B0604020202020204" pitchFamily="34" charset="0"/>
                <a:cs typeface="Arial" panose="020B0604020202020204" pitchFamily="34" charset="0"/>
              </a:rPr>
              <a:t>Task: </a:t>
            </a:r>
            <a:r>
              <a:rPr lang="en-US" sz="1200" dirty="0">
                <a:latin typeface="Arial" panose="020B0604020202020204" pitchFamily="34" charset="0"/>
                <a:cs typeface="Arial" panose="020B0604020202020204" pitchFamily="34" charset="0"/>
              </a:rPr>
              <a:t>Create a cell component for an all-pass ring resonator, using 2x2 50:50 MMIs, with extra length parameter for different perimeters</a:t>
            </a:r>
          </a:p>
          <a:p>
            <a:pPr algn="just"/>
            <a:endParaRPr lang="en-US" sz="1200" dirty="0">
              <a:latin typeface="Arial" panose="020B0604020202020204" pitchFamily="34" charset="0"/>
              <a:cs typeface="Arial" panose="020B0604020202020204" pitchFamily="34" charset="0"/>
            </a:endParaRPr>
          </a:p>
          <a:p>
            <a:pPr algn="just"/>
            <a:r>
              <a:rPr lang="en-US" sz="1000" dirty="0">
                <a:latin typeface="Arial" panose="020B0604020202020204" pitchFamily="34" charset="0"/>
                <a:cs typeface="Arial" panose="020B0604020202020204" pitchFamily="34" charset="0"/>
              </a:rPr>
              <a:t>import </a:t>
            </a:r>
            <a:r>
              <a:rPr lang="en-US" sz="1000" dirty="0" err="1">
                <a:latin typeface="Arial" panose="020B0604020202020204" pitchFamily="34" charset="0"/>
                <a:cs typeface="Arial" panose="020B0604020202020204" pitchFamily="34" charset="0"/>
              </a:rPr>
              <a:t>gdsfactory</a:t>
            </a:r>
            <a:r>
              <a:rPr lang="en-US" sz="1000" dirty="0">
                <a:latin typeface="Arial" panose="020B0604020202020204" pitchFamily="34" charset="0"/>
                <a:cs typeface="Arial" panose="020B0604020202020204" pitchFamily="34" charset="0"/>
              </a:rPr>
              <a:t> as gf</a:t>
            </a:r>
          </a:p>
          <a:p>
            <a:pPr algn="just"/>
            <a:endParaRPr lang="en-US" sz="1000" dirty="0">
              <a:latin typeface="Arial" panose="020B0604020202020204" pitchFamily="34" charset="0"/>
              <a:cs typeface="Arial" panose="020B0604020202020204" pitchFamily="34" charset="0"/>
            </a:endParaRPr>
          </a:p>
          <a:p>
            <a:pPr algn="just"/>
            <a:r>
              <a:rPr lang="en-US" sz="1000" dirty="0" err="1">
                <a:latin typeface="Arial" panose="020B0604020202020204" pitchFamily="34" charset="0"/>
                <a:cs typeface="Arial" panose="020B0604020202020204" pitchFamily="34" charset="0"/>
              </a:rPr>
              <a:t>gf.clear_cache</a:t>
            </a:r>
            <a:r>
              <a:rPr lang="en-US" sz="1000" dirty="0">
                <a:latin typeface="Arial" panose="020B0604020202020204" pitchFamily="34" charset="0"/>
                <a:cs typeface="Arial" panose="020B0604020202020204" pitchFamily="34" charset="0"/>
              </a:rPr>
              <a:t>()</a:t>
            </a:r>
          </a:p>
          <a:p>
            <a:pPr algn="just"/>
            <a:endParaRPr lang="en-US" sz="1000" dirty="0">
              <a:latin typeface="Arial" panose="020B0604020202020204" pitchFamily="34" charset="0"/>
              <a:cs typeface="Arial" panose="020B0604020202020204" pitchFamily="34" charset="0"/>
            </a:endParaRPr>
          </a:p>
          <a:p>
            <a:pPr algn="just"/>
            <a:r>
              <a:rPr lang="en-US" sz="1000" dirty="0">
                <a:latin typeface="Arial" panose="020B0604020202020204" pitchFamily="34" charset="0"/>
                <a:cs typeface="Arial" panose="020B0604020202020204" pitchFamily="34" charset="0"/>
              </a:rPr>
              <a:t>@gf.cell</a:t>
            </a:r>
          </a:p>
          <a:p>
            <a:pPr algn="just"/>
            <a:r>
              <a:rPr lang="en-US" sz="1000" dirty="0">
                <a:latin typeface="Arial" panose="020B0604020202020204" pitchFamily="34" charset="0"/>
                <a:cs typeface="Arial" panose="020B0604020202020204" pitchFamily="34" charset="0"/>
              </a:rPr>
              <a:t>def </a:t>
            </a:r>
            <a:r>
              <a:rPr lang="en-US" sz="1000" dirty="0" err="1">
                <a:latin typeface="Arial" panose="020B0604020202020204" pitchFamily="34" charset="0"/>
                <a:cs typeface="Arial" panose="020B0604020202020204" pitchFamily="34" charset="0"/>
              </a:rPr>
              <a:t>mi_anillo_all_pass</a:t>
            </a:r>
            <a:r>
              <a:rPr lang="en-US" sz="1000" dirty="0">
                <a:latin typeface="Arial" panose="020B0604020202020204" pitchFamily="34" charset="0"/>
                <a:cs typeface="Arial" panose="020B0604020202020204" pitchFamily="34" charset="0"/>
              </a:rPr>
              <a:t>(</a:t>
            </a:r>
            <a:r>
              <a:rPr lang="en-US" sz="1000" dirty="0" err="1">
                <a:latin typeface="Arial" panose="020B0604020202020204" pitchFamily="34" charset="0"/>
                <a:cs typeface="Arial" panose="020B0604020202020204" pitchFamily="34" charset="0"/>
              </a:rPr>
              <a:t>longitud_extra</a:t>
            </a:r>
            <a:r>
              <a:rPr lang="en-US" sz="1000" dirty="0">
                <a:latin typeface="Arial" panose="020B0604020202020204" pitchFamily="34" charset="0"/>
                <a:cs typeface="Arial" panose="020B0604020202020204" pitchFamily="34" charset="0"/>
              </a:rPr>
              <a:t>: float = 4.0) -&gt; </a:t>
            </a:r>
            <a:r>
              <a:rPr lang="en-US" sz="1000" dirty="0" err="1">
                <a:latin typeface="Arial" panose="020B0604020202020204" pitchFamily="34" charset="0"/>
                <a:cs typeface="Arial" panose="020B0604020202020204" pitchFamily="34" charset="0"/>
              </a:rPr>
              <a:t>gf.Component</a:t>
            </a:r>
            <a:r>
              <a:rPr lang="en-US" sz="1000" dirty="0">
                <a:latin typeface="Arial" panose="020B0604020202020204" pitchFamily="34" charset="0"/>
                <a:cs typeface="Arial" panose="020B0604020202020204" pitchFamily="34" charset="0"/>
              </a:rPr>
              <a:t>:</a:t>
            </a:r>
          </a:p>
          <a:p>
            <a:pPr algn="just"/>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gf.gpdk.PDK.activate</a:t>
            </a:r>
            <a:r>
              <a:rPr lang="en-US" sz="1000" dirty="0">
                <a:latin typeface="Arial" panose="020B0604020202020204" pitchFamily="34" charset="0"/>
                <a:cs typeface="Arial" panose="020B0604020202020204" pitchFamily="34" charset="0"/>
              </a:rPr>
              <a:t>()</a:t>
            </a:r>
          </a:p>
          <a:p>
            <a:pPr algn="just"/>
            <a:endParaRPr lang="en-US" sz="1000" dirty="0">
              <a:latin typeface="Arial" panose="020B0604020202020204" pitchFamily="34" charset="0"/>
              <a:cs typeface="Arial" panose="020B0604020202020204" pitchFamily="34" charset="0"/>
            </a:endParaRPr>
          </a:p>
          <a:p>
            <a:pPr algn="just"/>
            <a:r>
              <a:rPr lang="en-US" sz="1000" dirty="0">
                <a:latin typeface="Arial" panose="020B0604020202020204" pitchFamily="34" charset="0"/>
                <a:cs typeface="Arial" panose="020B0604020202020204" pitchFamily="34" charset="0"/>
              </a:rPr>
              <a:t>    # </a:t>
            </a:r>
            <a:r>
              <a:rPr lang="en-US" sz="1000" dirty="0" err="1">
                <a:latin typeface="Arial" panose="020B0604020202020204" pitchFamily="34" charset="0"/>
                <a:cs typeface="Arial" panose="020B0604020202020204" pitchFamily="34" charset="0"/>
              </a:rPr>
              <a:t>Creamos</a:t>
            </a:r>
            <a:r>
              <a:rPr lang="en-US" sz="1000" dirty="0">
                <a:latin typeface="Arial" panose="020B0604020202020204" pitchFamily="34" charset="0"/>
                <a:cs typeface="Arial" panose="020B0604020202020204" pitchFamily="34" charset="0"/>
              </a:rPr>
              <a:t> un </a:t>
            </a:r>
            <a:r>
              <a:rPr lang="en-US" sz="1000" dirty="0" err="1">
                <a:latin typeface="Arial" panose="020B0604020202020204" pitchFamily="34" charset="0"/>
                <a:cs typeface="Arial" panose="020B0604020202020204" pitchFamily="34" charset="0"/>
              </a:rPr>
              <a:t>componente</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vacío</a:t>
            </a:r>
            <a:r>
              <a:rPr lang="en-US" sz="1000" dirty="0">
                <a:latin typeface="Arial" panose="020B0604020202020204" pitchFamily="34" charset="0"/>
                <a:cs typeface="Arial" panose="020B0604020202020204" pitchFamily="34" charset="0"/>
              </a:rPr>
              <a:t> con un </a:t>
            </a:r>
            <a:r>
              <a:rPr lang="en-US" sz="1000" dirty="0" err="1">
                <a:latin typeface="Arial" panose="020B0604020202020204" pitchFamily="34" charset="0"/>
                <a:cs typeface="Arial" panose="020B0604020202020204" pitchFamily="34" charset="0"/>
              </a:rPr>
              <a:t>nombre</a:t>
            </a:r>
            <a:r>
              <a:rPr lang="en-US" sz="1000" dirty="0">
                <a:latin typeface="Arial" panose="020B0604020202020204" pitchFamily="34" charset="0"/>
                <a:cs typeface="Arial" panose="020B0604020202020204" pitchFamily="34" charset="0"/>
              </a:rPr>
              <a:t> de variable </a:t>
            </a:r>
            <a:r>
              <a:rPr lang="en-US" sz="1000" dirty="0" err="1">
                <a:latin typeface="Arial" panose="020B0604020202020204" pitchFamily="34" charset="0"/>
                <a:cs typeface="Arial" panose="020B0604020202020204" pitchFamily="34" charset="0"/>
              </a:rPr>
              <a:t>propio</a:t>
            </a:r>
            <a:endParaRPr lang="en-US" sz="1000" dirty="0">
              <a:latin typeface="Arial" panose="020B0604020202020204" pitchFamily="34" charset="0"/>
              <a:cs typeface="Arial" panose="020B0604020202020204" pitchFamily="34" charset="0"/>
            </a:endParaRPr>
          </a:p>
          <a:p>
            <a:pPr algn="just"/>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anillo</a:t>
            </a:r>
            <a:r>
              <a:rPr lang="en-US" sz="1000" dirty="0">
                <a:latin typeface="Arial" panose="020B0604020202020204" pitchFamily="34" charset="0"/>
                <a:cs typeface="Arial" panose="020B0604020202020204" pitchFamily="34" charset="0"/>
              </a:rPr>
              <a:t> = </a:t>
            </a:r>
            <a:r>
              <a:rPr lang="en-US" sz="1000" dirty="0" err="1">
                <a:latin typeface="Arial" panose="020B0604020202020204" pitchFamily="34" charset="0"/>
                <a:cs typeface="Arial" panose="020B0604020202020204" pitchFamily="34" charset="0"/>
              </a:rPr>
              <a:t>gf.Component</a:t>
            </a:r>
            <a:r>
              <a:rPr lang="en-US" sz="1000" dirty="0">
                <a:latin typeface="Arial" panose="020B0604020202020204" pitchFamily="34" charset="0"/>
                <a:cs typeface="Arial" panose="020B0604020202020204" pitchFamily="34" charset="0"/>
              </a:rPr>
              <a:t>()</a:t>
            </a:r>
          </a:p>
          <a:p>
            <a:pPr algn="just"/>
            <a:r>
              <a:rPr lang="en-US" sz="1000" dirty="0">
                <a:latin typeface="Arial" panose="020B0604020202020204" pitchFamily="34" charset="0"/>
                <a:cs typeface="Arial" panose="020B0604020202020204" pitchFamily="34" charset="0"/>
              </a:rPr>
              <a:t>    </a:t>
            </a:r>
          </a:p>
          <a:p>
            <a:pPr algn="just"/>
            <a:r>
              <a:rPr lang="en-US" sz="1000" dirty="0">
                <a:latin typeface="Arial" panose="020B0604020202020204" pitchFamily="34" charset="0"/>
                <a:cs typeface="Arial" panose="020B0604020202020204" pitchFamily="34" charset="0"/>
              </a:rPr>
              <a:t>    # </a:t>
            </a:r>
            <a:r>
              <a:rPr lang="en-US" sz="1000" dirty="0" err="1">
                <a:latin typeface="Arial" panose="020B0604020202020204" pitchFamily="34" charset="0"/>
                <a:cs typeface="Arial" panose="020B0604020202020204" pitchFamily="34" charset="0"/>
              </a:rPr>
              <a:t>Instanciamos</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el</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anillo</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pasándole</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nuestra</a:t>
            </a:r>
            <a:r>
              <a:rPr lang="en-US" sz="1000" dirty="0">
                <a:latin typeface="Arial" panose="020B0604020202020204" pitchFamily="34" charset="0"/>
                <a:cs typeface="Arial" panose="020B0604020202020204" pitchFamily="34" charset="0"/>
              </a:rPr>
              <a:t> variable '</a:t>
            </a:r>
            <a:r>
              <a:rPr lang="en-US" sz="1000" dirty="0" err="1">
                <a:latin typeface="Arial" panose="020B0604020202020204" pitchFamily="34" charset="0"/>
                <a:cs typeface="Arial" panose="020B0604020202020204" pitchFamily="34" charset="0"/>
              </a:rPr>
              <a:t>longitud_extra</a:t>
            </a:r>
            <a:r>
              <a:rPr lang="en-US" sz="1000" dirty="0">
                <a:latin typeface="Arial" panose="020B0604020202020204" pitchFamily="34" charset="0"/>
                <a:cs typeface="Arial" panose="020B0604020202020204" pitchFamily="34" charset="0"/>
              </a:rPr>
              <a:t>'</a:t>
            </a:r>
          </a:p>
          <a:p>
            <a:pPr algn="just"/>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ref_anillo</a:t>
            </a:r>
            <a:r>
              <a:rPr lang="en-US" sz="1000" dirty="0">
                <a:latin typeface="Arial" panose="020B0604020202020204" pitchFamily="34" charset="0"/>
                <a:cs typeface="Arial" panose="020B0604020202020204" pitchFamily="34" charset="0"/>
              </a:rPr>
              <a:t> = </a:t>
            </a:r>
            <a:r>
              <a:rPr lang="en-US" sz="1000" dirty="0" err="1">
                <a:latin typeface="Arial" panose="020B0604020202020204" pitchFamily="34" charset="0"/>
                <a:cs typeface="Arial" panose="020B0604020202020204" pitchFamily="34" charset="0"/>
              </a:rPr>
              <a:t>anillo</a:t>
            </a:r>
            <a:r>
              <a:rPr lang="en-US" sz="1000" dirty="0">
                <a:latin typeface="Arial" panose="020B0604020202020204" pitchFamily="34" charset="0"/>
                <a:cs typeface="Arial" panose="020B0604020202020204" pitchFamily="34" charset="0"/>
              </a:rPr>
              <a:t> &lt;&lt; </a:t>
            </a:r>
            <a:r>
              <a:rPr lang="en-US" sz="1000" dirty="0" err="1">
                <a:latin typeface="Arial" panose="020B0604020202020204" pitchFamily="34" charset="0"/>
                <a:cs typeface="Arial" panose="020B0604020202020204" pitchFamily="34" charset="0"/>
              </a:rPr>
              <a:t>gf.components.ring_single</a:t>
            </a:r>
            <a:r>
              <a:rPr lang="en-US" sz="1000" dirty="0">
                <a:latin typeface="Arial" panose="020B0604020202020204" pitchFamily="34" charset="0"/>
                <a:cs typeface="Arial" panose="020B0604020202020204" pitchFamily="34" charset="0"/>
              </a:rPr>
              <a:t>(</a:t>
            </a:r>
          </a:p>
          <a:p>
            <a:pPr algn="just"/>
            <a:r>
              <a:rPr lang="en-US" sz="1000" dirty="0">
                <a:latin typeface="Arial" panose="020B0604020202020204" pitchFamily="34" charset="0"/>
                <a:cs typeface="Arial" panose="020B0604020202020204" pitchFamily="34" charset="0"/>
              </a:rPr>
              <a:t>        gap=0.2, </a:t>
            </a:r>
          </a:p>
          <a:p>
            <a:pPr algn="just"/>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length_x</a:t>
            </a:r>
            <a:r>
              <a:rPr lang="en-US" sz="1000" dirty="0">
                <a:latin typeface="Arial" panose="020B0604020202020204" pitchFamily="34" charset="0"/>
                <a:cs typeface="Arial" panose="020B0604020202020204" pitchFamily="34" charset="0"/>
              </a:rPr>
              <a:t>=</a:t>
            </a:r>
            <a:r>
              <a:rPr lang="en-US" sz="1000" dirty="0" err="1">
                <a:latin typeface="Arial" panose="020B0604020202020204" pitchFamily="34" charset="0"/>
                <a:cs typeface="Arial" panose="020B0604020202020204" pitchFamily="34" charset="0"/>
              </a:rPr>
              <a:t>longitud_extra</a:t>
            </a:r>
            <a:r>
              <a:rPr lang="en-US" sz="1000" dirty="0">
                <a:latin typeface="Arial" panose="020B0604020202020204" pitchFamily="34" charset="0"/>
                <a:cs typeface="Arial" panose="020B0604020202020204" pitchFamily="34" charset="0"/>
              </a:rPr>
              <a:t>, </a:t>
            </a:r>
          </a:p>
          <a:p>
            <a:pPr algn="just"/>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length_y</a:t>
            </a:r>
            <a:r>
              <a:rPr lang="en-US" sz="1000" dirty="0">
                <a:latin typeface="Arial" panose="020B0604020202020204" pitchFamily="34" charset="0"/>
                <a:cs typeface="Arial" panose="020B0604020202020204" pitchFamily="34" charset="0"/>
              </a:rPr>
              <a:t>=0.6, </a:t>
            </a:r>
          </a:p>
          <a:p>
            <a:pPr algn="just"/>
            <a:r>
              <a:rPr lang="en-US" sz="1000" dirty="0">
                <a:latin typeface="Arial" panose="020B0604020202020204" pitchFamily="34" charset="0"/>
                <a:cs typeface="Arial" panose="020B0604020202020204" pitchFamily="34" charset="0"/>
              </a:rPr>
              <a:t>        bend='</a:t>
            </a:r>
            <a:r>
              <a:rPr lang="en-US" sz="1000" dirty="0" err="1">
                <a:latin typeface="Arial" panose="020B0604020202020204" pitchFamily="34" charset="0"/>
                <a:cs typeface="Arial" panose="020B0604020202020204" pitchFamily="34" charset="0"/>
              </a:rPr>
              <a:t>bend_euler</a:t>
            </a:r>
            <a:r>
              <a:rPr lang="en-US" sz="1000" dirty="0">
                <a:latin typeface="Arial" panose="020B0604020202020204" pitchFamily="34" charset="0"/>
                <a:cs typeface="Arial" panose="020B0604020202020204" pitchFamily="34" charset="0"/>
              </a:rPr>
              <a:t>', </a:t>
            </a:r>
          </a:p>
          <a:p>
            <a:pPr algn="just"/>
            <a:r>
              <a:rPr lang="en-US" sz="1000" dirty="0">
                <a:latin typeface="Arial" panose="020B0604020202020204" pitchFamily="34" charset="0"/>
                <a:cs typeface="Arial" panose="020B0604020202020204" pitchFamily="34" charset="0"/>
              </a:rPr>
              <a:t>        straight='straight', </a:t>
            </a:r>
          </a:p>
          <a:p>
            <a:pPr algn="just"/>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coupler_ring</a:t>
            </a:r>
            <a:r>
              <a:rPr lang="en-US" sz="1000" dirty="0">
                <a:latin typeface="Arial" panose="020B0604020202020204" pitchFamily="34" charset="0"/>
                <a:cs typeface="Arial" panose="020B0604020202020204" pitchFamily="34" charset="0"/>
              </a:rPr>
              <a:t>='</a:t>
            </a:r>
            <a:r>
              <a:rPr lang="en-US" sz="1000" dirty="0" err="1">
                <a:latin typeface="Arial" panose="020B0604020202020204" pitchFamily="34" charset="0"/>
                <a:cs typeface="Arial" panose="020B0604020202020204" pitchFamily="34" charset="0"/>
              </a:rPr>
              <a:t>coupler_ring</a:t>
            </a:r>
            <a:r>
              <a:rPr lang="en-US" sz="1000" dirty="0">
                <a:latin typeface="Arial" panose="020B0604020202020204" pitchFamily="34" charset="0"/>
                <a:cs typeface="Arial" panose="020B0604020202020204" pitchFamily="34" charset="0"/>
              </a:rPr>
              <a:t>', </a:t>
            </a:r>
          </a:p>
          <a:p>
            <a:pPr algn="just"/>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cross_section</a:t>
            </a:r>
            <a:r>
              <a:rPr lang="en-US" sz="1000" dirty="0">
                <a:latin typeface="Arial" panose="020B0604020202020204" pitchFamily="34" charset="0"/>
                <a:cs typeface="Arial" panose="020B0604020202020204" pitchFamily="34" charset="0"/>
              </a:rPr>
              <a:t>='strip'</a:t>
            </a:r>
          </a:p>
          <a:p>
            <a:pPr algn="just"/>
            <a:r>
              <a:rPr lang="en-US" sz="1000" dirty="0">
                <a:latin typeface="Arial" panose="020B0604020202020204" pitchFamily="34" charset="0"/>
                <a:cs typeface="Arial" panose="020B0604020202020204" pitchFamily="34" charset="0"/>
              </a:rPr>
              <a:t>    )</a:t>
            </a:r>
          </a:p>
          <a:p>
            <a:pPr algn="just"/>
            <a:r>
              <a:rPr lang="en-US" sz="1000" dirty="0">
                <a:latin typeface="Arial" panose="020B0604020202020204" pitchFamily="34" charset="0"/>
                <a:cs typeface="Arial" panose="020B0604020202020204" pitchFamily="34" charset="0"/>
              </a:rPr>
              <a:t>    </a:t>
            </a:r>
          </a:p>
          <a:p>
            <a:pPr algn="just"/>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anillo.add_ports</a:t>
            </a:r>
            <a:r>
              <a:rPr lang="en-US" sz="1000" dirty="0">
                <a:latin typeface="Arial" panose="020B0604020202020204" pitchFamily="34" charset="0"/>
                <a:cs typeface="Arial" panose="020B0604020202020204" pitchFamily="34" charset="0"/>
              </a:rPr>
              <a:t>(</a:t>
            </a:r>
            <a:r>
              <a:rPr lang="en-US" sz="1000" dirty="0" err="1">
                <a:latin typeface="Arial" panose="020B0604020202020204" pitchFamily="34" charset="0"/>
                <a:cs typeface="Arial" panose="020B0604020202020204" pitchFamily="34" charset="0"/>
              </a:rPr>
              <a:t>ref_anillo.ports</a:t>
            </a:r>
            <a:r>
              <a:rPr lang="en-US" sz="1000" dirty="0">
                <a:latin typeface="Arial" panose="020B0604020202020204" pitchFamily="34" charset="0"/>
                <a:cs typeface="Arial" panose="020B0604020202020204" pitchFamily="34" charset="0"/>
              </a:rPr>
              <a:t>)</a:t>
            </a:r>
          </a:p>
          <a:p>
            <a:pPr algn="just"/>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anillo.draw_ports</a:t>
            </a:r>
            <a:r>
              <a:rPr lang="en-US" sz="1000" dirty="0">
                <a:latin typeface="Arial" panose="020B0604020202020204" pitchFamily="34" charset="0"/>
                <a:cs typeface="Arial" panose="020B0604020202020204" pitchFamily="34" charset="0"/>
              </a:rPr>
              <a:t>()</a:t>
            </a:r>
          </a:p>
          <a:p>
            <a:pPr algn="just"/>
            <a:r>
              <a:rPr lang="en-US" sz="1000" dirty="0">
                <a:latin typeface="Arial" panose="020B0604020202020204" pitchFamily="34" charset="0"/>
                <a:cs typeface="Arial" panose="020B0604020202020204" pitchFamily="34" charset="0"/>
              </a:rPr>
              <a:t>    return </a:t>
            </a:r>
            <a:r>
              <a:rPr lang="en-US" sz="1000" dirty="0" err="1">
                <a:latin typeface="Arial" panose="020B0604020202020204" pitchFamily="34" charset="0"/>
                <a:cs typeface="Arial" panose="020B0604020202020204" pitchFamily="34" charset="0"/>
              </a:rPr>
              <a:t>anillo</a:t>
            </a:r>
            <a:endParaRPr lang="en-US" sz="1000" dirty="0">
              <a:latin typeface="Arial" panose="020B0604020202020204" pitchFamily="34" charset="0"/>
              <a:cs typeface="Arial" panose="020B0604020202020204" pitchFamily="34" charset="0"/>
            </a:endParaRPr>
          </a:p>
          <a:p>
            <a:pPr algn="just"/>
            <a:endParaRPr lang="en-US" sz="1000" dirty="0">
              <a:latin typeface="Arial" panose="020B0604020202020204" pitchFamily="34" charset="0"/>
              <a:cs typeface="Arial" panose="020B0604020202020204" pitchFamily="34" charset="0"/>
            </a:endParaRPr>
          </a:p>
          <a:p>
            <a:pPr algn="just"/>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Visualización</a:t>
            </a:r>
            <a:endParaRPr lang="en-US" sz="1000" dirty="0">
              <a:latin typeface="Arial" panose="020B0604020202020204" pitchFamily="34" charset="0"/>
              <a:cs typeface="Arial" panose="020B0604020202020204" pitchFamily="34" charset="0"/>
            </a:endParaRPr>
          </a:p>
          <a:p>
            <a:pPr algn="just"/>
            <a:r>
              <a:rPr lang="en-US" sz="1000" dirty="0" err="1">
                <a:latin typeface="Arial" panose="020B0604020202020204" pitchFamily="34" charset="0"/>
                <a:cs typeface="Arial" panose="020B0604020202020204" pitchFamily="34" charset="0"/>
              </a:rPr>
              <a:t>anillo_final</a:t>
            </a:r>
            <a:r>
              <a:rPr lang="en-US" sz="1000" dirty="0">
                <a:latin typeface="Arial" panose="020B0604020202020204" pitchFamily="34" charset="0"/>
                <a:cs typeface="Arial" panose="020B0604020202020204" pitchFamily="34" charset="0"/>
              </a:rPr>
              <a:t> = </a:t>
            </a:r>
            <a:r>
              <a:rPr lang="en-US" sz="1000" dirty="0" err="1">
                <a:latin typeface="Arial" panose="020B0604020202020204" pitchFamily="34" charset="0"/>
                <a:cs typeface="Arial" panose="020B0604020202020204" pitchFamily="34" charset="0"/>
              </a:rPr>
              <a:t>mi_anillo_all_pass</a:t>
            </a:r>
            <a:r>
              <a:rPr lang="en-US" sz="1000" dirty="0">
                <a:latin typeface="Arial" panose="020B0604020202020204" pitchFamily="34" charset="0"/>
                <a:cs typeface="Arial" panose="020B0604020202020204" pitchFamily="34" charset="0"/>
              </a:rPr>
              <a:t>(</a:t>
            </a:r>
            <a:r>
              <a:rPr lang="en-US" sz="1000" dirty="0" err="1">
                <a:latin typeface="Arial" panose="020B0604020202020204" pitchFamily="34" charset="0"/>
                <a:cs typeface="Arial" panose="020B0604020202020204" pitchFamily="34" charset="0"/>
              </a:rPr>
              <a:t>longitud_extra</a:t>
            </a:r>
            <a:r>
              <a:rPr lang="en-US" sz="1000" dirty="0">
                <a:latin typeface="Arial" panose="020B0604020202020204" pitchFamily="34" charset="0"/>
                <a:cs typeface="Arial" panose="020B0604020202020204" pitchFamily="34" charset="0"/>
              </a:rPr>
              <a:t>=50.0)</a:t>
            </a:r>
          </a:p>
          <a:p>
            <a:pPr algn="just"/>
            <a:r>
              <a:rPr lang="en-US" sz="1000" dirty="0" err="1">
                <a:latin typeface="Arial" panose="020B0604020202020204" pitchFamily="34" charset="0"/>
                <a:cs typeface="Arial" panose="020B0604020202020204" pitchFamily="34" charset="0"/>
              </a:rPr>
              <a:t>anillo_final.plot</a:t>
            </a:r>
            <a:r>
              <a:rPr lang="en-US" sz="1000" dirty="0">
                <a:latin typeface="Arial" panose="020B0604020202020204" pitchFamily="34" charset="0"/>
                <a:cs typeface="Arial" panose="020B0604020202020204" pitchFamily="34" charset="0"/>
              </a:rPr>
              <a:t>()</a:t>
            </a:r>
          </a:p>
          <a:p>
            <a:pPr algn="just"/>
            <a:r>
              <a:rPr lang="en-US" sz="1000" dirty="0" err="1">
                <a:latin typeface="Arial" panose="020B0604020202020204" pitchFamily="34" charset="0"/>
                <a:cs typeface="Arial" panose="020B0604020202020204" pitchFamily="34" charset="0"/>
              </a:rPr>
              <a:t>anillo_final.show</a:t>
            </a:r>
            <a:r>
              <a:rPr lang="en-US" sz="1000" dirty="0">
                <a:latin typeface="Arial" panose="020B0604020202020204" pitchFamily="34" charset="0"/>
                <a:cs typeface="Arial" panose="020B0604020202020204" pitchFamily="34" charset="0"/>
              </a:rPr>
              <a:t>()</a:t>
            </a:r>
          </a:p>
        </p:txBody>
      </p:sp>
      <p:sp>
        <p:nvSpPr>
          <p:cNvPr id="8" name="Rectángulo 7">
            <a:extLst>
              <a:ext uri="{FF2B5EF4-FFF2-40B4-BE49-F238E27FC236}">
                <a16:creationId xmlns:a16="http://schemas.microsoft.com/office/drawing/2014/main" id="{CFF9A586-D296-00D8-8A6B-55EC8703E5FE}"/>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1CFEABC4-52AF-6DDB-609B-00D5ADEBE5AD}"/>
              </a:ext>
            </a:extLst>
          </p:cNvPr>
          <p:cNvPicPr>
            <a:picLocks noChangeAspect="1"/>
          </p:cNvPicPr>
          <p:nvPr/>
        </p:nvPicPr>
        <p:blipFill>
          <a:blip r:embed="rId4"/>
          <a:stretch>
            <a:fillRect/>
          </a:stretch>
        </p:blipFill>
        <p:spPr>
          <a:xfrm>
            <a:off x="6284757" y="1386914"/>
            <a:ext cx="5410201" cy="4084171"/>
          </a:xfrm>
          <a:prstGeom prst="rect">
            <a:avLst/>
          </a:prstGeom>
        </p:spPr>
      </p:pic>
    </p:spTree>
    <p:extLst>
      <p:ext uri="{BB962C8B-B14F-4D97-AF65-F5344CB8AC3E}">
        <p14:creationId xmlns:p14="http://schemas.microsoft.com/office/powerpoint/2010/main" val="7826198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7E077-8CC5-BCD6-03AA-90635D67576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B3E1143C-7F55-FE7C-A1EB-81A35CB36363}"/>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#4 – Notebook section 4. Exercises – Part a) R.R thermal tuner</a:t>
            </a:r>
            <a:endParaRPr sz="2500" b="0" i="1" dirty="0">
              <a:latin typeface="+mj-lt"/>
              <a:cs typeface="Lucida Sans"/>
            </a:endParaRPr>
          </a:p>
        </p:txBody>
      </p:sp>
      <p:pic>
        <p:nvPicPr>
          <p:cNvPr id="83" name="Gráfico 82">
            <a:extLst>
              <a:ext uri="{FF2B5EF4-FFF2-40B4-BE49-F238E27FC236}">
                <a16:creationId xmlns:a16="http://schemas.microsoft.com/office/drawing/2014/main" id="{3118B730-5755-6184-C66D-46974C793E7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388FEE7C-886E-2941-F8D1-DE1091F52BB1}"/>
              </a:ext>
            </a:extLst>
          </p:cNvPr>
          <p:cNvSpPr>
            <a:spLocks noGrp="1"/>
          </p:cNvSpPr>
          <p:nvPr>
            <p:ph type="sldNum" sz="quarter" idx="7"/>
          </p:nvPr>
        </p:nvSpPr>
        <p:spPr/>
        <p:txBody>
          <a:bodyPr/>
          <a:lstStyle/>
          <a:p>
            <a:fld id="{B6F15528-21DE-4FAA-801E-634DDDAF4B2B}" type="slidenum">
              <a:rPr lang="es-ES" smtClean="0"/>
              <a:t>18</a:t>
            </a:fld>
            <a:endParaRPr lang="es-ES"/>
          </a:p>
        </p:txBody>
      </p:sp>
      <p:sp>
        <p:nvSpPr>
          <p:cNvPr id="3" name="Marcador de pie de página 2">
            <a:extLst>
              <a:ext uri="{FF2B5EF4-FFF2-40B4-BE49-F238E27FC236}">
                <a16:creationId xmlns:a16="http://schemas.microsoft.com/office/drawing/2014/main" id="{E5DEA810-AD35-A111-67C3-591798A892AC}"/>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A6CD6FF9-DF16-2282-E933-935F1BD311CF}"/>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n-US" sz="1200" b="1" dirty="0">
                <a:latin typeface="Arial" panose="020B0604020202020204" pitchFamily="34" charset="0"/>
                <a:cs typeface="Arial" panose="020B0604020202020204" pitchFamily="34" charset="0"/>
              </a:rPr>
              <a:t>Task: </a:t>
            </a:r>
            <a:r>
              <a:rPr lang="en-US" sz="1200" dirty="0">
                <a:latin typeface="Arial" panose="020B0604020202020204" pitchFamily="34" charset="0"/>
                <a:cs typeface="Arial" panose="020B0604020202020204" pitchFamily="34" charset="0"/>
              </a:rPr>
              <a:t>Create a cell component based on the previous, where the ring has a thermal tuner on top along all the perimeter</a:t>
            </a:r>
          </a:p>
          <a:p>
            <a:pPr algn="just"/>
            <a:endParaRPr lang="en-US" sz="1100" dirty="0">
              <a:latin typeface="Arial" panose="020B0604020202020204" pitchFamily="34" charset="0"/>
              <a:cs typeface="Arial" panose="020B0604020202020204" pitchFamily="34" charset="0"/>
            </a:endParaRPr>
          </a:p>
          <a:p>
            <a:pPr algn="just"/>
            <a:r>
              <a:rPr lang="en-US" sz="1000" dirty="0">
                <a:latin typeface="Arial" panose="020B0604020202020204" pitchFamily="34" charset="0"/>
                <a:cs typeface="Arial" panose="020B0604020202020204" pitchFamily="34" charset="0"/>
              </a:rPr>
              <a:t>import </a:t>
            </a:r>
            <a:r>
              <a:rPr lang="en-US" sz="1000" dirty="0" err="1">
                <a:latin typeface="Arial" panose="020B0604020202020204" pitchFamily="34" charset="0"/>
                <a:cs typeface="Arial" panose="020B0604020202020204" pitchFamily="34" charset="0"/>
              </a:rPr>
              <a:t>gdsfactory</a:t>
            </a:r>
            <a:r>
              <a:rPr lang="en-US" sz="1000" dirty="0">
                <a:latin typeface="Arial" panose="020B0604020202020204" pitchFamily="34" charset="0"/>
                <a:cs typeface="Arial" panose="020B0604020202020204" pitchFamily="34" charset="0"/>
              </a:rPr>
              <a:t> as gf</a:t>
            </a:r>
          </a:p>
          <a:p>
            <a:pPr algn="just"/>
            <a:r>
              <a:rPr lang="en-US" sz="1000" dirty="0" err="1">
                <a:latin typeface="Arial" panose="020B0604020202020204" pitchFamily="34" charset="0"/>
                <a:cs typeface="Arial" panose="020B0604020202020204" pitchFamily="34" charset="0"/>
              </a:rPr>
              <a:t>gf.clear_cache</a:t>
            </a:r>
            <a:r>
              <a:rPr lang="en-US" sz="1000" dirty="0">
                <a:latin typeface="Arial" panose="020B0604020202020204" pitchFamily="34" charset="0"/>
                <a:cs typeface="Arial" panose="020B0604020202020204" pitchFamily="34" charset="0"/>
              </a:rPr>
              <a:t>()</a:t>
            </a:r>
          </a:p>
          <a:p>
            <a:pPr algn="just"/>
            <a:r>
              <a:rPr lang="en-US" sz="1000" dirty="0">
                <a:latin typeface="Arial" panose="020B0604020202020204" pitchFamily="34" charset="0"/>
                <a:cs typeface="Arial" panose="020B0604020202020204" pitchFamily="34" charset="0"/>
              </a:rPr>
              <a:t>@gf.cell</a:t>
            </a:r>
          </a:p>
          <a:p>
            <a:pPr algn="just"/>
            <a:r>
              <a:rPr lang="en-US" sz="1000" dirty="0">
                <a:latin typeface="Arial" panose="020B0604020202020204" pitchFamily="34" charset="0"/>
                <a:cs typeface="Arial" panose="020B0604020202020204" pitchFamily="34" charset="0"/>
              </a:rPr>
              <a:t>def </a:t>
            </a:r>
            <a:r>
              <a:rPr lang="en-US" sz="1000" dirty="0" err="1">
                <a:latin typeface="Arial" panose="020B0604020202020204" pitchFamily="34" charset="0"/>
                <a:cs typeface="Arial" panose="020B0604020202020204" pitchFamily="34" charset="0"/>
              </a:rPr>
              <a:t>mi_anillo_con_calentador</a:t>
            </a:r>
            <a:r>
              <a:rPr lang="en-US" sz="1000" dirty="0">
                <a:latin typeface="Arial" panose="020B0604020202020204" pitchFamily="34" charset="0"/>
                <a:cs typeface="Arial" panose="020B0604020202020204" pitchFamily="34" charset="0"/>
              </a:rPr>
              <a:t>(</a:t>
            </a:r>
            <a:r>
              <a:rPr lang="en-US" sz="1000" dirty="0" err="1">
                <a:latin typeface="Arial" panose="020B0604020202020204" pitchFamily="34" charset="0"/>
                <a:cs typeface="Arial" panose="020B0604020202020204" pitchFamily="34" charset="0"/>
              </a:rPr>
              <a:t>longitud_extra</a:t>
            </a:r>
            <a:r>
              <a:rPr lang="en-US" sz="1000" dirty="0">
                <a:latin typeface="Arial" panose="020B0604020202020204" pitchFamily="34" charset="0"/>
                <a:cs typeface="Arial" panose="020B0604020202020204" pitchFamily="34" charset="0"/>
              </a:rPr>
              <a:t>: float = 4.0) -&gt; </a:t>
            </a:r>
            <a:r>
              <a:rPr lang="en-US" sz="1000" dirty="0" err="1">
                <a:latin typeface="Arial" panose="020B0604020202020204" pitchFamily="34" charset="0"/>
                <a:cs typeface="Arial" panose="020B0604020202020204" pitchFamily="34" charset="0"/>
              </a:rPr>
              <a:t>gf.Component</a:t>
            </a:r>
            <a:r>
              <a:rPr lang="en-US" sz="1000" dirty="0">
                <a:latin typeface="Arial" panose="020B0604020202020204" pitchFamily="34" charset="0"/>
                <a:cs typeface="Arial" panose="020B0604020202020204" pitchFamily="34" charset="0"/>
              </a:rPr>
              <a:t>:</a:t>
            </a:r>
          </a:p>
          <a:p>
            <a:pPr algn="just"/>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gf.gpdk.PDK.activate</a:t>
            </a:r>
            <a:r>
              <a:rPr lang="en-US" sz="1000" dirty="0">
                <a:latin typeface="Arial" panose="020B0604020202020204" pitchFamily="34" charset="0"/>
                <a:cs typeface="Arial" panose="020B0604020202020204" pitchFamily="34" charset="0"/>
              </a:rPr>
              <a:t>()</a:t>
            </a:r>
          </a:p>
          <a:p>
            <a:pPr algn="just"/>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anillo_t</a:t>
            </a:r>
            <a:r>
              <a:rPr lang="en-US" sz="1000" dirty="0">
                <a:latin typeface="Arial" panose="020B0604020202020204" pitchFamily="34" charset="0"/>
                <a:cs typeface="Arial" panose="020B0604020202020204" pitchFamily="34" charset="0"/>
              </a:rPr>
              <a:t> = </a:t>
            </a:r>
            <a:r>
              <a:rPr lang="en-US" sz="1000" dirty="0" err="1">
                <a:latin typeface="Arial" panose="020B0604020202020204" pitchFamily="34" charset="0"/>
                <a:cs typeface="Arial" panose="020B0604020202020204" pitchFamily="34" charset="0"/>
              </a:rPr>
              <a:t>gf.Component</a:t>
            </a:r>
            <a:r>
              <a:rPr lang="en-US" sz="1000" dirty="0">
                <a:latin typeface="Arial" panose="020B0604020202020204" pitchFamily="34" charset="0"/>
                <a:cs typeface="Arial" panose="020B0604020202020204" pitchFamily="34" charset="0"/>
              </a:rPr>
              <a:t>()</a:t>
            </a:r>
          </a:p>
          <a:p>
            <a:pPr algn="just"/>
            <a:r>
              <a:rPr lang="en-US" sz="1000" dirty="0">
                <a:latin typeface="Arial" panose="020B0604020202020204" pitchFamily="34" charset="0"/>
                <a:cs typeface="Arial" panose="020B0604020202020204" pitchFamily="34" charset="0"/>
              </a:rPr>
              <a:t>    # </a:t>
            </a:r>
            <a:r>
              <a:rPr lang="en-US" sz="1000" dirty="0" err="1">
                <a:latin typeface="Arial" panose="020B0604020202020204" pitchFamily="34" charset="0"/>
                <a:cs typeface="Arial" panose="020B0604020202020204" pitchFamily="34" charset="0"/>
              </a:rPr>
              <a:t>Usamos</a:t>
            </a:r>
            <a:r>
              <a:rPr lang="en-US" sz="1000" dirty="0">
                <a:latin typeface="Arial" panose="020B0604020202020204" pitchFamily="34" charset="0"/>
                <a:cs typeface="Arial" panose="020B0604020202020204" pitchFamily="34" charset="0"/>
              </a:rPr>
              <a:t> la </a:t>
            </a:r>
            <a:r>
              <a:rPr lang="en-US" sz="1000" dirty="0" err="1">
                <a:latin typeface="Arial" panose="020B0604020202020204" pitchFamily="34" charset="0"/>
                <a:cs typeface="Arial" panose="020B0604020202020204" pitchFamily="34" charset="0"/>
              </a:rPr>
              <a:t>función</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nativa</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pero</a:t>
            </a:r>
            <a:r>
              <a:rPr lang="en-US" sz="1000" dirty="0">
                <a:latin typeface="Arial" panose="020B0604020202020204" pitchFamily="34" charset="0"/>
                <a:cs typeface="Arial" panose="020B0604020202020204" pitchFamily="34" charset="0"/>
              </a:rPr>
              <a:t> con </a:t>
            </a:r>
            <a:r>
              <a:rPr lang="en-US" sz="1000" dirty="0" err="1">
                <a:latin typeface="Arial" panose="020B0604020202020204" pitchFamily="34" charset="0"/>
                <a:cs typeface="Arial" panose="020B0604020202020204" pitchFamily="34" charset="0"/>
              </a:rPr>
              <a:t>nuestra</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estructura</a:t>
            </a:r>
            <a:endParaRPr lang="en-US" sz="1000" dirty="0">
              <a:latin typeface="Arial" panose="020B0604020202020204" pitchFamily="34" charset="0"/>
              <a:cs typeface="Arial" panose="020B0604020202020204" pitchFamily="34" charset="0"/>
            </a:endParaRPr>
          </a:p>
          <a:p>
            <a:pPr algn="just"/>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ref_heater</a:t>
            </a:r>
            <a:r>
              <a:rPr lang="en-US" sz="1000" dirty="0">
                <a:latin typeface="Arial" panose="020B0604020202020204" pitchFamily="34" charset="0"/>
                <a:cs typeface="Arial" panose="020B0604020202020204" pitchFamily="34" charset="0"/>
              </a:rPr>
              <a:t> = </a:t>
            </a:r>
            <a:r>
              <a:rPr lang="en-US" sz="1000" dirty="0" err="1">
                <a:latin typeface="Arial" panose="020B0604020202020204" pitchFamily="34" charset="0"/>
                <a:cs typeface="Arial" panose="020B0604020202020204" pitchFamily="34" charset="0"/>
              </a:rPr>
              <a:t>anillo_t</a:t>
            </a:r>
            <a:r>
              <a:rPr lang="en-US" sz="1000" dirty="0">
                <a:latin typeface="Arial" panose="020B0604020202020204" pitchFamily="34" charset="0"/>
                <a:cs typeface="Arial" panose="020B0604020202020204" pitchFamily="34" charset="0"/>
              </a:rPr>
              <a:t> &lt;&lt; </a:t>
            </a:r>
            <a:r>
              <a:rPr lang="en-US" sz="1000" dirty="0" err="1">
                <a:latin typeface="Arial" panose="020B0604020202020204" pitchFamily="34" charset="0"/>
                <a:cs typeface="Arial" panose="020B0604020202020204" pitchFamily="34" charset="0"/>
              </a:rPr>
              <a:t>gf.components.ring_single_heater</a:t>
            </a:r>
            <a:r>
              <a:rPr lang="en-US" sz="1000" dirty="0">
                <a:latin typeface="Arial" panose="020B0604020202020204" pitchFamily="34" charset="0"/>
                <a:cs typeface="Arial" panose="020B0604020202020204" pitchFamily="34" charset="0"/>
              </a:rPr>
              <a:t>(</a:t>
            </a:r>
          </a:p>
          <a:p>
            <a:pPr algn="just"/>
            <a:r>
              <a:rPr lang="en-US" sz="1000" dirty="0">
                <a:latin typeface="Arial" panose="020B0604020202020204" pitchFamily="34" charset="0"/>
                <a:cs typeface="Arial" panose="020B0604020202020204" pitchFamily="34" charset="0"/>
              </a:rPr>
              <a:t>        gap=0.2, </a:t>
            </a:r>
          </a:p>
          <a:p>
            <a:pPr algn="just"/>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length_x</a:t>
            </a:r>
            <a:r>
              <a:rPr lang="en-US" sz="1000" dirty="0">
                <a:latin typeface="Arial" panose="020B0604020202020204" pitchFamily="34" charset="0"/>
                <a:cs typeface="Arial" panose="020B0604020202020204" pitchFamily="34" charset="0"/>
              </a:rPr>
              <a:t>=</a:t>
            </a:r>
            <a:r>
              <a:rPr lang="en-US" sz="1000" dirty="0" err="1">
                <a:latin typeface="Arial" panose="020B0604020202020204" pitchFamily="34" charset="0"/>
                <a:cs typeface="Arial" panose="020B0604020202020204" pitchFamily="34" charset="0"/>
              </a:rPr>
              <a:t>longitud_extra</a:t>
            </a:r>
            <a:r>
              <a:rPr lang="en-US" sz="1000" dirty="0">
                <a:latin typeface="Arial" panose="020B0604020202020204" pitchFamily="34" charset="0"/>
                <a:cs typeface="Arial" panose="020B0604020202020204" pitchFamily="34" charset="0"/>
              </a:rPr>
              <a:t>, </a:t>
            </a:r>
          </a:p>
          <a:p>
            <a:pPr algn="just"/>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length_y</a:t>
            </a:r>
            <a:r>
              <a:rPr lang="en-US" sz="1000" dirty="0">
                <a:latin typeface="Arial" panose="020B0604020202020204" pitchFamily="34" charset="0"/>
                <a:cs typeface="Arial" panose="020B0604020202020204" pitchFamily="34" charset="0"/>
              </a:rPr>
              <a:t>=0.01, </a:t>
            </a:r>
          </a:p>
          <a:p>
            <a:pPr algn="just"/>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coupler_ring</a:t>
            </a:r>
            <a:r>
              <a:rPr lang="en-US" sz="1000" dirty="0">
                <a:latin typeface="Arial" panose="020B0604020202020204" pitchFamily="34" charset="0"/>
                <a:cs typeface="Arial" panose="020B0604020202020204" pitchFamily="34" charset="0"/>
              </a:rPr>
              <a:t>='</a:t>
            </a:r>
            <a:r>
              <a:rPr lang="en-US" sz="1000" dirty="0" err="1">
                <a:latin typeface="Arial" panose="020B0604020202020204" pitchFamily="34" charset="0"/>
                <a:cs typeface="Arial" panose="020B0604020202020204" pitchFamily="34" charset="0"/>
              </a:rPr>
              <a:t>coupler_ring</a:t>
            </a:r>
            <a:r>
              <a:rPr lang="en-US" sz="1000" dirty="0">
                <a:latin typeface="Arial" panose="020B0604020202020204" pitchFamily="34" charset="0"/>
                <a:cs typeface="Arial" panose="020B0604020202020204" pitchFamily="34" charset="0"/>
              </a:rPr>
              <a:t>', </a:t>
            </a:r>
          </a:p>
          <a:p>
            <a:pPr algn="just"/>
            <a:r>
              <a:rPr lang="en-US" sz="1000" dirty="0">
                <a:latin typeface="Arial" panose="020B0604020202020204" pitchFamily="34" charset="0"/>
                <a:cs typeface="Arial" panose="020B0604020202020204" pitchFamily="34" charset="0"/>
              </a:rPr>
              <a:t>        straight='straight', </a:t>
            </a:r>
          </a:p>
          <a:p>
            <a:pPr algn="just"/>
            <a:r>
              <a:rPr lang="en-US" sz="1000" dirty="0">
                <a:latin typeface="Arial" panose="020B0604020202020204" pitchFamily="34" charset="0"/>
                <a:cs typeface="Arial" panose="020B0604020202020204" pitchFamily="34" charset="0"/>
              </a:rPr>
              <a:t>        bend='</a:t>
            </a:r>
            <a:r>
              <a:rPr lang="en-US" sz="1000" dirty="0" err="1">
                <a:latin typeface="Arial" panose="020B0604020202020204" pitchFamily="34" charset="0"/>
                <a:cs typeface="Arial" panose="020B0604020202020204" pitchFamily="34" charset="0"/>
              </a:rPr>
              <a:t>bend_euler</a:t>
            </a:r>
            <a:r>
              <a:rPr lang="en-US" sz="1000" dirty="0">
                <a:latin typeface="Arial" panose="020B0604020202020204" pitchFamily="34" charset="0"/>
                <a:cs typeface="Arial" panose="020B0604020202020204" pitchFamily="34" charset="0"/>
              </a:rPr>
              <a:t>', </a:t>
            </a:r>
          </a:p>
          <a:p>
            <a:pPr algn="just"/>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cross_section_heater</a:t>
            </a:r>
            <a:r>
              <a:rPr lang="en-US" sz="1000" dirty="0">
                <a:latin typeface="Arial" panose="020B0604020202020204" pitchFamily="34" charset="0"/>
                <a:cs typeface="Arial" panose="020B0604020202020204" pitchFamily="34" charset="0"/>
              </a:rPr>
              <a:t>='</a:t>
            </a:r>
            <a:r>
              <a:rPr lang="en-US" sz="1000" dirty="0" err="1">
                <a:latin typeface="Arial" panose="020B0604020202020204" pitchFamily="34" charset="0"/>
                <a:cs typeface="Arial" panose="020B0604020202020204" pitchFamily="34" charset="0"/>
              </a:rPr>
              <a:t>heater_metal</a:t>
            </a:r>
            <a:r>
              <a:rPr lang="en-US" sz="1000" dirty="0">
                <a:latin typeface="Arial" panose="020B0604020202020204" pitchFamily="34" charset="0"/>
                <a:cs typeface="Arial" panose="020B0604020202020204" pitchFamily="34" charset="0"/>
              </a:rPr>
              <a:t>', </a:t>
            </a:r>
          </a:p>
          <a:p>
            <a:pPr algn="just"/>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cross_section_waveguide_heater</a:t>
            </a:r>
            <a:r>
              <a:rPr lang="en-US" sz="1000" dirty="0">
                <a:latin typeface="Arial" panose="020B0604020202020204" pitchFamily="34" charset="0"/>
                <a:cs typeface="Arial" panose="020B0604020202020204" pitchFamily="34" charset="0"/>
              </a:rPr>
              <a:t>='</a:t>
            </a:r>
            <a:r>
              <a:rPr lang="en-US" sz="1000" dirty="0" err="1">
                <a:latin typeface="Arial" panose="020B0604020202020204" pitchFamily="34" charset="0"/>
                <a:cs typeface="Arial" panose="020B0604020202020204" pitchFamily="34" charset="0"/>
              </a:rPr>
              <a:t>strip_heater_metal</a:t>
            </a:r>
            <a:r>
              <a:rPr lang="en-US" sz="1000" dirty="0">
                <a:latin typeface="Arial" panose="020B0604020202020204" pitchFamily="34" charset="0"/>
                <a:cs typeface="Arial" panose="020B0604020202020204" pitchFamily="34" charset="0"/>
              </a:rPr>
              <a:t>', </a:t>
            </a:r>
          </a:p>
          <a:p>
            <a:pPr algn="just"/>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cross_section</a:t>
            </a:r>
            <a:r>
              <a:rPr lang="en-US" sz="1000" dirty="0">
                <a:latin typeface="Arial" panose="020B0604020202020204" pitchFamily="34" charset="0"/>
                <a:cs typeface="Arial" panose="020B0604020202020204" pitchFamily="34" charset="0"/>
              </a:rPr>
              <a:t>='strip', </a:t>
            </a:r>
          </a:p>
          <a:p>
            <a:pPr algn="just"/>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via_stack</a:t>
            </a:r>
            <a:r>
              <a:rPr lang="en-US" sz="1000" dirty="0">
                <a:latin typeface="Arial" panose="020B0604020202020204" pitchFamily="34" charset="0"/>
                <a:cs typeface="Arial" panose="020B0604020202020204" pitchFamily="34" charset="0"/>
              </a:rPr>
              <a:t>='</a:t>
            </a:r>
            <a:r>
              <a:rPr lang="en-US" sz="1000" dirty="0" err="1">
                <a:latin typeface="Arial" panose="020B0604020202020204" pitchFamily="34" charset="0"/>
                <a:cs typeface="Arial" panose="020B0604020202020204" pitchFamily="34" charset="0"/>
              </a:rPr>
              <a:t>via_stack_heater_mtop_mini</a:t>
            </a:r>
            <a:r>
              <a:rPr lang="en-US" sz="1000" dirty="0">
                <a:latin typeface="Arial" panose="020B0604020202020204" pitchFamily="34" charset="0"/>
                <a:cs typeface="Arial" panose="020B0604020202020204" pitchFamily="34" charset="0"/>
              </a:rPr>
              <a:t>', </a:t>
            </a:r>
          </a:p>
          <a:p>
            <a:pPr algn="just"/>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via_stack_offset</a:t>
            </a:r>
            <a:r>
              <a:rPr lang="en-US" sz="1000" dirty="0">
                <a:latin typeface="Arial" panose="020B0604020202020204" pitchFamily="34" charset="0"/>
                <a:cs typeface="Arial" panose="020B0604020202020204" pitchFamily="34" charset="0"/>
              </a:rPr>
              <a:t>=(1, 0), </a:t>
            </a:r>
          </a:p>
          <a:p>
            <a:pPr algn="just"/>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with_drop</a:t>
            </a:r>
            <a:r>
              <a:rPr lang="en-US" sz="1000" dirty="0">
                <a:latin typeface="Arial" panose="020B0604020202020204" pitchFamily="34" charset="0"/>
                <a:cs typeface="Arial" panose="020B0604020202020204" pitchFamily="34" charset="0"/>
              </a:rPr>
              <a:t>=False</a:t>
            </a:r>
          </a:p>
          <a:p>
            <a:pPr algn="just"/>
            <a:r>
              <a:rPr lang="en-US" sz="1000" dirty="0">
                <a:latin typeface="Arial" panose="020B0604020202020204" pitchFamily="34" charset="0"/>
                <a:cs typeface="Arial" panose="020B0604020202020204" pitchFamily="34" charset="0"/>
              </a:rPr>
              <a:t>    )</a:t>
            </a:r>
          </a:p>
          <a:p>
            <a:pPr algn="just"/>
            <a:endParaRPr lang="en-US" sz="1000" dirty="0">
              <a:latin typeface="Arial" panose="020B0604020202020204" pitchFamily="34" charset="0"/>
              <a:cs typeface="Arial" panose="020B0604020202020204" pitchFamily="34" charset="0"/>
            </a:endParaRPr>
          </a:p>
          <a:p>
            <a:pPr algn="just"/>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anillo_t.add_ports</a:t>
            </a:r>
            <a:r>
              <a:rPr lang="en-US" sz="1000" dirty="0">
                <a:latin typeface="Arial" panose="020B0604020202020204" pitchFamily="34" charset="0"/>
                <a:cs typeface="Arial" panose="020B0604020202020204" pitchFamily="34" charset="0"/>
              </a:rPr>
              <a:t>(</a:t>
            </a:r>
            <a:r>
              <a:rPr lang="en-US" sz="1000" dirty="0" err="1">
                <a:latin typeface="Arial" panose="020B0604020202020204" pitchFamily="34" charset="0"/>
                <a:cs typeface="Arial" panose="020B0604020202020204" pitchFamily="34" charset="0"/>
              </a:rPr>
              <a:t>ref_heater.ports</a:t>
            </a:r>
            <a:r>
              <a:rPr lang="en-US" sz="1000" dirty="0">
                <a:latin typeface="Arial" panose="020B0604020202020204" pitchFamily="34" charset="0"/>
                <a:cs typeface="Arial" panose="020B0604020202020204" pitchFamily="34" charset="0"/>
              </a:rPr>
              <a:t>)</a:t>
            </a:r>
          </a:p>
          <a:p>
            <a:pPr algn="just"/>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anillo_t.draw_ports</a:t>
            </a:r>
            <a:r>
              <a:rPr lang="en-US" sz="1000" dirty="0">
                <a:latin typeface="Arial" panose="020B0604020202020204" pitchFamily="34" charset="0"/>
                <a:cs typeface="Arial" panose="020B0604020202020204" pitchFamily="34" charset="0"/>
              </a:rPr>
              <a:t>()</a:t>
            </a:r>
          </a:p>
          <a:p>
            <a:pPr algn="just"/>
            <a:r>
              <a:rPr lang="en-US" sz="1000" dirty="0">
                <a:latin typeface="Arial" panose="020B0604020202020204" pitchFamily="34" charset="0"/>
                <a:cs typeface="Arial" panose="020B0604020202020204" pitchFamily="34" charset="0"/>
              </a:rPr>
              <a:t>    return </a:t>
            </a:r>
            <a:r>
              <a:rPr lang="en-US" sz="1000" dirty="0" err="1">
                <a:latin typeface="Arial" panose="020B0604020202020204" pitchFamily="34" charset="0"/>
                <a:cs typeface="Arial" panose="020B0604020202020204" pitchFamily="34" charset="0"/>
              </a:rPr>
              <a:t>anillo_t</a:t>
            </a:r>
            <a:endParaRPr lang="en-US" sz="1000" dirty="0">
              <a:latin typeface="Arial" panose="020B0604020202020204" pitchFamily="34" charset="0"/>
              <a:cs typeface="Arial" panose="020B0604020202020204" pitchFamily="34" charset="0"/>
            </a:endParaRPr>
          </a:p>
          <a:p>
            <a:pPr algn="just"/>
            <a:endParaRPr lang="en-US" sz="1000" dirty="0">
              <a:latin typeface="Arial" panose="020B0604020202020204" pitchFamily="34" charset="0"/>
              <a:cs typeface="Arial" panose="020B0604020202020204" pitchFamily="34" charset="0"/>
            </a:endParaRPr>
          </a:p>
          <a:p>
            <a:pPr algn="just"/>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Visualización</a:t>
            </a:r>
            <a:endParaRPr lang="en-US" sz="1000" dirty="0">
              <a:latin typeface="Arial" panose="020B0604020202020204" pitchFamily="34" charset="0"/>
              <a:cs typeface="Arial" panose="020B0604020202020204" pitchFamily="34" charset="0"/>
            </a:endParaRPr>
          </a:p>
          <a:p>
            <a:pPr algn="just"/>
            <a:r>
              <a:rPr lang="en-US" sz="1000" dirty="0" err="1">
                <a:latin typeface="Arial" panose="020B0604020202020204" pitchFamily="34" charset="0"/>
                <a:cs typeface="Arial" panose="020B0604020202020204" pitchFamily="34" charset="0"/>
              </a:rPr>
              <a:t>anillo_heater_final</a:t>
            </a:r>
            <a:r>
              <a:rPr lang="en-US" sz="1000" dirty="0">
                <a:latin typeface="Arial" panose="020B0604020202020204" pitchFamily="34" charset="0"/>
                <a:cs typeface="Arial" panose="020B0604020202020204" pitchFamily="34" charset="0"/>
              </a:rPr>
              <a:t> = </a:t>
            </a:r>
            <a:r>
              <a:rPr lang="en-US" sz="1000" dirty="0" err="1">
                <a:latin typeface="Arial" panose="020B0604020202020204" pitchFamily="34" charset="0"/>
                <a:cs typeface="Arial" panose="020B0604020202020204" pitchFamily="34" charset="0"/>
              </a:rPr>
              <a:t>mi_anillo_con_calentador</a:t>
            </a:r>
            <a:r>
              <a:rPr lang="en-US" sz="1000" dirty="0">
                <a:latin typeface="Arial" panose="020B0604020202020204" pitchFamily="34" charset="0"/>
                <a:cs typeface="Arial" panose="020B0604020202020204" pitchFamily="34" charset="0"/>
              </a:rPr>
              <a:t>(</a:t>
            </a:r>
            <a:r>
              <a:rPr lang="en-US" sz="1000" dirty="0" err="1">
                <a:latin typeface="Arial" panose="020B0604020202020204" pitchFamily="34" charset="0"/>
                <a:cs typeface="Arial" panose="020B0604020202020204" pitchFamily="34" charset="0"/>
              </a:rPr>
              <a:t>longitud_extra</a:t>
            </a:r>
            <a:r>
              <a:rPr lang="en-US" sz="1000" dirty="0">
                <a:latin typeface="Arial" panose="020B0604020202020204" pitchFamily="34" charset="0"/>
                <a:cs typeface="Arial" panose="020B0604020202020204" pitchFamily="34" charset="0"/>
              </a:rPr>
              <a:t>=100.0)</a:t>
            </a:r>
          </a:p>
          <a:p>
            <a:pPr algn="just"/>
            <a:r>
              <a:rPr lang="en-US" sz="1000" dirty="0" err="1">
                <a:latin typeface="Arial" panose="020B0604020202020204" pitchFamily="34" charset="0"/>
                <a:cs typeface="Arial" panose="020B0604020202020204" pitchFamily="34" charset="0"/>
              </a:rPr>
              <a:t>anillo_heater_final.plot</a:t>
            </a:r>
            <a:r>
              <a:rPr lang="en-US" sz="1000" dirty="0">
                <a:latin typeface="Arial" panose="020B0604020202020204" pitchFamily="34" charset="0"/>
                <a:cs typeface="Arial" panose="020B0604020202020204" pitchFamily="34" charset="0"/>
              </a:rPr>
              <a:t>()</a:t>
            </a:r>
          </a:p>
          <a:p>
            <a:pPr algn="just"/>
            <a:r>
              <a:rPr lang="en-US" sz="1000" dirty="0" err="1">
                <a:latin typeface="Arial" panose="020B0604020202020204" pitchFamily="34" charset="0"/>
                <a:cs typeface="Arial" panose="020B0604020202020204" pitchFamily="34" charset="0"/>
              </a:rPr>
              <a:t>anillo_heater_final.show</a:t>
            </a:r>
            <a:r>
              <a:rPr lang="en-US" sz="1000" dirty="0">
                <a:latin typeface="Arial" panose="020B0604020202020204" pitchFamily="34" charset="0"/>
                <a:cs typeface="Arial" panose="020B0604020202020204" pitchFamily="34" charset="0"/>
              </a:rPr>
              <a:t>()</a:t>
            </a:r>
          </a:p>
        </p:txBody>
      </p:sp>
      <p:sp>
        <p:nvSpPr>
          <p:cNvPr id="8" name="Rectángulo 7">
            <a:extLst>
              <a:ext uri="{FF2B5EF4-FFF2-40B4-BE49-F238E27FC236}">
                <a16:creationId xmlns:a16="http://schemas.microsoft.com/office/drawing/2014/main" id="{8C21F67A-80F7-B9D4-B567-7C60E1034965}"/>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Imagen 6">
            <a:extLst>
              <a:ext uri="{FF2B5EF4-FFF2-40B4-BE49-F238E27FC236}">
                <a16:creationId xmlns:a16="http://schemas.microsoft.com/office/drawing/2014/main" id="{BBDB76A9-BB4E-72B6-73AC-6C184191E1D2}"/>
              </a:ext>
            </a:extLst>
          </p:cNvPr>
          <p:cNvPicPr>
            <a:picLocks noChangeAspect="1"/>
          </p:cNvPicPr>
          <p:nvPr/>
        </p:nvPicPr>
        <p:blipFill>
          <a:blip r:embed="rId4"/>
          <a:stretch>
            <a:fillRect/>
          </a:stretch>
        </p:blipFill>
        <p:spPr>
          <a:xfrm>
            <a:off x="6421692" y="1583534"/>
            <a:ext cx="5292213" cy="3995102"/>
          </a:xfrm>
          <a:prstGeom prst="rect">
            <a:avLst/>
          </a:prstGeom>
        </p:spPr>
      </p:pic>
    </p:spTree>
    <p:extLst>
      <p:ext uri="{BB962C8B-B14F-4D97-AF65-F5344CB8AC3E}">
        <p14:creationId xmlns:p14="http://schemas.microsoft.com/office/powerpoint/2010/main" val="30845035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8F4CA-4482-ACA6-EF89-A426ACFC2B7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A3503571-B2BA-37F5-DA49-BC03B027133F}"/>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#4 – Notebook section 4. Exercises – Part a) SPIRAL</a:t>
            </a:r>
            <a:endParaRPr sz="2500" b="0" i="1" dirty="0">
              <a:latin typeface="+mj-lt"/>
              <a:cs typeface="Lucida Sans"/>
            </a:endParaRPr>
          </a:p>
        </p:txBody>
      </p:sp>
      <p:pic>
        <p:nvPicPr>
          <p:cNvPr id="83" name="Gráfico 82">
            <a:extLst>
              <a:ext uri="{FF2B5EF4-FFF2-40B4-BE49-F238E27FC236}">
                <a16:creationId xmlns:a16="http://schemas.microsoft.com/office/drawing/2014/main" id="{E80B63E2-1651-4326-66ED-760664A5D95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35D12316-BE3D-11A0-77C0-CBF8B45F4CA5}"/>
              </a:ext>
            </a:extLst>
          </p:cNvPr>
          <p:cNvSpPr>
            <a:spLocks noGrp="1"/>
          </p:cNvSpPr>
          <p:nvPr>
            <p:ph type="sldNum" sz="quarter" idx="7"/>
          </p:nvPr>
        </p:nvSpPr>
        <p:spPr/>
        <p:txBody>
          <a:bodyPr/>
          <a:lstStyle/>
          <a:p>
            <a:fld id="{B6F15528-21DE-4FAA-801E-634DDDAF4B2B}" type="slidenum">
              <a:rPr lang="es-ES" smtClean="0"/>
              <a:t>19</a:t>
            </a:fld>
            <a:endParaRPr lang="es-ES"/>
          </a:p>
        </p:txBody>
      </p:sp>
      <p:sp>
        <p:nvSpPr>
          <p:cNvPr id="3" name="Marcador de pie de página 2">
            <a:extLst>
              <a:ext uri="{FF2B5EF4-FFF2-40B4-BE49-F238E27FC236}">
                <a16:creationId xmlns:a16="http://schemas.microsoft.com/office/drawing/2014/main" id="{384C00D6-45F2-565B-E146-ABA340DD0982}"/>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A1F81FB4-C363-6AD1-08D4-A8CA72FB84AD}"/>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n-US" sz="1200" b="1" dirty="0">
                <a:latin typeface="Arial" panose="020B0604020202020204" pitchFamily="34" charset="0"/>
                <a:cs typeface="Arial" panose="020B0604020202020204" pitchFamily="34" charset="0"/>
              </a:rPr>
              <a:t>Task: </a:t>
            </a:r>
            <a:r>
              <a:rPr lang="en-US" sz="1200" dirty="0">
                <a:latin typeface="Arial" panose="020B0604020202020204" pitchFamily="34" charset="0"/>
                <a:cs typeface="Arial" panose="020B0604020202020204" pitchFamily="34" charset="0"/>
              </a:rPr>
              <a:t>Create a cell component based on existing </a:t>
            </a:r>
            <a:r>
              <a:rPr lang="en-US" sz="1200" dirty="0" err="1">
                <a:latin typeface="Arial" panose="020B0604020202020204" pitchFamily="34" charset="0"/>
                <a:cs typeface="Arial" panose="020B0604020202020204" pitchFamily="34" charset="0"/>
              </a:rPr>
              <a:t>GDSfactory</a:t>
            </a:r>
            <a:r>
              <a:rPr lang="en-US" sz="1200" dirty="0">
                <a:latin typeface="Arial" panose="020B0604020202020204" pitchFamily="34" charset="0"/>
                <a:cs typeface="Arial" panose="020B0604020202020204" pitchFamily="34" charset="0"/>
              </a:rPr>
              <a:t> spiral components, with length as parameter</a:t>
            </a:r>
          </a:p>
          <a:p>
            <a:pPr algn="just"/>
            <a:endParaRPr lang="en-US" sz="1200" dirty="0">
              <a:latin typeface="Arial" panose="020B0604020202020204" pitchFamily="34" charset="0"/>
              <a:cs typeface="Arial" panose="020B0604020202020204" pitchFamily="34" charset="0"/>
            </a:endParaRPr>
          </a:p>
          <a:p>
            <a:pPr algn="just"/>
            <a:r>
              <a:rPr lang="en-US" sz="1100" dirty="0">
                <a:latin typeface="Arial" panose="020B0604020202020204" pitchFamily="34" charset="0"/>
                <a:cs typeface="Arial" panose="020B0604020202020204" pitchFamily="34" charset="0"/>
              </a:rPr>
              <a:t>import </a:t>
            </a:r>
            <a:r>
              <a:rPr lang="en-US" sz="1100" dirty="0" err="1">
                <a:latin typeface="Arial" panose="020B0604020202020204" pitchFamily="34" charset="0"/>
                <a:cs typeface="Arial" panose="020B0604020202020204" pitchFamily="34" charset="0"/>
              </a:rPr>
              <a:t>gdsfactory</a:t>
            </a:r>
            <a:r>
              <a:rPr lang="en-US" sz="1100" dirty="0">
                <a:latin typeface="Arial" panose="020B0604020202020204" pitchFamily="34" charset="0"/>
                <a:cs typeface="Arial" panose="020B0604020202020204" pitchFamily="34" charset="0"/>
              </a:rPr>
              <a:t> as gf</a:t>
            </a:r>
          </a:p>
          <a:p>
            <a:pPr algn="just"/>
            <a:endParaRPr lang="en-US" sz="1100" dirty="0">
              <a:latin typeface="Arial" panose="020B0604020202020204" pitchFamily="34" charset="0"/>
              <a:cs typeface="Arial" panose="020B0604020202020204" pitchFamily="34" charset="0"/>
            </a:endParaRPr>
          </a:p>
          <a:p>
            <a:pPr algn="just"/>
            <a:r>
              <a:rPr lang="en-US" sz="1100" dirty="0">
                <a:latin typeface="Arial" panose="020B0604020202020204" pitchFamily="34" charset="0"/>
                <a:cs typeface="Arial" panose="020B0604020202020204" pitchFamily="34" charset="0"/>
              </a:rPr>
              <a:t>@gf.cell</a:t>
            </a:r>
          </a:p>
          <a:p>
            <a:pPr algn="just"/>
            <a:r>
              <a:rPr lang="en-US" sz="1100" dirty="0">
                <a:latin typeface="Arial" panose="020B0604020202020204" pitchFamily="34" charset="0"/>
                <a:cs typeface="Arial" panose="020B0604020202020204" pitchFamily="34" charset="0"/>
              </a:rPr>
              <a:t>def </a:t>
            </a:r>
            <a:r>
              <a:rPr lang="en-US" sz="1100" dirty="0" err="1">
                <a:latin typeface="Arial" panose="020B0604020202020204" pitchFamily="34" charset="0"/>
                <a:cs typeface="Arial" panose="020B0604020202020204" pitchFamily="34" charset="0"/>
              </a:rPr>
              <a:t>mi_espiral_personalizada</a:t>
            </a:r>
            <a:r>
              <a:rPr lang="en-US" sz="1100" dirty="0">
                <a:latin typeface="Arial" panose="020B0604020202020204" pitchFamily="34" charset="0"/>
                <a:cs typeface="Arial" panose="020B0604020202020204" pitchFamily="34" charset="0"/>
              </a:rPr>
              <a:t>(length: float = 1200.0) -&gt; </a:t>
            </a:r>
            <a:r>
              <a:rPr lang="en-US" sz="1100" dirty="0" err="1">
                <a:latin typeface="Arial" panose="020B0604020202020204" pitchFamily="34" charset="0"/>
                <a:cs typeface="Arial" panose="020B0604020202020204" pitchFamily="34" charset="0"/>
              </a:rPr>
              <a:t>gf.Component</a:t>
            </a:r>
            <a:r>
              <a:rPr lang="en-US" sz="1100" dirty="0">
                <a:latin typeface="Arial" panose="020B0604020202020204" pitchFamily="34" charset="0"/>
                <a:cs typeface="Arial" panose="020B0604020202020204" pitchFamily="34" charset="0"/>
              </a:rPr>
              <a:t>:</a:t>
            </a:r>
          </a:p>
          <a:p>
            <a:pPr algn="just"/>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gf.gpdk.PDK.activate</a:t>
            </a:r>
            <a:r>
              <a:rPr lang="en-US" sz="1100" dirty="0">
                <a:latin typeface="Arial" panose="020B0604020202020204" pitchFamily="34" charset="0"/>
                <a:cs typeface="Arial" panose="020B0604020202020204" pitchFamily="34" charset="0"/>
              </a:rPr>
              <a:t>()</a:t>
            </a:r>
          </a:p>
          <a:p>
            <a:pPr algn="just"/>
            <a:endParaRPr lang="en-US" sz="1100" dirty="0">
              <a:latin typeface="Arial" panose="020B0604020202020204" pitchFamily="34" charset="0"/>
              <a:cs typeface="Arial" panose="020B0604020202020204" pitchFamily="34" charset="0"/>
            </a:endParaRPr>
          </a:p>
          <a:p>
            <a:pPr algn="just"/>
            <a:r>
              <a:rPr lang="en-US" sz="1100" dirty="0">
                <a:latin typeface="Arial" panose="020B0604020202020204" pitchFamily="34" charset="0"/>
                <a:cs typeface="Arial" panose="020B0604020202020204" pitchFamily="34" charset="0"/>
              </a:rPr>
              <a:t>    </a:t>
            </a:r>
          </a:p>
          <a:p>
            <a:pPr algn="just"/>
            <a:r>
              <a:rPr lang="en-US" sz="1100" dirty="0">
                <a:latin typeface="Arial" panose="020B0604020202020204" pitchFamily="34" charset="0"/>
                <a:cs typeface="Arial" panose="020B0604020202020204" pitchFamily="34" charset="0"/>
              </a:rPr>
              <a:t>    c = </a:t>
            </a:r>
            <a:r>
              <a:rPr lang="en-US" sz="1100" dirty="0" err="1">
                <a:latin typeface="Arial" panose="020B0604020202020204" pitchFamily="34" charset="0"/>
                <a:cs typeface="Arial" panose="020B0604020202020204" pitchFamily="34" charset="0"/>
              </a:rPr>
              <a:t>gf.components.spiral_racetrack_fixed_length</a:t>
            </a:r>
            <a:r>
              <a:rPr lang="en-US" sz="1100" dirty="0">
                <a:latin typeface="Arial" panose="020B0604020202020204" pitchFamily="34" charset="0"/>
                <a:cs typeface="Arial" panose="020B0604020202020204" pitchFamily="34" charset="0"/>
              </a:rPr>
              <a:t>(</a:t>
            </a:r>
          </a:p>
          <a:p>
            <a:pPr algn="just"/>
            <a:r>
              <a:rPr lang="en-US" sz="1100" dirty="0">
                <a:latin typeface="Arial" panose="020B0604020202020204" pitchFamily="34" charset="0"/>
                <a:cs typeface="Arial" panose="020B0604020202020204" pitchFamily="34" charset="0"/>
              </a:rPr>
              <a:t>        length=length, </a:t>
            </a:r>
          </a:p>
          <a:p>
            <a:pPr algn="just"/>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in_out_port_spacing</a:t>
            </a:r>
            <a:r>
              <a:rPr lang="en-US" sz="1100" dirty="0">
                <a:latin typeface="Arial" panose="020B0604020202020204" pitchFamily="34" charset="0"/>
                <a:cs typeface="Arial" panose="020B0604020202020204" pitchFamily="34" charset="0"/>
              </a:rPr>
              <a:t>=120.0,</a:t>
            </a:r>
          </a:p>
          <a:p>
            <a:pPr algn="just"/>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n_straight_sections</a:t>
            </a:r>
            <a:r>
              <a:rPr lang="en-US" sz="1100" dirty="0">
                <a:latin typeface="Arial" panose="020B0604020202020204" pitchFamily="34" charset="0"/>
                <a:cs typeface="Arial" panose="020B0604020202020204" pitchFamily="34" charset="0"/>
              </a:rPr>
              <a:t>=8, </a:t>
            </a:r>
          </a:p>
          <a:p>
            <a:pPr algn="just"/>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min_spacing</a:t>
            </a:r>
            <a:r>
              <a:rPr lang="en-US" sz="1100" dirty="0">
                <a:latin typeface="Arial" panose="020B0604020202020204" pitchFamily="34" charset="0"/>
                <a:cs typeface="Arial" panose="020B0604020202020204" pitchFamily="34" charset="0"/>
              </a:rPr>
              <a:t>=4.0, bend='</a:t>
            </a:r>
            <a:r>
              <a:rPr lang="en-US" sz="1100" dirty="0" err="1">
                <a:latin typeface="Arial" panose="020B0604020202020204" pitchFamily="34" charset="0"/>
                <a:cs typeface="Arial" panose="020B0604020202020204" pitchFamily="34" charset="0"/>
              </a:rPr>
              <a:t>bend_circular</a:t>
            </a:r>
            <a:r>
              <a:rPr lang="en-US" sz="1100" dirty="0">
                <a:latin typeface="Arial" panose="020B0604020202020204" pitchFamily="34" charset="0"/>
                <a:cs typeface="Arial" panose="020B0604020202020204" pitchFamily="34" charset="0"/>
              </a:rPr>
              <a:t>', </a:t>
            </a:r>
          </a:p>
          <a:p>
            <a:pPr algn="just"/>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bend_s</a:t>
            </a:r>
            <a:r>
              <a:rPr lang="en-US" sz="1100" dirty="0">
                <a:latin typeface="Arial" panose="020B0604020202020204" pitchFamily="34" charset="0"/>
                <a:cs typeface="Arial" panose="020B0604020202020204" pitchFamily="34" charset="0"/>
              </a:rPr>
              <a:t>='</a:t>
            </a:r>
            <a:r>
              <a:rPr lang="en-US" sz="1100" dirty="0" err="1">
                <a:latin typeface="Arial" panose="020B0604020202020204" pitchFamily="34" charset="0"/>
                <a:cs typeface="Arial" panose="020B0604020202020204" pitchFamily="34" charset="0"/>
              </a:rPr>
              <a:t>bend_s</a:t>
            </a:r>
            <a:r>
              <a:rPr lang="en-US" sz="1100" dirty="0">
                <a:latin typeface="Arial" panose="020B0604020202020204" pitchFamily="34" charset="0"/>
                <a:cs typeface="Arial" panose="020B0604020202020204" pitchFamily="34" charset="0"/>
              </a:rPr>
              <a:t>', </a:t>
            </a:r>
          </a:p>
          <a:p>
            <a:pPr algn="just"/>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cross_section</a:t>
            </a:r>
            <a:r>
              <a:rPr lang="en-US" sz="1100" dirty="0">
                <a:latin typeface="Arial" panose="020B0604020202020204" pitchFamily="34" charset="0"/>
                <a:cs typeface="Arial" panose="020B0604020202020204" pitchFamily="34" charset="0"/>
              </a:rPr>
              <a:t>='strip'</a:t>
            </a:r>
          </a:p>
          <a:p>
            <a:pPr algn="just"/>
            <a:r>
              <a:rPr lang="en-US" sz="1100" dirty="0">
                <a:latin typeface="Arial" panose="020B0604020202020204" pitchFamily="34" charset="0"/>
                <a:cs typeface="Arial" panose="020B0604020202020204" pitchFamily="34" charset="0"/>
              </a:rPr>
              <a:t>    ).copy()</a:t>
            </a:r>
          </a:p>
          <a:p>
            <a:pPr algn="just"/>
            <a:r>
              <a:rPr lang="en-US" sz="1100" dirty="0">
                <a:latin typeface="Arial" panose="020B0604020202020204" pitchFamily="34" charset="0"/>
                <a:cs typeface="Arial" panose="020B0604020202020204" pitchFamily="34" charset="0"/>
              </a:rPr>
              <a:t>    </a:t>
            </a:r>
          </a:p>
          <a:p>
            <a:pPr algn="just"/>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c.draw_ports</a:t>
            </a:r>
            <a:r>
              <a:rPr lang="en-US" sz="1100" dirty="0">
                <a:latin typeface="Arial" panose="020B0604020202020204" pitchFamily="34" charset="0"/>
                <a:cs typeface="Arial" panose="020B0604020202020204" pitchFamily="34" charset="0"/>
              </a:rPr>
              <a:t>()</a:t>
            </a:r>
          </a:p>
          <a:p>
            <a:pPr algn="just"/>
            <a:r>
              <a:rPr lang="en-US" sz="1100" dirty="0">
                <a:latin typeface="Arial" panose="020B0604020202020204" pitchFamily="34" charset="0"/>
                <a:cs typeface="Arial" panose="020B0604020202020204" pitchFamily="34" charset="0"/>
              </a:rPr>
              <a:t>    return c</a:t>
            </a:r>
          </a:p>
          <a:p>
            <a:pPr algn="just"/>
            <a:endParaRPr lang="en-US" sz="1100" dirty="0">
              <a:latin typeface="Arial" panose="020B0604020202020204" pitchFamily="34" charset="0"/>
              <a:cs typeface="Arial" panose="020B0604020202020204" pitchFamily="34" charset="0"/>
            </a:endParaRPr>
          </a:p>
          <a:p>
            <a:pPr algn="just"/>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Visualización</a:t>
            </a:r>
            <a:endParaRPr lang="en-US" sz="1100" dirty="0">
              <a:latin typeface="Arial" panose="020B0604020202020204" pitchFamily="34" charset="0"/>
              <a:cs typeface="Arial" panose="020B0604020202020204" pitchFamily="34" charset="0"/>
            </a:endParaRPr>
          </a:p>
          <a:p>
            <a:pPr algn="just"/>
            <a:r>
              <a:rPr lang="en-US" sz="1100" dirty="0" err="1">
                <a:latin typeface="Arial" panose="020B0604020202020204" pitchFamily="34" charset="0"/>
                <a:cs typeface="Arial" panose="020B0604020202020204" pitchFamily="34" charset="0"/>
              </a:rPr>
              <a:t>espiral_final</a:t>
            </a:r>
            <a:r>
              <a:rPr lang="en-US" sz="1100" dirty="0">
                <a:latin typeface="Arial" panose="020B0604020202020204" pitchFamily="34" charset="0"/>
                <a:cs typeface="Arial" panose="020B0604020202020204" pitchFamily="34" charset="0"/>
              </a:rPr>
              <a:t> = </a:t>
            </a:r>
            <a:r>
              <a:rPr lang="en-US" sz="1100" dirty="0" err="1">
                <a:latin typeface="Arial" panose="020B0604020202020204" pitchFamily="34" charset="0"/>
                <a:cs typeface="Arial" panose="020B0604020202020204" pitchFamily="34" charset="0"/>
              </a:rPr>
              <a:t>mi_espiral_personalizada</a:t>
            </a:r>
            <a:r>
              <a:rPr lang="en-US" sz="1100" dirty="0">
                <a:latin typeface="Arial" panose="020B0604020202020204" pitchFamily="34" charset="0"/>
                <a:cs typeface="Arial" panose="020B0604020202020204" pitchFamily="34" charset="0"/>
              </a:rPr>
              <a:t>(length=1200.0)</a:t>
            </a:r>
          </a:p>
          <a:p>
            <a:pPr algn="just"/>
            <a:r>
              <a:rPr lang="en-US" sz="1100" dirty="0" err="1">
                <a:latin typeface="Arial" panose="020B0604020202020204" pitchFamily="34" charset="0"/>
                <a:cs typeface="Arial" panose="020B0604020202020204" pitchFamily="34" charset="0"/>
              </a:rPr>
              <a:t>espiral_final.plot</a:t>
            </a:r>
            <a:r>
              <a:rPr lang="en-US" sz="1100" dirty="0">
                <a:latin typeface="Arial" panose="020B0604020202020204" pitchFamily="34" charset="0"/>
                <a:cs typeface="Arial" panose="020B0604020202020204" pitchFamily="34" charset="0"/>
              </a:rPr>
              <a:t>()</a:t>
            </a:r>
          </a:p>
          <a:p>
            <a:pPr algn="just"/>
            <a:r>
              <a:rPr lang="en-US" sz="1100" dirty="0" err="1">
                <a:latin typeface="Arial" panose="020B0604020202020204" pitchFamily="34" charset="0"/>
                <a:cs typeface="Arial" panose="020B0604020202020204" pitchFamily="34" charset="0"/>
              </a:rPr>
              <a:t>espiral_final.show</a:t>
            </a:r>
            <a:r>
              <a:rPr lang="en-US" sz="1100" dirty="0">
                <a:latin typeface="Arial" panose="020B0604020202020204" pitchFamily="34" charset="0"/>
                <a:cs typeface="Arial" panose="020B0604020202020204" pitchFamily="34" charset="0"/>
              </a:rPr>
              <a:t>()</a:t>
            </a:r>
          </a:p>
        </p:txBody>
      </p:sp>
      <p:sp>
        <p:nvSpPr>
          <p:cNvPr id="8" name="Rectángulo 7">
            <a:extLst>
              <a:ext uri="{FF2B5EF4-FFF2-40B4-BE49-F238E27FC236}">
                <a16:creationId xmlns:a16="http://schemas.microsoft.com/office/drawing/2014/main" id="{65F822D3-A428-9A0E-ABFC-DFB9EEF9A848}"/>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66E2A8F6-BA4C-81A3-E62C-7BA82E3B1FE4}"/>
              </a:ext>
            </a:extLst>
          </p:cNvPr>
          <p:cNvPicPr>
            <a:picLocks noChangeAspect="1"/>
          </p:cNvPicPr>
          <p:nvPr/>
        </p:nvPicPr>
        <p:blipFill>
          <a:blip r:embed="rId4"/>
          <a:stretch>
            <a:fillRect/>
          </a:stretch>
        </p:blipFill>
        <p:spPr>
          <a:xfrm>
            <a:off x="6525649" y="1483406"/>
            <a:ext cx="5154561" cy="3891188"/>
          </a:xfrm>
          <a:prstGeom prst="rect">
            <a:avLst/>
          </a:prstGeom>
        </p:spPr>
      </p:pic>
    </p:spTree>
    <p:extLst>
      <p:ext uri="{BB962C8B-B14F-4D97-AF65-F5344CB8AC3E}">
        <p14:creationId xmlns:p14="http://schemas.microsoft.com/office/powerpoint/2010/main" val="33903983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28A92-E255-0C08-26CE-F03D9DC533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86F0C5-8FA9-7340-9D41-FF140EA64BE4}"/>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#4 – Notebook section 4. Exercises – Part b) </a:t>
            </a:r>
            <a:endParaRPr sz="2500" b="0" i="1" dirty="0">
              <a:latin typeface="+mj-lt"/>
              <a:cs typeface="Lucida Sans"/>
            </a:endParaRPr>
          </a:p>
        </p:txBody>
      </p:sp>
      <p:pic>
        <p:nvPicPr>
          <p:cNvPr id="83" name="Gráfico 82">
            <a:extLst>
              <a:ext uri="{FF2B5EF4-FFF2-40B4-BE49-F238E27FC236}">
                <a16:creationId xmlns:a16="http://schemas.microsoft.com/office/drawing/2014/main" id="{4E4889B8-8B63-61CD-C334-428970576AE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5C224294-688E-D27E-1284-BD9192976970}"/>
              </a:ext>
            </a:extLst>
          </p:cNvPr>
          <p:cNvSpPr>
            <a:spLocks noGrp="1"/>
          </p:cNvSpPr>
          <p:nvPr>
            <p:ph type="sldNum" sz="quarter" idx="7"/>
          </p:nvPr>
        </p:nvSpPr>
        <p:spPr/>
        <p:txBody>
          <a:bodyPr/>
          <a:lstStyle/>
          <a:p>
            <a:fld id="{B6F15528-21DE-4FAA-801E-634DDDAF4B2B}" type="slidenum">
              <a:rPr lang="es-ES" smtClean="0"/>
              <a:t>20</a:t>
            </a:fld>
            <a:endParaRPr lang="es-ES"/>
          </a:p>
        </p:txBody>
      </p:sp>
      <p:sp>
        <p:nvSpPr>
          <p:cNvPr id="3" name="Marcador de pie de página 2">
            <a:extLst>
              <a:ext uri="{FF2B5EF4-FFF2-40B4-BE49-F238E27FC236}">
                <a16:creationId xmlns:a16="http://schemas.microsoft.com/office/drawing/2014/main" id="{B7F7248C-F88B-F867-CC7B-29ABA74F3E04}"/>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042AAAB6-3CF7-36C3-5998-F3E3ADB6AB48}"/>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n-US" sz="900" dirty="0">
                <a:latin typeface="Arial" panose="020B0604020202020204" pitchFamily="34" charset="0"/>
                <a:cs typeface="Arial" panose="020B0604020202020204" pitchFamily="34" charset="0"/>
              </a:rPr>
              <a:t>import </a:t>
            </a:r>
            <a:r>
              <a:rPr lang="en-US" sz="900" dirty="0" err="1">
                <a:latin typeface="Arial" panose="020B0604020202020204" pitchFamily="34" charset="0"/>
                <a:cs typeface="Arial" panose="020B0604020202020204" pitchFamily="34" charset="0"/>
              </a:rPr>
              <a:t>gdsfactory</a:t>
            </a:r>
            <a:r>
              <a:rPr lang="en-US" sz="900" dirty="0">
                <a:latin typeface="Arial" panose="020B0604020202020204" pitchFamily="34" charset="0"/>
                <a:cs typeface="Arial" panose="020B0604020202020204" pitchFamily="34" charset="0"/>
              </a:rPr>
              <a:t> as gf</a:t>
            </a:r>
          </a:p>
          <a:p>
            <a:pPr algn="just"/>
            <a:endParaRPr lang="en-US" sz="900" dirty="0">
              <a:latin typeface="Arial" panose="020B0604020202020204" pitchFamily="34" charset="0"/>
              <a:cs typeface="Arial" panose="020B0604020202020204" pitchFamily="34" charset="0"/>
            </a:endParaRPr>
          </a:p>
          <a:p>
            <a:pPr algn="just"/>
            <a:r>
              <a:rPr lang="en-US" sz="900" dirty="0" err="1">
                <a:latin typeface="Arial" panose="020B0604020202020204" pitchFamily="34" charset="0"/>
                <a:cs typeface="Arial" panose="020B0604020202020204" pitchFamily="34" charset="0"/>
              </a:rPr>
              <a:t>gf.clear_cache</a:t>
            </a:r>
            <a:r>
              <a:rPr lang="en-US" sz="900" dirty="0">
                <a:latin typeface="Arial" panose="020B0604020202020204" pitchFamily="34" charset="0"/>
                <a:cs typeface="Arial" panose="020B0604020202020204" pitchFamily="34" charset="0"/>
              </a:rPr>
              <a:t>()</a:t>
            </a:r>
          </a:p>
          <a:p>
            <a:pPr algn="just"/>
            <a:endParaRPr lang="en-US" sz="900" dirty="0">
              <a:latin typeface="Arial" panose="020B0604020202020204" pitchFamily="34" charset="0"/>
              <a:cs typeface="Arial" panose="020B0604020202020204" pitchFamily="34" charset="0"/>
            </a:endParaRPr>
          </a:p>
          <a:p>
            <a:pPr algn="just"/>
            <a:r>
              <a:rPr lang="en-US" sz="900" dirty="0">
                <a:latin typeface="Arial" panose="020B0604020202020204" pitchFamily="34" charset="0"/>
                <a:cs typeface="Arial" panose="020B0604020202020204" pitchFamily="34" charset="0"/>
              </a:rPr>
              <a:t>@gf.cell</a:t>
            </a:r>
          </a:p>
          <a:p>
            <a:pPr algn="just"/>
            <a:r>
              <a:rPr lang="en-US" sz="900" dirty="0">
                <a:latin typeface="Arial" panose="020B0604020202020204" pitchFamily="34" charset="0"/>
                <a:cs typeface="Arial" panose="020B0604020202020204" pitchFamily="34" charset="0"/>
              </a:rPr>
              <a:t>def </a:t>
            </a:r>
            <a:r>
              <a:rPr lang="en-US" sz="900" dirty="0" err="1">
                <a:latin typeface="Arial" panose="020B0604020202020204" pitchFamily="34" charset="0"/>
                <a:cs typeface="Arial" panose="020B0604020202020204" pitchFamily="34" charset="0"/>
              </a:rPr>
              <a:t>troquel_con_marco</a:t>
            </a:r>
            <a:r>
              <a:rPr lang="en-US" sz="900" dirty="0">
                <a:latin typeface="Arial" panose="020B0604020202020204" pitchFamily="34" charset="0"/>
                <a:cs typeface="Arial" panose="020B0604020202020204" pitchFamily="34" charset="0"/>
              </a:rPr>
              <a:t>(ancho: float = 5000.0, alto: float = 10000.0, </a:t>
            </a:r>
            <a:r>
              <a:rPr lang="en-US" sz="900" dirty="0" err="1">
                <a:latin typeface="Arial" panose="020B0604020202020204" pitchFamily="34" charset="0"/>
                <a:cs typeface="Arial" panose="020B0604020202020204" pitchFamily="34" charset="0"/>
              </a:rPr>
              <a:t>margen</a:t>
            </a:r>
            <a:r>
              <a:rPr lang="en-US" sz="900" dirty="0">
                <a:latin typeface="Arial" panose="020B0604020202020204" pitchFamily="34" charset="0"/>
                <a:cs typeface="Arial" panose="020B0604020202020204" pitchFamily="34" charset="0"/>
              </a:rPr>
              <a:t>: float = 125.0) -&gt; </a:t>
            </a:r>
            <a:r>
              <a:rPr lang="en-US" sz="900" dirty="0" err="1">
                <a:latin typeface="Arial" panose="020B0604020202020204" pitchFamily="34" charset="0"/>
                <a:cs typeface="Arial" panose="020B0604020202020204" pitchFamily="34" charset="0"/>
              </a:rPr>
              <a:t>gf.Component</a:t>
            </a:r>
            <a:r>
              <a:rPr lang="en-US" sz="900" dirty="0">
                <a:latin typeface="Arial" panose="020B0604020202020204" pitchFamily="34" charset="0"/>
                <a:cs typeface="Arial" panose="020B0604020202020204" pitchFamily="34" charset="0"/>
              </a:rPr>
              <a:t>:</a:t>
            </a:r>
          </a:p>
          <a:p>
            <a:pPr algn="just"/>
            <a:r>
              <a:rPr lang="en-US" sz="900" dirty="0">
                <a:latin typeface="Arial" panose="020B0604020202020204" pitchFamily="34" charset="0"/>
                <a:cs typeface="Arial" panose="020B0604020202020204" pitchFamily="34" charset="0"/>
              </a:rPr>
              <a:t>    # </a:t>
            </a:r>
            <a:r>
              <a:rPr lang="en-US" sz="900" dirty="0" err="1">
                <a:latin typeface="Arial" panose="020B0604020202020204" pitchFamily="34" charset="0"/>
                <a:cs typeface="Arial" panose="020B0604020202020204" pitchFamily="34" charset="0"/>
              </a:rPr>
              <a:t>Creamos</a:t>
            </a:r>
            <a:r>
              <a:rPr lang="en-US" sz="900" dirty="0">
                <a:latin typeface="Arial" panose="020B0604020202020204" pitchFamily="34" charset="0"/>
                <a:cs typeface="Arial" panose="020B0604020202020204" pitchFamily="34" charset="0"/>
              </a:rPr>
              <a:t> un </a:t>
            </a:r>
            <a:r>
              <a:rPr lang="en-US" sz="900" dirty="0" err="1">
                <a:latin typeface="Arial" panose="020B0604020202020204" pitchFamily="34" charset="0"/>
                <a:cs typeface="Arial" panose="020B0604020202020204" pitchFamily="34" charset="0"/>
              </a:rPr>
              <a:t>componente</a:t>
            </a:r>
            <a:r>
              <a:rPr lang="en-US" sz="900" dirty="0">
                <a:latin typeface="Arial" panose="020B0604020202020204" pitchFamily="34" charset="0"/>
                <a:cs typeface="Arial" panose="020B0604020202020204" pitchFamily="34" charset="0"/>
              </a:rPr>
              <a:t> base con </a:t>
            </a:r>
            <a:r>
              <a:rPr lang="en-US" sz="900" dirty="0" err="1">
                <a:latin typeface="Arial" panose="020B0604020202020204" pitchFamily="34" charset="0"/>
                <a:cs typeface="Arial" panose="020B0604020202020204" pitchFamily="34" charset="0"/>
              </a:rPr>
              <a:t>nombre</a:t>
            </a:r>
            <a:r>
              <a:rPr lang="en-US" sz="900" dirty="0">
                <a:latin typeface="Arial" panose="020B0604020202020204" pitchFamily="34" charset="0"/>
                <a:cs typeface="Arial" panose="020B0604020202020204" pitchFamily="34" charset="0"/>
              </a:rPr>
              <a:t> </a:t>
            </a:r>
            <a:r>
              <a:rPr lang="en-US" sz="900" dirty="0" err="1">
                <a:latin typeface="Arial" panose="020B0604020202020204" pitchFamily="34" charset="0"/>
                <a:cs typeface="Arial" panose="020B0604020202020204" pitchFamily="34" charset="0"/>
              </a:rPr>
              <a:t>identificativo</a:t>
            </a:r>
            <a:endParaRPr lang="en-US" sz="900" dirty="0">
              <a:latin typeface="Arial" panose="020B0604020202020204" pitchFamily="34" charset="0"/>
              <a:cs typeface="Arial" panose="020B0604020202020204" pitchFamily="34" charset="0"/>
            </a:endParaRPr>
          </a:p>
          <a:p>
            <a:pPr algn="just"/>
            <a:r>
              <a:rPr lang="en-US" sz="900" dirty="0">
                <a:latin typeface="Arial" panose="020B0604020202020204" pitchFamily="34" charset="0"/>
                <a:cs typeface="Arial" panose="020B0604020202020204" pitchFamily="34" charset="0"/>
              </a:rPr>
              <a:t>    c = </a:t>
            </a:r>
            <a:r>
              <a:rPr lang="en-US" sz="900" dirty="0" err="1">
                <a:latin typeface="Arial" panose="020B0604020202020204" pitchFamily="34" charset="0"/>
                <a:cs typeface="Arial" panose="020B0604020202020204" pitchFamily="34" charset="0"/>
              </a:rPr>
              <a:t>gf.Component</a:t>
            </a:r>
            <a:r>
              <a:rPr lang="en-US" sz="900" dirty="0">
                <a:latin typeface="Arial" panose="020B0604020202020204" pitchFamily="34" charset="0"/>
                <a:cs typeface="Arial" panose="020B0604020202020204" pitchFamily="34" charset="0"/>
              </a:rPr>
              <a:t>("</a:t>
            </a:r>
            <a:r>
              <a:rPr lang="en-US" sz="900" dirty="0" err="1">
                <a:latin typeface="Arial" panose="020B0604020202020204" pitchFamily="34" charset="0"/>
                <a:cs typeface="Arial" panose="020B0604020202020204" pitchFamily="34" charset="0"/>
              </a:rPr>
              <a:t>die_marco_hueco</a:t>
            </a:r>
            <a:r>
              <a:rPr lang="en-US" sz="900" dirty="0">
                <a:latin typeface="Arial" panose="020B0604020202020204" pitchFamily="34" charset="0"/>
                <a:cs typeface="Arial" panose="020B0604020202020204" pitchFamily="34" charset="0"/>
              </a:rPr>
              <a:t>")</a:t>
            </a:r>
          </a:p>
          <a:p>
            <a:pPr algn="just"/>
            <a:r>
              <a:rPr lang="en-US" sz="900" dirty="0">
                <a:latin typeface="Arial" panose="020B0604020202020204" pitchFamily="34" charset="0"/>
                <a:cs typeface="Arial" panose="020B0604020202020204" pitchFamily="34" charset="0"/>
              </a:rPr>
              <a:t>    </a:t>
            </a:r>
            <a:r>
              <a:rPr lang="en-US" sz="900" dirty="0" err="1">
                <a:latin typeface="Arial" panose="020B0604020202020204" pitchFamily="34" charset="0"/>
                <a:cs typeface="Arial" panose="020B0604020202020204" pitchFamily="34" charset="0"/>
              </a:rPr>
              <a:t>capa_plano</a:t>
            </a:r>
            <a:r>
              <a:rPr lang="en-US" sz="900" dirty="0">
                <a:latin typeface="Arial" panose="020B0604020202020204" pitchFamily="34" charset="0"/>
                <a:cs typeface="Arial" panose="020B0604020202020204" pitchFamily="34" charset="0"/>
              </a:rPr>
              <a:t> = "FLOORPLAN"</a:t>
            </a:r>
          </a:p>
          <a:p>
            <a:pPr algn="just"/>
            <a:r>
              <a:rPr lang="en-US" sz="900" dirty="0">
                <a:latin typeface="Arial" panose="020B0604020202020204" pitchFamily="34" charset="0"/>
                <a:cs typeface="Arial" panose="020B0604020202020204" pitchFamily="34" charset="0"/>
              </a:rPr>
              <a:t>    </a:t>
            </a:r>
          </a:p>
          <a:p>
            <a:pPr algn="just"/>
            <a:r>
              <a:rPr lang="en-US" sz="900" dirty="0">
                <a:latin typeface="Arial" panose="020B0604020202020204" pitchFamily="34" charset="0"/>
                <a:cs typeface="Arial" panose="020B0604020202020204" pitchFamily="34" charset="0"/>
              </a:rPr>
              <a:t>    # Cajas exterior e interior para la </a:t>
            </a:r>
            <a:r>
              <a:rPr lang="en-US" sz="900" dirty="0" err="1">
                <a:latin typeface="Arial" panose="020B0604020202020204" pitchFamily="34" charset="0"/>
                <a:cs typeface="Arial" panose="020B0604020202020204" pitchFamily="34" charset="0"/>
              </a:rPr>
              <a:t>sustracción</a:t>
            </a:r>
            <a:r>
              <a:rPr lang="en-US" sz="900" dirty="0">
                <a:latin typeface="Arial" panose="020B0604020202020204" pitchFamily="34" charset="0"/>
                <a:cs typeface="Arial" panose="020B0604020202020204" pitchFamily="34" charset="0"/>
              </a:rPr>
              <a:t> </a:t>
            </a:r>
            <a:r>
              <a:rPr lang="en-US" sz="900" dirty="0" err="1">
                <a:latin typeface="Arial" panose="020B0604020202020204" pitchFamily="34" charset="0"/>
                <a:cs typeface="Arial" panose="020B0604020202020204" pitchFamily="34" charset="0"/>
              </a:rPr>
              <a:t>booleana</a:t>
            </a:r>
            <a:endParaRPr lang="en-US" sz="900" dirty="0">
              <a:latin typeface="Arial" panose="020B0604020202020204" pitchFamily="34" charset="0"/>
              <a:cs typeface="Arial" panose="020B0604020202020204" pitchFamily="34" charset="0"/>
            </a:endParaRPr>
          </a:p>
          <a:p>
            <a:pPr algn="just"/>
            <a:r>
              <a:rPr lang="en-US" sz="900" dirty="0">
                <a:latin typeface="Arial" panose="020B0604020202020204" pitchFamily="34" charset="0"/>
                <a:cs typeface="Arial" panose="020B0604020202020204" pitchFamily="34" charset="0"/>
              </a:rPr>
              <a:t>    </a:t>
            </a:r>
            <a:r>
              <a:rPr lang="en-US" sz="900" dirty="0" err="1">
                <a:latin typeface="Arial" panose="020B0604020202020204" pitchFamily="34" charset="0"/>
                <a:cs typeface="Arial" panose="020B0604020202020204" pitchFamily="34" charset="0"/>
              </a:rPr>
              <a:t>caja_ext</a:t>
            </a:r>
            <a:r>
              <a:rPr lang="en-US" sz="900" dirty="0">
                <a:latin typeface="Arial" panose="020B0604020202020204" pitchFamily="34" charset="0"/>
                <a:cs typeface="Arial" panose="020B0604020202020204" pitchFamily="34" charset="0"/>
              </a:rPr>
              <a:t> = </a:t>
            </a:r>
            <a:r>
              <a:rPr lang="en-US" sz="900" dirty="0" err="1">
                <a:latin typeface="Arial" panose="020B0604020202020204" pitchFamily="34" charset="0"/>
                <a:cs typeface="Arial" panose="020B0604020202020204" pitchFamily="34" charset="0"/>
              </a:rPr>
              <a:t>c.add_ref</a:t>
            </a:r>
            <a:r>
              <a:rPr lang="en-US" sz="900" dirty="0">
                <a:latin typeface="Arial" panose="020B0604020202020204" pitchFamily="34" charset="0"/>
                <a:cs typeface="Arial" panose="020B0604020202020204" pitchFamily="34" charset="0"/>
              </a:rPr>
              <a:t>(</a:t>
            </a:r>
            <a:r>
              <a:rPr lang="en-US" sz="900" dirty="0" err="1">
                <a:latin typeface="Arial" panose="020B0604020202020204" pitchFamily="34" charset="0"/>
                <a:cs typeface="Arial" panose="020B0604020202020204" pitchFamily="34" charset="0"/>
              </a:rPr>
              <a:t>gf.components.rectangle</a:t>
            </a:r>
            <a:r>
              <a:rPr lang="en-US" sz="900" dirty="0">
                <a:latin typeface="Arial" panose="020B0604020202020204" pitchFamily="34" charset="0"/>
                <a:cs typeface="Arial" panose="020B0604020202020204" pitchFamily="34" charset="0"/>
              </a:rPr>
              <a:t>(size=(ancho, alto), layer=</a:t>
            </a:r>
            <a:r>
              <a:rPr lang="en-US" sz="900" dirty="0" err="1">
                <a:latin typeface="Arial" panose="020B0604020202020204" pitchFamily="34" charset="0"/>
                <a:cs typeface="Arial" panose="020B0604020202020204" pitchFamily="34" charset="0"/>
              </a:rPr>
              <a:t>capa_plano</a:t>
            </a:r>
            <a:r>
              <a:rPr lang="en-US" sz="900" dirty="0">
                <a:latin typeface="Arial" panose="020B0604020202020204" pitchFamily="34" charset="0"/>
                <a:cs typeface="Arial" panose="020B0604020202020204" pitchFamily="34" charset="0"/>
              </a:rPr>
              <a:t>))</a:t>
            </a:r>
          </a:p>
          <a:p>
            <a:pPr algn="just"/>
            <a:r>
              <a:rPr lang="en-US" sz="900" dirty="0">
                <a:latin typeface="Arial" panose="020B0604020202020204" pitchFamily="34" charset="0"/>
                <a:cs typeface="Arial" panose="020B0604020202020204" pitchFamily="34" charset="0"/>
              </a:rPr>
              <a:t>    </a:t>
            </a:r>
          </a:p>
          <a:p>
            <a:pPr algn="just"/>
            <a:r>
              <a:rPr lang="en-US" sz="900" dirty="0">
                <a:latin typeface="Arial" panose="020B0604020202020204" pitchFamily="34" charset="0"/>
                <a:cs typeface="Arial" panose="020B0604020202020204" pitchFamily="34" charset="0"/>
              </a:rPr>
              <a:t>    </a:t>
            </a:r>
            <a:r>
              <a:rPr lang="en-US" sz="900" dirty="0" err="1">
                <a:latin typeface="Arial" panose="020B0604020202020204" pitchFamily="34" charset="0"/>
                <a:cs typeface="Arial" panose="020B0604020202020204" pitchFamily="34" charset="0"/>
              </a:rPr>
              <a:t>caja_int</a:t>
            </a:r>
            <a:r>
              <a:rPr lang="en-US" sz="900" dirty="0">
                <a:latin typeface="Arial" panose="020B0604020202020204" pitchFamily="34" charset="0"/>
                <a:cs typeface="Arial" panose="020B0604020202020204" pitchFamily="34" charset="0"/>
              </a:rPr>
              <a:t> = </a:t>
            </a:r>
            <a:r>
              <a:rPr lang="en-US" sz="900" dirty="0" err="1">
                <a:latin typeface="Arial" panose="020B0604020202020204" pitchFamily="34" charset="0"/>
                <a:cs typeface="Arial" panose="020B0604020202020204" pitchFamily="34" charset="0"/>
              </a:rPr>
              <a:t>c.add_ref</a:t>
            </a:r>
            <a:r>
              <a:rPr lang="en-US" sz="900" dirty="0">
                <a:latin typeface="Arial" panose="020B0604020202020204" pitchFamily="34" charset="0"/>
                <a:cs typeface="Arial" panose="020B0604020202020204" pitchFamily="34" charset="0"/>
              </a:rPr>
              <a:t>(</a:t>
            </a:r>
            <a:r>
              <a:rPr lang="en-US" sz="900" dirty="0" err="1">
                <a:latin typeface="Arial" panose="020B0604020202020204" pitchFamily="34" charset="0"/>
                <a:cs typeface="Arial" panose="020B0604020202020204" pitchFamily="34" charset="0"/>
              </a:rPr>
              <a:t>gf.components.rectangle</a:t>
            </a:r>
            <a:r>
              <a:rPr lang="en-US" sz="900" dirty="0">
                <a:latin typeface="Arial" panose="020B0604020202020204" pitchFamily="34" charset="0"/>
                <a:cs typeface="Arial" panose="020B0604020202020204" pitchFamily="34" charset="0"/>
              </a:rPr>
              <a:t>(</a:t>
            </a:r>
          </a:p>
          <a:p>
            <a:pPr algn="just"/>
            <a:r>
              <a:rPr lang="en-US" sz="900" dirty="0">
                <a:latin typeface="Arial" panose="020B0604020202020204" pitchFamily="34" charset="0"/>
                <a:cs typeface="Arial" panose="020B0604020202020204" pitchFamily="34" charset="0"/>
              </a:rPr>
              <a:t>        size=(ancho - </a:t>
            </a:r>
            <a:r>
              <a:rPr lang="en-US" sz="900" dirty="0" err="1">
                <a:latin typeface="Arial" panose="020B0604020202020204" pitchFamily="34" charset="0"/>
                <a:cs typeface="Arial" panose="020B0604020202020204" pitchFamily="34" charset="0"/>
              </a:rPr>
              <a:t>margen</a:t>
            </a:r>
            <a:r>
              <a:rPr lang="en-US" sz="900" dirty="0">
                <a:latin typeface="Arial" panose="020B0604020202020204" pitchFamily="34" charset="0"/>
                <a:cs typeface="Arial" panose="020B0604020202020204" pitchFamily="34" charset="0"/>
              </a:rPr>
              <a:t> * 2, alto - </a:t>
            </a:r>
            <a:r>
              <a:rPr lang="en-US" sz="900" dirty="0" err="1">
                <a:latin typeface="Arial" panose="020B0604020202020204" pitchFamily="34" charset="0"/>
                <a:cs typeface="Arial" panose="020B0604020202020204" pitchFamily="34" charset="0"/>
              </a:rPr>
              <a:t>margen</a:t>
            </a:r>
            <a:r>
              <a:rPr lang="en-US" sz="900" dirty="0">
                <a:latin typeface="Arial" panose="020B0604020202020204" pitchFamily="34" charset="0"/>
                <a:cs typeface="Arial" panose="020B0604020202020204" pitchFamily="34" charset="0"/>
              </a:rPr>
              <a:t> * 2), </a:t>
            </a:r>
          </a:p>
          <a:p>
            <a:pPr algn="just"/>
            <a:r>
              <a:rPr lang="en-US" sz="900" dirty="0">
                <a:latin typeface="Arial" panose="020B0604020202020204" pitchFamily="34" charset="0"/>
                <a:cs typeface="Arial" panose="020B0604020202020204" pitchFamily="34" charset="0"/>
              </a:rPr>
              <a:t>        layer=</a:t>
            </a:r>
            <a:r>
              <a:rPr lang="en-US" sz="900" dirty="0" err="1">
                <a:latin typeface="Arial" panose="020B0604020202020204" pitchFamily="34" charset="0"/>
                <a:cs typeface="Arial" panose="020B0604020202020204" pitchFamily="34" charset="0"/>
              </a:rPr>
              <a:t>capa_plano</a:t>
            </a:r>
            <a:endParaRPr lang="en-US" sz="900" dirty="0">
              <a:latin typeface="Arial" panose="020B0604020202020204" pitchFamily="34" charset="0"/>
              <a:cs typeface="Arial" panose="020B0604020202020204" pitchFamily="34" charset="0"/>
            </a:endParaRPr>
          </a:p>
          <a:p>
            <a:pPr algn="just"/>
            <a:r>
              <a:rPr lang="en-US" sz="900" dirty="0">
                <a:latin typeface="Arial" panose="020B0604020202020204" pitchFamily="34" charset="0"/>
                <a:cs typeface="Arial" panose="020B0604020202020204" pitchFamily="34" charset="0"/>
              </a:rPr>
              <a:t>    ))</a:t>
            </a:r>
          </a:p>
          <a:p>
            <a:pPr algn="just"/>
            <a:r>
              <a:rPr lang="en-US" sz="900" dirty="0">
                <a:latin typeface="Arial" panose="020B0604020202020204" pitchFamily="34" charset="0"/>
                <a:cs typeface="Arial" panose="020B0604020202020204" pitchFamily="34" charset="0"/>
              </a:rPr>
              <a:t>    </a:t>
            </a:r>
            <a:r>
              <a:rPr lang="en-US" sz="900" dirty="0" err="1">
                <a:latin typeface="Arial" panose="020B0604020202020204" pitchFamily="34" charset="0"/>
                <a:cs typeface="Arial" panose="020B0604020202020204" pitchFamily="34" charset="0"/>
              </a:rPr>
              <a:t>caja_int.dmovex</a:t>
            </a:r>
            <a:r>
              <a:rPr lang="en-US" sz="900" dirty="0">
                <a:latin typeface="Arial" panose="020B0604020202020204" pitchFamily="34" charset="0"/>
                <a:cs typeface="Arial" panose="020B0604020202020204" pitchFamily="34" charset="0"/>
              </a:rPr>
              <a:t>(</a:t>
            </a:r>
            <a:r>
              <a:rPr lang="en-US" sz="900" dirty="0" err="1">
                <a:latin typeface="Arial" panose="020B0604020202020204" pitchFamily="34" charset="0"/>
                <a:cs typeface="Arial" panose="020B0604020202020204" pitchFamily="34" charset="0"/>
              </a:rPr>
              <a:t>margen</a:t>
            </a:r>
            <a:r>
              <a:rPr lang="en-US" sz="900" dirty="0">
                <a:latin typeface="Arial" panose="020B0604020202020204" pitchFamily="34" charset="0"/>
                <a:cs typeface="Arial" panose="020B0604020202020204" pitchFamily="34" charset="0"/>
              </a:rPr>
              <a:t>).</a:t>
            </a:r>
            <a:r>
              <a:rPr lang="en-US" sz="900" dirty="0" err="1">
                <a:latin typeface="Arial" panose="020B0604020202020204" pitchFamily="34" charset="0"/>
                <a:cs typeface="Arial" panose="020B0604020202020204" pitchFamily="34" charset="0"/>
              </a:rPr>
              <a:t>dmovey</a:t>
            </a:r>
            <a:r>
              <a:rPr lang="en-US" sz="900" dirty="0">
                <a:latin typeface="Arial" panose="020B0604020202020204" pitchFamily="34" charset="0"/>
                <a:cs typeface="Arial" panose="020B0604020202020204" pitchFamily="34" charset="0"/>
              </a:rPr>
              <a:t>(</a:t>
            </a:r>
            <a:r>
              <a:rPr lang="en-US" sz="900" dirty="0" err="1">
                <a:latin typeface="Arial" panose="020B0604020202020204" pitchFamily="34" charset="0"/>
                <a:cs typeface="Arial" panose="020B0604020202020204" pitchFamily="34" charset="0"/>
              </a:rPr>
              <a:t>margen</a:t>
            </a:r>
            <a:r>
              <a:rPr lang="en-US" sz="900" dirty="0">
                <a:latin typeface="Arial" panose="020B0604020202020204" pitchFamily="34" charset="0"/>
                <a:cs typeface="Arial" panose="020B0604020202020204" pitchFamily="34" charset="0"/>
              </a:rPr>
              <a:t>)</a:t>
            </a:r>
          </a:p>
          <a:p>
            <a:pPr algn="just"/>
            <a:r>
              <a:rPr lang="en-US" sz="900" dirty="0">
                <a:latin typeface="Arial" panose="020B0604020202020204" pitchFamily="34" charset="0"/>
                <a:cs typeface="Arial" panose="020B0604020202020204" pitchFamily="34" charset="0"/>
              </a:rPr>
              <a:t>    </a:t>
            </a:r>
          </a:p>
          <a:p>
            <a:pPr algn="just"/>
            <a:r>
              <a:rPr lang="en-US" sz="900" dirty="0">
                <a:latin typeface="Arial" panose="020B0604020202020204" pitchFamily="34" charset="0"/>
                <a:cs typeface="Arial" panose="020B0604020202020204" pitchFamily="34" charset="0"/>
              </a:rPr>
              <a:t>    # </a:t>
            </a:r>
            <a:r>
              <a:rPr lang="en-US" sz="900" dirty="0" err="1">
                <a:latin typeface="Arial" panose="020B0604020202020204" pitchFamily="34" charset="0"/>
                <a:cs typeface="Arial" panose="020B0604020202020204" pitchFamily="34" charset="0"/>
              </a:rPr>
              <a:t>Operación</a:t>
            </a:r>
            <a:r>
              <a:rPr lang="en-US" sz="900" dirty="0">
                <a:latin typeface="Arial" panose="020B0604020202020204" pitchFamily="34" charset="0"/>
                <a:cs typeface="Arial" panose="020B0604020202020204" pitchFamily="34" charset="0"/>
              </a:rPr>
              <a:t> A-B para </a:t>
            </a:r>
            <a:r>
              <a:rPr lang="en-US" sz="900" dirty="0" err="1">
                <a:latin typeface="Arial" panose="020B0604020202020204" pitchFamily="34" charset="0"/>
                <a:cs typeface="Arial" panose="020B0604020202020204" pitchFamily="34" charset="0"/>
              </a:rPr>
              <a:t>vaciar</a:t>
            </a:r>
            <a:r>
              <a:rPr lang="en-US" sz="900" dirty="0">
                <a:latin typeface="Arial" panose="020B0604020202020204" pitchFamily="34" charset="0"/>
                <a:cs typeface="Arial" panose="020B0604020202020204" pitchFamily="34" charset="0"/>
              </a:rPr>
              <a:t> </a:t>
            </a:r>
            <a:r>
              <a:rPr lang="en-US" sz="900" dirty="0" err="1">
                <a:latin typeface="Arial" panose="020B0604020202020204" pitchFamily="34" charset="0"/>
                <a:cs typeface="Arial" panose="020B0604020202020204" pitchFamily="34" charset="0"/>
              </a:rPr>
              <a:t>el</a:t>
            </a:r>
            <a:r>
              <a:rPr lang="en-US" sz="900" dirty="0">
                <a:latin typeface="Arial" panose="020B0604020202020204" pitchFamily="34" charset="0"/>
                <a:cs typeface="Arial" panose="020B0604020202020204" pitchFamily="34" charset="0"/>
              </a:rPr>
              <a:t> </a:t>
            </a:r>
            <a:r>
              <a:rPr lang="en-US" sz="900" dirty="0" err="1">
                <a:latin typeface="Arial" panose="020B0604020202020204" pitchFamily="34" charset="0"/>
                <a:cs typeface="Arial" panose="020B0604020202020204" pitchFamily="34" charset="0"/>
              </a:rPr>
              <a:t>centro</a:t>
            </a:r>
            <a:r>
              <a:rPr lang="en-US" sz="900" dirty="0">
                <a:latin typeface="Arial" panose="020B0604020202020204" pitchFamily="34" charset="0"/>
                <a:cs typeface="Arial" panose="020B0604020202020204" pitchFamily="34" charset="0"/>
              </a:rPr>
              <a:t> del </a:t>
            </a:r>
            <a:r>
              <a:rPr lang="en-US" sz="900" dirty="0" err="1">
                <a:latin typeface="Arial" panose="020B0604020202020204" pitchFamily="34" charset="0"/>
                <a:cs typeface="Arial" panose="020B0604020202020204" pitchFamily="34" charset="0"/>
              </a:rPr>
              <a:t>troquel</a:t>
            </a:r>
            <a:endParaRPr lang="en-US" sz="900" dirty="0">
              <a:latin typeface="Arial" panose="020B0604020202020204" pitchFamily="34" charset="0"/>
              <a:cs typeface="Arial" panose="020B0604020202020204" pitchFamily="34" charset="0"/>
            </a:endParaRPr>
          </a:p>
          <a:p>
            <a:pPr algn="just"/>
            <a:r>
              <a:rPr lang="en-US" sz="900" dirty="0">
                <a:latin typeface="Arial" panose="020B0604020202020204" pitchFamily="34" charset="0"/>
                <a:cs typeface="Arial" panose="020B0604020202020204" pitchFamily="34" charset="0"/>
              </a:rPr>
              <a:t>    </a:t>
            </a:r>
            <a:r>
              <a:rPr lang="en-US" sz="900" dirty="0" err="1">
                <a:latin typeface="Arial" panose="020B0604020202020204" pitchFamily="34" charset="0"/>
                <a:cs typeface="Arial" panose="020B0604020202020204" pitchFamily="34" charset="0"/>
              </a:rPr>
              <a:t>marco_die</a:t>
            </a:r>
            <a:r>
              <a:rPr lang="en-US" sz="900" dirty="0">
                <a:latin typeface="Arial" panose="020B0604020202020204" pitchFamily="34" charset="0"/>
                <a:cs typeface="Arial" panose="020B0604020202020204" pitchFamily="34" charset="0"/>
              </a:rPr>
              <a:t> = </a:t>
            </a:r>
            <a:r>
              <a:rPr lang="en-US" sz="900" dirty="0" err="1">
                <a:latin typeface="Arial" panose="020B0604020202020204" pitchFamily="34" charset="0"/>
                <a:cs typeface="Arial" panose="020B0604020202020204" pitchFamily="34" charset="0"/>
              </a:rPr>
              <a:t>gf.boolean</a:t>
            </a:r>
            <a:r>
              <a:rPr lang="en-US" sz="900" dirty="0">
                <a:latin typeface="Arial" panose="020B0604020202020204" pitchFamily="34" charset="0"/>
                <a:cs typeface="Arial" panose="020B0604020202020204" pitchFamily="34" charset="0"/>
              </a:rPr>
              <a:t>(A=</a:t>
            </a:r>
            <a:r>
              <a:rPr lang="en-US" sz="900" dirty="0" err="1">
                <a:latin typeface="Arial" panose="020B0604020202020204" pitchFamily="34" charset="0"/>
                <a:cs typeface="Arial" panose="020B0604020202020204" pitchFamily="34" charset="0"/>
              </a:rPr>
              <a:t>caja_ext</a:t>
            </a:r>
            <a:r>
              <a:rPr lang="en-US" sz="900" dirty="0">
                <a:latin typeface="Arial" panose="020B0604020202020204" pitchFamily="34" charset="0"/>
                <a:cs typeface="Arial" panose="020B0604020202020204" pitchFamily="34" charset="0"/>
              </a:rPr>
              <a:t>, B=</a:t>
            </a:r>
            <a:r>
              <a:rPr lang="en-US" sz="900" dirty="0" err="1">
                <a:latin typeface="Arial" panose="020B0604020202020204" pitchFamily="34" charset="0"/>
                <a:cs typeface="Arial" panose="020B0604020202020204" pitchFamily="34" charset="0"/>
              </a:rPr>
              <a:t>caja_int</a:t>
            </a:r>
            <a:r>
              <a:rPr lang="en-US" sz="900" dirty="0">
                <a:latin typeface="Arial" panose="020B0604020202020204" pitchFamily="34" charset="0"/>
                <a:cs typeface="Arial" panose="020B0604020202020204" pitchFamily="34" charset="0"/>
              </a:rPr>
              <a:t>, operation="A-B", layer=</a:t>
            </a:r>
            <a:r>
              <a:rPr lang="en-US" sz="900" dirty="0" err="1">
                <a:latin typeface="Arial" panose="020B0604020202020204" pitchFamily="34" charset="0"/>
                <a:cs typeface="Arial" panose="020B0604020202020204" pitchFamily="34" charset="0"/>
              </a:rPr>
              <a:t>capa_plano</a:t>
            </a:r>
            <a:r>
              <a:rPr lang="en-US" sz="900" dirty="0">
                <a:latin typeface="Arial" panose="020B0604020202020204" pitchFamily="34" charset="0"/>
                <a:cs typeface="Arial" panose="020B0604020202020204" pitchFamily="34" charset="0"/>
              </a:rPr>
              <a:t>)</a:t>
            </a:r>
          </a:p>
          <a:p>
            <a:pPr algn="just"/>
            <a:r>
              <a:rPr lang="en-US" sz="900" dirty="0">
                <a:latin typeface="Arial" panose="020B0604020202020204" pitchFamily="34" charset="0"/>
                <a:cs typeface="Arial" panose="020B0604020202020204" pitchFamily="34" charset="0"/>
              </a:rPr>
              <a:t>    </a:t>
            </a:r>
          </a:p>
          <a:p>
            <a:pPr algn="just"/>
            <a:r>
              <a:rPr lang="en-US" sz="900" dirty="0">
                <a:latin typeface="Arial" panose="020B0604020202020204" pitchFamily="34" charset="0"/>
                <a:cs typeface="Arial" panose="020B0604020202020204" pitchFamily="34" charset="0"/>
              </a:rPr>
              <a:t>    # </a:t>
            </a:r>
            <a:r>
              <a:rPr lang="en-US" sz="900" dirty="0" err="1">
                <a:latin typeface="Arial" panose="020B0604020202020204" pitchFamily="34" charset="0"/>
                <a:cs typeface="Arial" panose="020B0604020202020204" pitchFamily="34" charset="0"/>
              </a:rPr>
              <a:t>Añadimos</a:t>
            </a:r>
            <a:r>
              <a:rPr lang="en-US" sz="900" dirty="0">
                <a:latin typeface="Arial" panose="020B0604020202020204" pitchFamily="34" charset="0"/>
                <a:cs typeface="Arial" panose="020B0604020202020204" pitchFamily="34" charset="0"/>
              </a:rPr>
              <a:t> </a:t>
            </a:r>
            <a:r>
              <a:rPr lang="en-US" sz="900" dirty="0" err="1">
                <a:latin typeface="Arial" panose="020B0604020202020204" pitchFamily="34" charset="0"/>
                <a:cs typeface="Arial" panose="020B0604020202020204" pitchFamily="34" charset="0"/>
              </a:rPr>
              <a:t>el</a:t>
            </a:r>
            <a:r>
              <a:rPr lang="en-US" sz="900" dirty="0">
                <a:latin typeface="Arial" panose="020B0604020202020204" pitchFamily="34" charset="0"/>
                <a:cs typeface="Arial" panose="020B0604020202020204" pitchFamily="34" charset="0"/>
              </a:rPr>
              <a:t> </a:t>
            </a:r>
            <a:r>
              <a:rPr lang="en-US" sz="900" dirty="0" err="1">
                <a:latin typeface="Arial" panose="020B0604020202020204" pitchFamily="34" charset="0"/>
                <a:cs typeface="Arial" panose="020B0604020202020204" pitchFamily="34" charset="0"/>
              </a:rPr>
              <a:t>puerto</a:t>
            </a:r>
            <a:r>
              <a:rPr lang="en-US" sz="900" dirty="0">
                <a:latin typeface="Arial" panose="020B0604020202020204" pitchFamily="34" charset="0"/>
                <a:cs typeface="Arial" panose="020B0604020202020204" pitchFamily="34" charset="0"/>
              </a:rPr>
              <a:t> de </a:t>
            </a:r>
            <a:r>
              <a:rPr lang="en-US" sz="900" dirty="0" err="1">
                <a:latin typeface="Arial" panose="020B0604020202020204" pitchFamily="34" charset="0"/>
                <a:cs typeface="Arial" panose="020B0604020202020204" pitchFamily="34" charset="0"/>
              </a:rPr>
              <a:t>referencia</a:t>
            </a:r>
            <a:endParaRPr lang="en-US" sz="900" dirty="0">
              <a:latin typeface="Arial" panose="020B0604020202020204" pitchFamily="34" charset="0"/>
              <a:cs typeface="Arial" panose="020B0604020202020204" pitchFamily="34" charset="0"/>
            </a:endParaRPr>
          </a:p>
          <a:p>
            <a:pPr algn="just"/>
            <a:r>
              <a:rPr lang="en-US" sz="900" dirty="0">
                <a:latin typeface="Arial" panose="020B0604020202020204" pitchFamily="34" charset="0"/>
                <a:cs typeface="Arial" panose="020B0604020202020204" pitchFamily="34" charset="0"/>
              </a:rPr>
              <a:t>    </a:t>
            </a:r>
            <a:r>
              <a:rPr lang="en-US" sz="900" dirty="0" err="1">
                <a:latin typeface="Arial" panose="020B0604020202020204" pitchFamily="34" charset="0"/>
                <a:cs typeface="Arial" panose="020B0604020202020204" pitchFamily="34" charset="0"/>
              </a:rPr>
              <a:t>marco_die.add_port</a:t>
            </a:r>
            <a:r>
              <a:rPr lang="en-US" sz="900" dirty="0">
                <a:latin typeface="Arial" panose="020B0604020202020204" pitchFamily="34" charset="0"/>
                <a:cs typeface="Arial" panose="020B0604020202020204" pitchFamily="34" charset="0"/>
              </a:rPr>
              <a:t>(name="</a:t>
            </a:r>
            <a:r>
              <a:rPr lang="en-US" sz="900" dirty="0" err="1">
                <a:latin typeface="Arial" panose="020B0604020202020204" pitchFamily="34" charset="0"/>
                <a:cs typeface="Arial" panose="020B0604020202020204" pitchFamily="34" charset="0"/>
              </a:rPr>
              <a:t>origen_bloque</a:t>
            </a:r>
            <a:r>
              <a:rPr lang="en-US" sz="900" dirty="0">
                <a:latin typeface="Arial" panose="020B0604020202020204" pitchFamily="34" charset="0"/>
                <a:cs typeface="Arial" panose="020B0604020202020204" pitchFamily="34" charset="0"/>
              </a:rPr>
              <a:t>", center=[</a:t>
            </a:r>
            <a:r>
              <a:rPr lang="en-US" sz="900" dirty="0" err="1">
                <a:latin typeface="Arial" panose="020B0604020202020204" pitchFamily="34" charset="0"/>
                <a:cs typeface="Arial" panose="020B0604020202020204" pitchFamily="34" charset="0"/>
              </a:rPr>
              <a:t>margen</a:t>
            </a:r>
            <a:r>
              <a:rPr lang="en-US" sz="900" dirty="0">
                <a:latin typeface="Arial" panose="020B0604020202020204" pitchFamily="34" charset="0"/>
                <a:cs typeface="Arial" panose="020B0604020202020204" pitchFamily="34" charset="0"/>
              </a:rPr>
              <a:t>, </a:t>
            </a:r>
            <a:r>
              <a:rPr lang="en-US" sz="900" dirty="0" err="1">
                <a:latin typeface="Arial" panose="020B0604020202020204" pitchFamily="34" charset="0"/>
                <a:cs typeface="Arial" panose="020B0604020202020204" pitchFamily="34" charset="0"/>
              </a:rPr>
              <a:t>margen</a:t>
            </a:r>
            <a:r>
              <a:rPr lang="en-US" sz="900" dirty="0">
                <a:latin typeface="Arial" panose="020B0604020202020204" pitchFamily="34" charset="0"/>
                <a:cs typeface="Arial" panose="020B0604020202020204" pitchFamily="34" charset="0"/>
              </a:rPr>
              <a:t>], width=1, orientation=0, layer=</a:t>
            </a:r>
            <a:r>
              <a:rPr lang="en-US" sz="900" dirty="0" err="1">
                <a:latin typeface="Arial" panose="020B0604020202020204" pitchFamily="34" charset="0"/>
                <a:cs typeface="Arial" panose="020B0604020202020204" pitchFamily="34" charset="0"/>
              </a:rPr>
              <a:t>capa_plano</a:t>
            </a:r>
            <a:r>
              <a:rPr lang="en-US" sz="900" dirty="0">
                <a:latin typeface="Arial" panose="020B0604020202020204" pitchFamily="34" charset="0"/>
                <a:cs typeface="Arial" panose="020B0604020202020204" pitchFamily="34" charset="0"/>
              </a:rPr>
              <a:t>)</a:t>
            </a:r>
          </a:p>
          <a:p>
            <a:pPr algn="just"/>
            <a:r>
              <a:rPr lang="en-US" sz="900" dirty="0">
                <a:latin typeface="Arial" panose="020B0604020202020204" pitchFamily="34" charset="0"/>
                <a:cs typeface="Arial" panose="020B0604020202020204" pitchFamily="34" charset="0"/>
              </a:rPr>
              <a:t>    </a:t>
            </a:r>
            <a:r>
              <a:rPr lang="en-US" sz="900" dirty="0" err="1">
                <a:latin typeface="Arial" panose="020B0604020202020204" pitchFamily="34" charset="0"/>
                <a:cs typeface="Arial" panose="020B0604020202020204" pitchFamily="34" charset="0"/>
              </a:rPr>
              <a:t>marco_die.draw_ports</a:t>
            </a:r>
            <a:r>
              <a:rPr lang="en-US" sz="900" dirty="0">
                <a:latin typeface="Arial" panose="020B0604020202020204" pitchFamily="34" charset="0"/>
                <a:cs typeface="Arial" panose="020B0604020202020204" pitchFamily="34" charset="0"/>
              </a:rPr>
              <a:t>()</a:t>
            </a:r>
          </a:p>
          <a:p>
            <a:pPr algn="just"/>
            <a:r>
              <a:rPr lang="en-US" sz="900" dirty="0">
                <a:latin typeface="Arial" panose="020B0604020202020204" pitchFamily="34" charset="0"/>
                <a:cs typeface="Arial" panose="020B0604020202020204" pitchFamily="34" charset="0"/>
              </a:rPr>
              <a:t>    </a:t>
            </a:r>
          </a:p>
          <a:p>
            <a:pPr algn="just"/>
            <a:r>
              <a:rPr lang="en-US" sz="900" dirty="0">
                <a:latin typeface="Arial" panose="020B0604020202020204" pitchFamily="34" charset="0"/>
                <a:cs typeface="Arial" panose="020B0604020202020204" pitchFamily="34" charset="0"/>
              </a:rPr>
              <a:t>    return </a:t>
            </a:r>
            <a:r>
              <a:rPr lang="en-US" sz="900" dirty="0" err="1">
                <a:latin typeface="Arial" panose="020B0604020202020204" pitchFamily="34" charset="0"/>
                <a:cs typeface="Arial" panose="020B0604020202020204" pitchFamily="34" charset="0"/>
              </a:rPr>
              <a:t>marco_die</a:t>
            </a:r>
            <a:endParaRPr lang="en-US" sz="900" dirty="0">
              <a:latin typeface="Arial" panose="020B0604020202020204" pitchFamily="34" charset="0"/>
              <a:cs typeface="Arial" panose="020B0604020202020204" pitchFamily="34" charset="0"/>
            </a:endParaRPr>
          </a:p>
          <a:p>
            <a:pPr algn="just"/>
            <a:endParaRPr lang="en-US" sz="900" dirty="0">
              <a:latin typeface="Arial" panose="020B0604020202020204" pitchFamily="34" charset="0"/>
              <a:cs typeface="Arial" panose="020B0604020202020204" pitchFamily="34" charset="0"/>
            </a:endParaRPr>
          </a:p>
          <a:p>
            <a:pPr algn="just"/>
            <a:r>
              <a:rPr lang="en-US" sz="900" dirty="0">
                <a:latin typeface="Arial" panose="020B0604020202020204" pitchFamily="34" charset="0"/>
                <a:cs typeface="Arial" panose="020B0604020202020204" pitchFamily="34" charset="0"/>
              </a:rPr>
              <a:t># </a:t>
            </a:r>
            <a:r>
              <a:rPr lang="en-US" sz="900" dirty="0" err="1">
                <a:latin typeface="Arial" panose="020B0604020202020204" pitchFamily="34" charset="0"/>
                <a:cs typeface="Arial" panose="020B0604020202020204" pitchFamily="34" charset="0"/>
              </a:rPr>
              <a:t>Ejemplo</a:t>
            </a:r>
            <a:r>
              <a:rPr lang="en-US" sz="900" dirty="0">
                <a:latin typeface="Arial" panose="020B0604020202020204" pitchFamily="34" charset="0"/>
                <a:cs typeface="Arial" panose="020B0604020202020204" pitchFamily="34" charset="0"/>
              </a:rPr>
              <a:t> de </a:t>
            </a:r>
            <a:r>
              <a:rPr lang="en-US" sz="900" dirty="0" err="1">
                <a:latin typeface="Arial" panose="020B0604020202020204" pitchFamily="34" charset="0"/>
                <a:cs typeface="Arial" panose="020B0604020202020204" pitchFamily="34" charset="0"/>
              </a:rPr>
              <a:t>instanciación</a:t>
            </a:r>
            <a:endParaRPr lang="en-US" sz="900" dirty="0">
              <a:latin typeface="Arial" panose="020B0604020202020204" pitchFamily="34" charset="0"/>
              <a:cs typeface="Arial" panose="020B0604020202020204" pitchFamily="34" charset="0"/>
            </a:endParaRPr>
          </a:p>
          <a:p>
            <a:pPr algn="just"/>
            <a:r>
              <a:rPr lang="en-US" sz="900" dirty="0">
                <a:latin typeface="Arial" panose="020B0604020202020204" pitchFamily="34" charset="0"/>
                <a:cs typeface="Arial" panose="020B0604020202020204" pitchFamily="34" charset="0"/>
              </a:rPr>
              <a:t>wafer = </a:t>
            </a:r>
            <a:r>
              <a:rPr lang="en-US" sz="900" dirty="0" err="1">
                <a:latin typeface="Arial" panose="020B0604020202020204" pitchFamily="34" charset="0"/>
                <a:cs typeface="Arial" panose="020B0604020202020204" pitchFamily="34" charset="0"/>
              </a:rPr>
              <a:t>gf.Component</a:t>
            </a:r>
            <a:r>
              <a:rPr lang="en-US" sz="900" dirty="0">
                <a:latin typeface="Arial" panose="020B0604020202020204" pitchFamily="34" charset="0"/>
                <a:cs typeface="Arial" panose="020B0604020202020204" pitchFamily="34" charset="0"/>
              </a:rPr>
              <a:t>("</a:t>
            </a:r>
            <a:r>
              <a:rPr lang="en-US" sz="900" dirty="0" err="1">
                <a:latin typeface="Arial" panose="020B0604020202020204" pitchFamily="34" charset="0"/>
                <a:cs typeface="Arial" panose="020B0604020202020204" pitchFamily="34" charset="0"/>
              </a:rPr>
              <a:t>oblea_ensamblaje</a:t>
            </a:r>
            <a:r>
              <a:rPr lang="en-US" sz="900" dirty="0">
                <a:latin typeface="Arial" panose="020B0604020202020204" pitchFamily="34" charset="0"/>
                <a:cs typeface="Arial" panose="020B0604020202020204" pitchFamily="34" charset="0"/>
              </a:rPr>
              <a:t>")</a:t>
            </a:r>
          </a:p>
          <a:p>
            <a:pPr algn="just"/>
            <a:r>
              <a:rPr lang="en-US" sz="900" dirty="0" err="1">
                <a:latin typeface="Arial" panose="020B0604020202020204" pitchFamily="34" charset="0"/>
                <a:cs typeface="Arial" panose="020B0604020202020204" pitchFamily="34" charset="0"/>
              </a:rPr>
              <a:t>die_ref</a:t>
            </a:r>
            <a:r>
              <a:rPr lang="en-US" sz="900" dirty="0">
                <a:latin typeface="Arial" panose="020B0604020202020204" pitchFamily="34" charset="0"/>
                <a:cs typeface="Arial" panose="020B0604020202020204" pitchFamily="34" charset="0"/>
              </a:rPr>
              <a:t> = </a:t>
            </a:r>
            <a:r>
              <a:rPr lang="en-US" sz="900" dirty="0" err="1">
                <a:latin typeface="Arial" panose="020B0604020202020204" pitchFamily="34" charset="0"/>
                <a:cs typeface="Arial" panose="020B0604020202020204" pitchFamily="34" charset="0"/>
              </a:rPr>
              <a:t>wafer.add_ref</a:t>
            </a:r>
            <a:r>
              <a:rPr lang="en-US" sz="900" dirty="0">
                <a:latin typeface="Arial" panose="020B0604020202020204" pitchFamily="34" charset="0"/>
                <a:cs typeface="Arial" panose="020B0604020202020204" pitchFamily="34" charset="0"/>
              </a:rPr>
              <a:t>(</a:t>
            </a:r>
            <a:r>
              <a:rPr lang="en-US" sz="900" dirty="0" err="1">
                <a:latin typeface="Arial" panose="020B0604020202020204" pitchFamily="34" charset="0"/>
                <a:cs typeface="Arial" panose="020B0604020202020204" pitchFamily="34" charset="0"/>
              </a:rPr>
              <a:t>troquel_con_marco</a:t>
            </a:r>
            <a:r>
              <a:rPr lang="en-US" sz="900" dirty="0">
                <a:latin typeface="Arial" panose="020B0604020202020204" pitchFamily="34" charset="0"/>
                <a:cs typeface="Arial" panose="020B0604020202020204" pitchFamily="34" charset="0"/>
              </a:rPr>
              <a:t>(ancho=5000.0, alto=10000.0, </a:t>
            </a:r>
            <a:r>
              <a:rPr lang="en-US" sz="900" dirty="0" err="1">
                <a:latin typeface="Arial" panose="020B0604020202020204" pitchFamily="34" charset="0"/>
                <a:cs typeface="Arial" panose="020B0604020202020204" pitchFamily="34" charset="0"/>
              </a:rPr>
              <a:t>margen</a:t>
            </a:r>
            <a:r>
              <a:rPr lang="en-US" sz="900" dirty="0">
                <a:latin typeface="Arial" panose="020B0604020202020204" pitchFamily="34" charset="0"/>
                <a:cs typeface="Arial" panose="020B0604020202020204" pitchFamily="34" charset="0"/>
              </a:rPr>
              <a:t>=125.0))</a:t>
            </a:r>
          </a:p>
          <a:p>
            <a:pPr algn="just"/>
            <a:endParaRPr lang="en-US" sz="900" dirty="0">
              <a:latin typeface="Arial" panose="020B0604020202020204" pitchFamily="34" charset="0"/>
              <a:cs typeface="Arial" panose="020B0604020202020204" pitchFamily="34" charset="0"/>
            </a:endParaRPr>
          </a:p>
          <a:p>
            <a:pPr algn="just"/>
            <a:r>
              <a:rPr lang="en-US" sz="900" dirty="0" err="1">
                <a:latin typeface="Arial" panose="020B0604020202020204" pitchFamily="34" charset="0"/>
                <a:cs typeface="Arial" panose="020B0604020202020204" pitchFamily="34" charset="0"/>
              </a:rPr>
              <a:t>wafer.plot</a:t>
            </a:r>
            <a:r>
              <a:rPr lang="en-US" sz="900" dirty="0">
                <a:latin typeface="Arial" panose="020B0604020202020204" pitchFamily="34" charset="0"/>
                <a:cs typeface="Arial" panose="020B0604020202020204" pitchFamily="34" charset="0"/>
              </a:rPr>
              <a:t>()</a:t>
            </a:r>
          </a:p>
          <a:p>
            <a:pPr algn="just"/>
            <a:r>
              <a:rPr lang="en-US" sz="900" dirty="0" err="1">
                <a:latin typeface="Arial" panose="020B0604020202020204" pitchFamily="34" charset="0"/>
                <a:cs typeface="Arial" panose="020B0604020202020204" pitchFamily="34" charset="0"/>
              </a:rPr>
              <a:t>wafer.show</a:t>
            </a:r>
            <a:r>
              <a:rPr lang="en-US" sz="900" dirty="0">
                <a:latin typeface="Arial" panose="020B0604020202020204" pitchFamily="34" charset="0"/>
                <a:cs typeface="Arial" panose="020B0604020202020204" pitchFamily="34" charset="0"/>
              </a:rPr>
              <a:t>()</a:t>
            </a:r>
          </a:p>
        </p:txBody>
      </p:sp>
      <p:sp>
        <p:nvSpPr>
          <p:cNvPr id="8" name="Rectángulo 7">
            <a:extLst>
              <a:ext uri="{FF2B5EF4-FFF2-40B4-BE49-F238E27FC236}">
                <a16:creationId xmlns:a16="http://schemas.microsoft.com/office/drawing/2014/main" id="{5F3A40A5-7009-4321-A1C7-B2053C3DDD3E}"/>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Imagen 8">
            <a:extLst>
              <a:ext uri="{FF2B5EF4-FFF2-40B4-BE49-F238E27FC236}">
                <a16:creationId xmlns:a16="http://schemas.microsoft.com/office/drawing/2014/main" id="{DC27E61B-9D17-5FF6-4A54-C162FDAC0CC9}"/>
              </a:ext>
            </a:extLst>
          </p:cNvPr>
          <p:cNvPicPr>
            <a:picLocks noChangeAspect="1"/>
          </p:cNvPicPr>
          <p:nvPr/>
        </p:nvPicPr>
        <p:blipFill>
          <a:blip r:embed="rId4"/>
          <a:stretch>
            <a:fillRect/>
          </a:stretch>
        </p:blipFill>
        <p:spPr>
          <a:xfrm>
            <a:off x="6564213" y="1789471"/>
            <a:ext cx="5115997" cy="3862076"/>
          </a:xfrm>
          <a:prstGeom prst="rect">
            <a:avLst/>
          </a:prstGeom>
        </p:spPr>
      </p:pic>
      <p:sp>
        <p:nvSpPr>
          <p:cNvPr id="10" name="CuadroTexto 9">
            <a:extLst>
              <a:ext uri="{FF2B5EF4-FFF2-40B4-BE49-F238E27FC236}">
                <a16:creationId xmlns:a16="http://schemas.microsoft.com/office/drawing/2014/main" id="{FB2EB03C-C27D-7D58-8C6A-B35473BE391E}"/>
              </a:ext>
            </a:extLst>
          </p:cNvPr>
          <p:cNvSpPr txBox="1"/>
          <p:nvPr/>
        </p:nvSpPr>
        <p:spPr>
          <a:xfrm>
            <a:off x="6523157" y="1205212"/>
            <a:ext cx="5159682" cy="646331"/>
          </a:xfrm>
          <a:prstGeom prst="rect">
            <a:avLst/>
          </a:prstGeom>
          <a:noFill/>
        </p:spPr>
        <p:txBody>
          <a:bodyPr wrap="none" rtlCol="0">
            <a:spAutoFit/>
          </a:bodyPr>
          <a:lstStyle/>
          <a:p>
            <a:r>
              <a:rPr lang="es-ES" dirty="0"/>
              <a:t>No se ve verde por el visualizador que lo pinta con la </a:t>
            </a:r>
          </a:p>
          <a:p>
            <a:r>
              <a:rPr lang="es-ES" dirty="0"/>
              <a:t>paleta de colores actual.</a:t>
            </a:r>
          </a:p>
        </p:txBody>
      </p:sp>
    </p:spTree>
    <p:extLst>
      <p:ext uri="{BB962C8B-B14F-4D97-AF65-F5344CB8AC3E}">
        <p14:creationId xmlns:p14="http://schemas.microsoft.com/office/powerpoint/2010/main" val="15717067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B20EFB-DCB6-338A-4470-0B3BA1C99FF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F3C8D58-3B31-B86A-5191-7D0429DEAF04}"/>
              </a:ext>
            </a:extLst>
          </p:cNvPr>
          <p:cNvSpPr txBox="1">
            <a:spLocks noGrp="1"/>
          </p:cNvSpPr>
          <p:nvPr>
            <p:ph type="title"/>
          </p:nvPr>
        </p:nvSpPr>
        <p:spPr>
          <a:xfrm>
            <a:off x="685800" y="216277"/>
            <a:ext cx="5410200" cy="78226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#4 – Notebook section 4. Exercises – Part c) </a:t>
            </a:r>
            <a:endParaRPr sz="2500" b="0" i="1" dirty="0">
              <a:latin typeface="+mj-lt"/>
              <a:cs typeface="Lucida Sans"/>
            </a:endParaRPr>
          </a:p>
        </p:txBody>
      </p:sp>
      <p:pic>
        <p:nvPicPr>
          <p:cNvPr id="83" name="Gráfico 82">
            <a:extLst>
              <a:ext uri="{FF2B5EF4-FFF2-40B4-BE49-F238E27FC236}">
                <a16:creationId xmlns:a16="http://schemas.microsoft.com/office/drawing/2014/main" id="{914C2D4B-CBB3-482F-7347-A0EB9F7BE86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709BEA0-2001-EA7F-49B7-BBC930BF444D}"/>
              </a:ext>
            </a:extLst>
          </p:cNvPr>
          <p:cNvSpPr>
            <a:spLocks noGrp="1"/>
          </p:cNvSpPr>
          <p:nvPr>
            <p:ph type="sldNum" sz="quarter" idx="7"/>
          </p:nvPr>
        </p:nvSpPr>
        <p:spPr/>
        <p:txBody>
          <a:bodyPr/>
          <a:lstStyle/>
          <a:p>
            <a:fld id="{B6F15528-21DE-4FAA-801E-634DDDAF4B2B}" type="slidenum">
              <a:rPr lang="es-ES" smtClean="0"/>
              <a:t>21</a:t>
            </a:fld>
            <a:endParaRPr lang="es-ES"/>
          </a:p>
        </p:txBody>
      </p:sp>
      <p:sp>
        <p:nvSpPr>
          <p:cNvPr id="3" name="Marcador de pie de página 2">
            <a:extLst>
              <a:ext uri="{FF2B5EF4-FFF2-40B4-BE49-F238E27FC236}">
                <a16:creationId xmlns:a16="http://schemas.microsoft.com/office/drawing/2014/main" id="{087F21D8-6E49-E895-80D7-2C4A8C59B344}"/>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51183EA8-337A-E2A4-712C-C70F952F52A2}"/>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n-US" sz="800" dirty="0">
                <a:latin typeface="Arial" panose="020B0604020202020204" pitchFamily="34" charset="0"/>
                <a:cs typeface="Arial" panose="020B0604020202020204" pitchFamily="34" charset="0"/>
              </a:rPr>
              <a:t>import </a:t>
            </a:r>
            <a:r>
              <a:rPr lang="en-US" sz="800" dirty="0" err="1">
                <a:latin typeface="Arial" panose="020B0604020202020204" pitchFamily="34" charset="0"/>
                <a:cs typeface="Arial" panose="020B0604020202020204" pitchFamily="34" charset="0"/>
              </a:rPr>
              <a:t>gdsfactory</a:t>
            </a:r>
            <a:r>
              <a:rPr lang="en-US" sz="800" dirty="0">
                <a:latin typeface="Arial" panose="020B0604020202020204" pitchFamily="34" charset="0"/>
                <a:cs typeface="Arial" panose="020B0604020202020204" pitchFamily="34" charset="0"/>
              </a:rPr>
              <a:t> as gf</a:t>
            </a:r>
          </a:p>
          <a:p>
            <a:pPr algn="just"/>
            <a:endParaRPr lang="en-US" sz="800" dirty="0">
              <a:latin typeface="Arial" panose="020B0604020202020204" pitchFamily="34" charset="0"/>
              <a:cs typeface="Arial" panose="020B0604020202020204" pitchFamily="34" charset="0"/>
            </a:endParaRPr>
          </a:p>
          <a:p>
            <a:pPr algn="just"/>
            <a:r>
              <a:rPr lang="en-US" sz="800" dirty="0">
                <a:latin typeface="Arial" panose="020B0604020202020204" pitchFamily="34" charset="0"/>
                <a:cs typeface="Arial" panose="020B0604020202020204" pitchFamily="34" charset="0"/>
              </a:rPr>
              <a:t># =================================================================</a:t>
            </a:r>
          </a:p>
          <a:p>
            <a:pPr algn="just"/>
            <a:r>
              <a:rPr lang="en-US" sz="800" dirty="0">
                <a:latin typeface="Arial" panose="020B0604020202020204" pitchFamily="34" charset="0"/>
                <a:cs typeface="Arial" panose="020B0604020202020204" pitchFamily="34" charset="0"/>
              </a:rPr>
              <a:t># PARTE B: CREACIÓN DEL TROQUEL (DIE) CON PUERTOS ÓPTICOS</a:t>
            </a:r>
          </a:p>
          <a:p>
            <a:pPr algn="just"/>
            <a:r>
              <a:rPr lang="en-US" sz="800" dirty="0">
                <a:latin typeface="Arial" panose="020B0604020202020204" pitchFamily="34" charset="0"/>
                <a:cs typeface="Arial" panose="020B0604020202020204" pitchFamily="34" charset="0"/>
              </a:rPr>
              <a:t># =================================================================</a:t>
            </a:r>
          </a:p>
          <a:p>
            <a:pPr algn="just"/>
            <a:r>
              <a:rPr lang="en-US" sz="800" dirty="0" err="1">
                <a:latin typeface="Arial" panose="020B0604020202020204" pitchFamily="34" charset="0"/>
                <a:cs typeface="Arial" panose="020B0604020202020204" pitchFamily="34" charset="0"/>
              </a:rPr>
              <a:t>gf.clear_cache</a:t>
            </a:r>
            <a:r>
              <a:rPr lang="en-US" sz="800" dirty="0">
                <a:latin typeface="Arial" panose="020B0604020202020204" pitchFamily="34" charset="0"/>
                <a:cs typeface="Arial" panose="020B0604020202020204" pitchFamily="34" charset="0"/>
              </a:rPr>
              <a:t>()</a:t>
            </a:r>
          </a:p>
          <a:p>
            <a:pPr algn="just"/>
            <a:endParaRPr lang="en-US" sz="800" dirty="0">
              <a:latin typeface="Arial" panose="020B0604020202020204" pitchFamily="34" charset="0"/>
              <a:cs typeface="Arial" panose="020B0604020202020204" pitchFamily="34" charset="0"/>
            </a:endParaRPr>
          </a:p>
          <a:p>
            <a:pPr algn="just"/>
            <a:r>
              <a:rPr lang="en-US" sz="800" dirty="0" err="1">
                <a:latin typeface="Arial" panose="020B0604020202020204" pitchFamily="34" charset="0"/>
                <a:cs typeface="Arial" panose="020B0604020202020204" pitchFamily="34" charset="0"/>
              </a:rPr>
              <a:t>ancho_guia</a:t>
            </a:r>
            <a:r>
              <a:rPr lang="en-US" sz="800" dirty="0">
                <a:latin typeface="Arial" panose="020B0604020202020204" pitchFamily="34" charset="0"/>
                <a:cs typeface="Arial" panose="020B0604020202020204" pitchFamily="34" charset="0"/>
              </a:rPr>
              <a:t> = 1.2</a:t>
            </a:r>
          </a:p>
          <a:p>
            <a:pPr algn="just"/>
            <a:r>
              <a:rPr lang="en-US" sz="800" dirty="0" err="1">
                <a:latin typeface="Arial" panose="020B0604020202020204" pitchFamily="34" charset="0"/>
                <a:cs typeface="Arial" panose="020B0604020202020204" pitchFamily="34" charset="0"/>
              </a:rPr>
              <a:t>seccion_io</a:t>
            </a:r>
            <a:r>
              <a:rPr lang="en-US" sz="800" dirty="0">
                <a:latin typeface="Arial" panose="020B0604020202020204" pitchFamily="34" charset="0"/>
                <a:cs typeface="Arial" panose="020B0604020202020204" pitchFamily="34" charset="0"/>
              </a:rPr>
              <a:t> = </a:t>
            </a:r>
            <a:r>
              <a:rPr lang="en-US" sz="800" dirty="0" err="1">
                <a:latin typeface="Arial" panose="020B0604020202020204" pitchFamily="34" charset="0"/>
                <a:cs typeface="Arial" panose="020B0604020202020204" pitchFamily="34" charset="0"/>
              </a:rPr>
              <a:t>gf.cross_section.strip</a:t>
            </a:r>
            <a:r>
              <a:rPr lang="en-US" sz="800" dirty="0">
                <a:latin typeface="Arial" panose="020B0604020202020204" pitchFamily="34" charset="0"/>
                <a:cs typeface="Arial" panose="020B0604020202020204" pitchFamily="34" charset="0"/>
              </a:rPr>
              <a:t>(width=</a:t>
            </a:r>
            <a:r>
              <a:rPr lang="en-US" sz="800" dirty="0" err="1">
                <a:latin typeface="Arial" panose="020B0604020202020204" pitchFamily="34" charset="0"/>
                <a:cs typeface="Arial" panose="020B0604020202020204" pitchFamily="34" charset="0"/>
              </a:rPr>
              <a:t>ancho_guia</a:t>
            </a:r>
            <a:r>
              <a:rPr lang="en-US" sz="800" dirty="0">
                <a:latin typeface="Arial" panose="020B0604020202020204" pitchFamily="34" charset="0"/>
                <a:cs typeface="Arial" panose="020B0604020202020204" pitchFamily="34" charset="0"/>
              </a:rPr>
              <a:t>, layer="WG", </a:t>
            </a:r>
            <a:r>
              <a:rPr lang="en-US" sz="800" dirty="0" err="1">
                <a:latin typeface="Arial" panose="020B0604020202020204" pitchFamily="34" charset="0"/>
                <a:cs typeface="Arial" panose="020B0604020202020204" pitchFamily="34" charset="0"/>
              </a:rPr>
              <a:t>radius_min</a:t>
            </a:r>
            <a:r>
              <a:rPr lang="en-US" sz="800" dirty="0">
                <a:latin typeface="Arial" panose="020B0604020202020204" pitchFamily="34" charset="0"/>
                <a:cs typeface="Arial" panose="020B0604020202020204" pitchFamily="34" charset="0"/>
              </a:rPr>
              <a:t>=10.0)</a:t>
            </a:r>
          </a:p>
          <a:p>
            <a:pPr algn="just"/>
            <a:endParaRPr lang="en-US" sz="800" dirty="0">
              <a:latin typeface="Arial" panose="020B0604020202020204" pitchFamily="34" charset="0"/>
              <a:cs typeface="Arial" panose="020B0604020202020204" pitchFamily="34" charset="0"/>
            </a:endParaRPr>
          </a:p>
          <a:p>
            <a:pPr algn="just"/>
            <a:r>
              <a:rPr lang="en-US" sz="800" dirty="0">
                <a:latin typeface="Arial" panose="020B0604020202020204" pitchFamily="34" charset="0"/>
                <a:cs typeface="Arial" panose="020B0604020202020204" pitchFamily="34" charset="0"/>
              </a:rPr>
              <a:t>@gf.cell</a:t>
            </a:r>
          </a:p>
          <a:p>
            <a:pPr algn="just"/>
            <a:r>
              <a:rPr lang="en-US" sz="800" dirty="0">
                <a:latin typeface="Arial" panose="020B0604020202020204" pitchFamily="34" charset="0"/>
                <a:cs typeface="Arial" panose="020B0604020202020204" pitchFamily="34" charset="0"/>
              </a:rPr>
              <a:t>def </a:t>
            </a:r>
            <a:r>
              <a:rPr lang="en-US" sz="800" dirty="0" err="1">
                <a:latin typeface="Arial" panose="020B0604020202020204" pitchFamily="34" charset="0"/>
                <a:cs typeface="Arial" panose="020B0604020202020204" pitchFamily="34" charset="0"/>
              </a:rPr>
              <a:t>generar_troquel_optico</a:t>
            </a:r>
            <a:r>
              <a:rPr lang="en-US" sz="800" dirty="0">
                <a:latin typeface="Arial" panose="020B0604020202020204" pitchFamily="34" charset="0"/>
                <a:cs typeface="Arial" panose="020B0604020202020204" pitchFamily="34" charset="0"/>
              </a:rPr>
              <a:t>(largo=10000, ancho=5000, </a:t>
            </a:r>
            <a:r>
              <a:rPr lang="en-US" sz="800" dirty="0" err="1">
                <a:latin typeface="Arial" panose="020B0604020202020204" pitchFamily="34" charset="0"/>
                <a:cs typeface="Arial" panose="020B0604020202020204" pitchFamily="34" charset="0"/>
              </a:rPr>
              <a:t>margen</a:t>
            </a:r>
            <a:r>
              <a:rPr lang="en-US" sz="800" dirty="0">
                <a:latin typeface="Arial" panose="020B0604020202020204" pitchFamily="34" charset="0"/>
                <a:cs typeface="Arial" panose="020B0604020202020204" pitchFamily="34" charset="0"/>
              </a:rPr>
              <a:t>=125, pitch=250):</a:t>
            </a:r>
          </a:p>
          <a:p>
            <a:pPr algn="just"/>
            <a:r>
              <a:rPr lang="en-US" sz="800" dirty="0">
                <a:latin typeface="Arial" panose="020B0604020202020204" pitchFamily="34" charset="0"/>
                <a:cs typeface="Arial" panose="020B0604020202020204" pitchFamily="34" charset="0"/>
              </a:rPr>
              <a:t>    c = </a:t>
            </a:r>
            <a:r>
              <a:rPr lang="en-US" sz="800" dirty="0" err="1">
                <a:latin typeface="Arial" panose="020B0604020202020204" pitchFamily="34" charset="0"/>
                <a:cs typeface="Arial" panose="020B0604020202020204" pitchFamily="34" charset="0"/>
              </a:rPr>
              <a:t>gf.Component</a:t>
            </a:r>
            <a:r>
              <a:rPr lang="en-US" sz="800" dirty="0">
                <a:latin typeface="Arial" panose="020B0604020202020204" pitchFamily="34" charset="0"/>
                <a:cs typeface="Arial" panose="020B0604020202020204" pitchFamily="34" charset="0"/>
              </a:rPr>
              <a:t>("</a:t>
            </a:r>
            <a:r>
              <a:rPr lang="en-US" sz="800" dirty="0" err="1">
                <a:latin typeface="Arial" panose="020B0604020202020204" pitchFamily="34" charset="0"/>
                <a:cs typeface="Arial" panose="020B0604020202020204" pitchFamily="34" charset="0"/>
              </a:rPr>
              <a:t>Troquel_Base</a:t>
            </a:r>
            <a:r>
              <a:rPr lang="en-US" sz="800" dirty="0">
                <a:latin typeface="Arial" panose="020B0604020202020204" pitchFamily="34" charset="0"/>
                <a:cs typeface="Arial" panose="020B0604020202020204" pitchFamily="34" charset="0"/>
              </a:rPr>
              <a:t>")</a:t>
            </a:r>
          </a:p>
          <a:p>
            <a:pPr algn="just"/>
            <a:r>
              <a:rPr lang="en-US" sz="800" dirty="0">
                <a:latin typeface="Arial" panose="020B0604020202020204" pitchFamily="34" charset="0"/>
                <a:cs typeface="Arial" panose="020B0604020202020204" pitchFamily="34" charset="0"/>
              </a:rPr>
              <a:t>    </a:t>
            </a:r>
            <a:r>
              <a:rPr lang="en-US" sz="800" dirty="0" err="1">
                <a:latin typeface="Arial" panose="020B0604020202020204" pitchFamily="34" charset="0"/>
                <a:cs typeface="Arial" panose="020B0604020202020204" pitchFamily="34" charset="0"/>
              </a:rPr>
              <a:t>capa</a:t>
            </a:r>
            <a:r>
              <a:rPr lang="en-US" sz="800" dirty="0">
                <a:latin typeface="Arial" panose="020B0604020202020204" pitchFamily="34" charset="0"/>
                <a:cs typeface="Arial" panose="020B0604020202020204" pitchFamily="34" charset="0"/>
              </a:rPr>
              <a:t> = "FLOORPLAN"</a:t>
            </a:r>
          </a:p>
          <a:p>
            <a:pPr algn="just"/>
            <a:endParaRPr lang="en-US" sz="800" dirty="0">
              <a:latin typeface="Arial" panose="020B0604020202020204" pitchFamily="34" charset="0"/>
              <a:cs typeface="Arial" panose="020B0604020202020204" pitchFamily="34" charset="0"/>
            </a:endParaRPr>
          </a:p>
          <a:p>
            <a:pPr algn="just"/>
            <a:r>
              <a:rPr lang="en-US" sz="800" dirty="0">
                <a:latin typeface="Arial" panose="020B0604020202020204" pitchFamily="34" charset="0"/>
                <a:cs typeface="Arial" panose="020B0604020202020204" pitchFamily="34" charset="0"/>
              </a:rPr>
              <a:t>    # Marco </a:t>
            </a:r>
            <a:r>
              <a:rPr lang="en-US" sz="800" dirty="0" err="1">
                <a:latin typeface="Arial" panose="020B0604020202020204" pitchFamily="34" charset="0"/>
                <a:cs typeface="Arial" panose="020B0604020202020204" pitchFamily="34" charset="0"/>
              </a:rPr>
              <a:t>hueco</a:t>
            </a:r>
            <a:r>
              <a:rPr lang="en-US" sz="800" dirty="0">
                <a:latin typeface="Arial" panose="020B0604020202020204" pitchFamily="34" charset="0"/>
                <a:cs typeface="Arial" panose="020B0604020202020204" pitchFamily="34" charset="0"/>
              </a:rPr>
              <a:t> </a:t>
            </a:r>
            <a:r>
              <a:rPr lang="en-US" sz="800" dirty="0" err="1">
                <a:latin typeface="Arial" panose="020B0604020202020204" pitchFamily="34" charset="0"/>
                <a:cs typeface="Arial" panose="020B0604020202020204" pitchFamily="34" charset="0"/>
              </a:rPr>
              <a:t>usando</a:t>
            </a:r>
            <a:r>
              <a:rPr lang="en-US" sz="800" dirty="0">
                <a:latin typeface="Arial" panose="020B0604020202020204" pitchFamily="34" charset="0"/>
                <a:cs typeface="Arial" panose="020B0604020202020204" pitchFamily="34" charset="0"/>
              </a:rPr>
              <a:t> </a:t>
            </a:r>
            <a:r>
              <a:rPr lang="en-US" sz="800" dirty="0" err="1">
                <a:latin typeface="Arial" panose="020B0604020202020204" pitchFamily="34" charset="0"/>
                <a:cs typeface="Arial" panose="020B0604020202020204" pitchFamily="34" charset="0"/>
              </a:rPr>
              <a:t>resta</a:t>
            </a:r>
            <a:r>
              <a:rPr lang="en-US" sz="800" dirty="0">
                <a:latin typeface="Arial" panose="020B0604020202020204" pitchFamily="34" charset="0"/>
                <a:cs typeface="Arial" panose="020B0604020202020204" pitchFamily="34" charset="0"/>
              </a:rPr>
              <a:t> </a:t>
            </a:r>
            <a:r>
              <a:rPr lang="en-US" sz="800" dirty="0" err="1">
                <a:latin typeface="Arial" panose="020B0604020202020204" pitchFamily="34" charset="0"/>
                <a:cs typeface="Arial" panose="020B0604020202020204" pitchFamily="34" charset="0"/>
              </a:rPr>
              <a:t>booleana</a:t>
            </a:r>
            <a:endParaRPr lang="en-US" sz="800" dirty="0">
              <a:latin typeface="Arial" panose="020B0604020202020204" pitchFamily="34" charset="0"/>
              <a:cs typeface="Arial" panose="020B0604020202020204" pitchFamily="34" charset="0"/>
            </a:endParaRPr>
          </a:p>
          <a:p>
            <a:pPr algn="just"/>
            <a:r>
              <a:rPr lang="en-US" sz="800" dirty="0">
                <a:latin typeface="Arial" panose="020B0604020202020204" pitchFamily="34" charset="0"/>
                <a:cs typeface="Arial" panose="020B0604020202020204" pitchFamily="34" charset="0"/>
              </a:rPr>
              <a:t>    </a:t>
            </a:r>
            <a:r>
              <a:rPr lang="en-US" sz="800" dirty="0" err="1">
                <a:latin typeface="Arial" panose="020B0604020202020204" pitchFamily="34" charset="0"/>
                <a:cs typeface="Arial" panose="020B0604020202020204" pitchFamily="34" charset="0"/>
              </a:rPr>
              <a:t>caja_ext</a:t>
            </a:r>
            <a:r>
              <a:rPr lang="en-US" sz="800" dirty="0">
                <a:latin typeface="Arial" panose="020B0604020202020204" pitchFamily="34" charset="0"/>
                <a:cs typeface="Arial" panose="020B0604020202020204" pitchFamily="34" charset="0"/>
              </a:rPr>
              <a:t> = </a:t>
            </a:r>
            <a:r>
              <a:rPr lang="en-US" sz="800" dirty="0" err="1">
                <a:latin typeface="Arial" panose="020B0604020202020204" pitchFamily="34" charset="0"/>
                <a:cs typeface="Arial" panose="020B0604020202020204" pitchFamily="34" charset="0"/>
              </a:rPr>
              <a:t>c.add_ref</a:t>
            </a:r>
            <a:r>
              <a:rPr lang="en-US" sz="800" dirty="0">
                <a:latin typeface="Arial" panose="020B0604020202020204" pitchFamily="34" charset="0"/>
                <a:cs typeface="Arial" panose="020B0604020202020204" pitchFamily="34" charset="0"/>
              </a:rPr>
              <a:t>(</a:t>
            </a:r>
            <a:r>
              <a:rPr lang="en-US" sz="800" dirty="0" err="1">
                <a:latin typeface="Arial" panose="020B0604020202020204" pitchFamily="34" charset="0"/>
                <a:cs typeface="Arial" panose="020B0604020202020204" pitchFamily="34" charset="0"/>
              </a:rPr>
              <a:t>gf.components.rectangle</a:t>
            </a:r>
            <a:r>
              <a:rPr lang="en-US" sz="800" dirty="0">
                <a:latin typeface="Arial" panose="020B0604020202020204" pitchFamily="34" charset="0"/>
                <a:cs typeface="Arial" panose="020B0604020202020204" pitchFamily="34" charset="0"/>
              </a:rPr>
              <a:t>(size=(ancho, largo), layer=</a:t>
            </a:r>
            <a:r>
              <a:rPr lang="en-US" sz="800" dirty="0" err="1">
                <a:latin typeface="Arial" panose="020B0604020202020204" pitchFamily="34" charset="0"/>
                <a:cs typeface="Arial" panose="020B0604020202020204" pitchFamily="34" charset="0"/>
              </a:rPr>
              <a:t>capa</a:t>
            </a:r>
            <a:r>
              <a:rPr lang="en-US" sz="800" dirty="0">
                <a:latin typeface="Arial" panose="020B0604020202020204" pitchFamily="34" charset="0"/>
                <a:cs typeface="Arial" panose="020B0604020202020204" pitchFamily="34" charset="0"/>
              </a:rPr>
              <a:t>))</a:t>
            </a:r>
          </a:p>
          <a:p>
            <a:pPr algn="just"/>
            <a:r>
              <a:rPr lang="en-US" sz="800" dirty="0">
                <a:latin typeface="Arial" panose="020B0604020202020204" pitchFamily="34" charset="0"/>
                <a:cs typeface="Arial" panose="020B0604020202020204" pitchFamily="34" charset="0"/>
              </a:rPr>
              <a:t>    </a:t>
            </a:r>
            <a:r>
              <a:rPr lang="en-US" sz="800" dirty="0" err="1">
                <a:latin typeface="Arial" panose="020B0604020202020204" pitchFamily="34" charset="0"/>
                <a:cs typeface="Arial" panose="020B0604020202020204" pitchFamily="34" charset="0"/>
              </a:rPr>
              <a:t>caja_int</a:t>
            </a:r>
            <a:r>
              <a:rPr lang="en-US" sz="800" dirty="0">
                <a:latin typeface="Arial" panose="020B0604020202020204" pitchFamily="34" charset="0"/>
                <a:cs typeface="Arial" panose="020B0604020202020204" pitchFamily="34" charset="0"/>
              </a:rPr>
              <a:t> = </a:t>
            </a:r>
            <a:r>
              <a:rPr lang="en-US" sz="800" dirty="0" err="1">
                <a:latin typeface="Arial" panose="020B0604020202020204" pitchFamily="34" charset="0"/>
                <a:cs typeface="Arial" panose="020B0604020202020204" pitchFamily="34" charset="0"/>
              </a:rPr>
              <a:t>c.add_ref</a:t>
            </a:r>
            <a:r>
              <a:rPr lang="en-US" sz="800" dirty="0">
                <a:latin typeface="Arial" panose="020B0604020202020204" pitchFamily="34" charset="0"/>
                <a:cs typeface="Arial" panose="020B0604020202020204" pitchFamily="34" charset="0"/>
              </a:rPr>
              <a:t>(</a:t>
            </a:r>
            <a:r>
              <a:rPr lang="en-US" sz="800" dirty="0" err="1">
                <a:latin typeface="Arial" panose="020B0604020202020204" pitchFamily="34" charset="0"/>
                <a:cs typeface="Arial" panose="020B0604020202020204" pitchFamily="34" charset="0"/>
              </a:rPr>
              <a:t>gf.components.rectangle</a:t>
            </a:r>
            <a:r>
              <a:rPr lang="en-US" sz="800" dirty="0">
                <a:latin typeface="Arial" panose="020B0604020202020204" pitchFamily="34" charset="0"/>
                <a:cs typeface="Arial" panose="020B0604020202020204" pitchFamily="34" charset="0"/>
              </a:rPr>
              <a:t>(size=(ancho - 2*</a:t>
            </a:r>
            <a:r>
              <a:rPr lang="en-US" sz="800" dirty="0" err="1">
                <a:latin typeface="Arial" panose="020B0604020202020204" pitchFamily="34" charset="0"/>
                <a:cs typeface="Arial" panose="020B0604020202020204" pitchFamily="34" charset="0"/>
              </a:rPr>
              <a:t>margen</a:t>
            </a:r>
            <a:r>
              <a:rPr lang="en-US" sz="800" dirty="0">
                <a:latin typeface="Arial" panose="020B0604020202020204" pitchFamily="34" charset="0"/>
                <a:cs typeface="Arial" panose="020B0604020202020204" pitchFamily="34" charset="0"/>
              </a:rPr>
              <a:t>, largo - 2*</a:t>
            </a:r>
            <a:r>
              <a:rPr lang="en-US" sz="800" dirty="0" err="1">
                <a:latin typeface="Arial" panose="020B0604020202020204" pitchFamily="34" charset="0"/>
                <a:cs typeface="Arial" panose="020B0604020202020204" pitchFamily="34" charset="0"/>
              </a:rPr>
              <a:t>margen</a:t>
            </a:r>
            <a:r>
              <a:rPr lang="en-US" sz="800" dirty="0">
                <a:latin typeface="Arial" panose="020B0604020202020204" pitchFamily="34" charset="0"/>
                <a:cs typeface="Arial" panose="020B0604020202020204" pitchFamily="34" charset="0"/>
              </a:rPr>
              <a:t>), layer=</a:t>
            </a:r>
            <a:r>
              <a:rPr lang="en-US" sz="800" dirty="0" err="1">
                <a:latin typeface="Arial" panose="020B0604020202020204" pitchFamily="34" charset="0"/>
                <a:cs typeface="Arial" panose="020B0604020202020204" pitchFamily="34" charset="0"/>
              </a:rPr>
              <a:t>capa</a:t>
            </a:r>
            <a:r>
              <a:rPr lang="en-US" sz="800" dirty="0">
                <a:latin typeface="Arial" panose="020B0604020202020204" pitchFamily="34" charset="0"/>
                <a:cs typeface="Arial" panose="020B0604020202020204" pitchFamily="34" charset="0"/>
              </a:rPr>
              <a:t>)).</a:t>
            </a:r>
            <a:r>
              <a:rPr lang="en-US" sz="800" dirty="0" err="1">
                <a:latin typeface="Arial" panose="020B0604020202020204" pitchFamily="34" charset="0"/>
                <a:cs typeface="Arial" panose="020B0604020202020204" pitchFamily="34" charset="0"/>
              </a:rPr>
              <a:t>dmovex</a:t>
            </a:r>
            <a:r>
              <a:rPr lang="en-US" sz="800" dirty="0">
                <a:latin typeface="Arial" panose="020B0604020202020204" pitchFamily="34" charset="0"/>
                <a:cs typeface="Arial" panose="020B0604020202020204" pitchFamily="34" charset="0"/>
              </a:rPr>
              <a:t>(</a:t>
            </a:r>
            <a:r>
              <a:rPr lang="en-US" sz="800" dirty="0" err="1">
                <a:latin typeface="Arial" panose="020B0604020202020204" pitchFamily="34" charset="0"/>
                <a:cs typeface="Arial" panose="020B0604020202020204" pitchFamily="34" charset="0"/>
              </a:rPr>
              <a:t>margen</a:t>
            </a:r>
            <a:r>
              <a:rPr lang="en-US" sz="800" dirty="0">
                <a:latin typeface="Arial" panose="020B0604020202020204" pitchFamily="34" charset="0"/>
                <a:cs typeface="Arial" panose="020B0604020202020204" pitchFamily="34" charset="0"/>
              </a:rPr>
              <a:t>).</a:t>
            </a:r>
            <a:r>
              <a:rPr lang="en-US" sz="800" dirty="0" err="1">
                <a:latin typeface="Arial" panose="020B0604020202020204" pitchFamily="34" charset="0"/>
                <a:cs typeface="Arial" panose="020B0604020202020204" pitchFamily="34" charset="0"/>
              </a:rPr>
              <a:t>dmovey</a:t>
            </a:r>
            <a:r>
              <a:rPr lang="en-US" sz="800" dirty="0">
                <a:latin typeface="Arial" panose="020B0604020202020204" pitchFamily="34" charset="0"/>
                <a:cs typeface="Arial" panose="020B0604020202020204" pitchFamily="34" charset="0"/>
              </a:rPr>
              <a:t>(</a:t>
            </a:r>
            <a:r>
              <a:rPr lang="en-US" sz="800" dirty="0" err="1">
                <a:latin typeface="Arial" panose="020B0604020202020204" pitchFamily="34" charset="0"/>
                <a:cs typeface="Arial" panose="020B0604020202020204" pitchFamily="34" charset="0"/>
              </a:rPr>
              <a:t>margen</a:t>
            </a:r>
            <a:r>
              <a:rPr lang="en-US" sz="800" dirty="0">
                <a:latin typeface="Arial" panose="020B0604020202020204" pitchFamily="34" charset="0"/>
                <a:cs typeface="Arial" panose="020B0604020202020204" pitchFamily="34" charset="0"/>
              </a:rPr>
              <a:t>)</a:t>
            </a:r>
          </a:p>
          <a:p>
            <a:pPr algn="just"/>
            <a:r>
              <a:rPr lang="en-US" sz="800" dirty="0">
                <a:latin typeface="Arial" panose="020B0604020202020204" pitchFamily="34" charset="0"/>
                <a:cs typeface="Arial" panose="020B0604020202020204" pitchFamily="34" charset="0"/>
              </a:rPr>
              <a:t>    </a:t>
            </a:r>
            <a:r>
              <a:rPr lang="en-US" sz="800" dirty="0" err="1">
                <a:latin typeface="Arial" panose="020B0604020202020204" pitchFamily="34" charset="0"/>
                <a:cs typeface="Arial" panose="020B0604020202020204" pitchFamily="34" charset="0"/>
              </a:rPr>
              <a:t>marco</a:t>
            </a:r>
            <a:r>
              <a:rPr lang="en-US" sz="800" dirty="0">
                <a:latin typeface="Arial" panose="020B0604020202020204" pitchFamily="34" charset="0"/>
                <a:cs typeface="Arial" panose="020B0604020202020204" pitchFamily="34" charset="0"/>
              </a:rPr>
              <a:t> = </a:t>
            </a:r>
            <a:r>
              <a:rPr lang="en-US" sz="800" dirty="0" err="1">
                <a:latin typeface="Arial" panose="020B0604020202020204" pitchFamily="34" charset="0"/>
                <a:cs typeface="Arial" panose="020B0604020202020204" pitchFamily="34" charset="0"/>
              </a:rPr>
              <a:t>gf.boolean</a:t>
            </a:r>
            <a:r>
              <a:rPr lang="en-US" sz="800" dirty="0">
                <a:latin typeface="Arial" panose="020B0604020202020204" pitchFamily="34" charset="0"/>
                <a:cs typeface="Arial" panose="020B0604020202020204" pitchFamily="34" charset="0"/>
              </a:rPr>
              <a:t>(A=</a:t>
            </a:r>
            <a:r>
              <a:rPr lang="en-US" sz="800" dirty="0" err="1">
                <a:latin typeface="Arial" panose="020B0604020202020204" pitchFamily="34" charset="0"/>
                <a:cs typeface="Arial" panose="020B0604020202020204" pitchFamily="34" charset="0"/>
              </a:rPr>
              <a:t>caja_ext</a:t>
            </a:r>
            <a:r>
              <a:rPr lang="en-US" sz="800" dirty="0">
                <a:latin typeface="Arial" panose="020B0604020202020204" pitchFamily="34" charset="0"/>
                <a:cs typeface="Arial" panose="020B0604020202020204" pitchFamily="34" charset="0"/>
              </a:rPr>
              <a:t>, B=</a:t>
            </a:r>
            <a:r>
              <a:rPr lang="en-US" sz="800" dirty="0" err="1">
                <a:latin typeface="Arial" panose="020B0604020202020204" pitchFamily="34" charset="0"/>
                <a:cs typeface="Arial" panose="020B0604020202020204" pitchFamily="34" charset="0"/>
              </a:rPr>
              <a:t>caja_int</a:t>
            </a:r>
            <a:r>
              <a:rPr lang="en-US" sz="800" dirty="0">
                <a:latin typeface="Arial" panose="020B0604020202020204" pitchFamily="34" charset="0"/>
                <a:cs typeface="Arial" panose="020B0604020202020204" pitchFamily="34" charset="0"/>
              </a:rPr>
              <a:t>, operation="A-B", layer=</a:t>
            </a:r>
            <a:r>
              <a:rPr lang="en-US" sz="800" dirty="0" err="1">
                <a:latin typeface="Arial" panose="020B0604020202020204" pitchFamily="34" charset="0"/>
                <a:cs typeface="Arial" panose="020B0604020202020204" pitchFamily="34" charset="0"/>
              </a:rPr>
              <a:t>capa</a:t>
            </a:r>
            <a:r>
              <a:rPr lang="en-US" sz="800" dirty="0">
                <a:latin typeface="Arial" panose="020B0604020202020204" pitchFamily="34" charset="0"/>
                <a:cs typeface="Arial" panose="020B0604020202020204" pitchFamily="34" charset="0"/>
              </a:rPr>
              <a:t>)</a:t>
            </a:r>
          </a:p>
          <a:p>
            <a:pPr algn="just"/>
            <a:r>
              <a:rPr lang="en-US" sz="800" dirty="0">
                <a:latin typeface="Arial" panose="020B0604020202020204" pitchFamily="34" charset="0"/>
                <a:cs typeface="Arial" panose="020B0604020202020204" pitchFamily="34" charset="0"/>
              </a:rPr>
              <a:t>    </a:t>
            </a:r>
            <a:r>
              <a:rPr lang="en-US" sz="800" dirty="0" err="1">
                <a:latin typeface="Arial" panose="020B0604020202020204" pitchFamily="34" charset="0"/>
                <a:cs typeface="Arial" panose="020B0604020202020204" pitchFamily="34" charset="0"/>
              </a:rPr>
              <a:t>c.add_ref</a:t>
            </a:r>
            <a:r>
              <a:rPr lang="en-US" sz="800" dirty="0">
                <a:latin typeface="Arial" panose="020B0604020202020204" pitchFamily="34" charset="0"/>
                <a:cs typeface="Arial" panose="020B0604020202020204" pitchFamily="34" charset="0"/>
              </a:rPr>
              <a:t>(</a:t>
            </a:r>
            <a:r>
              <a:rPr lang="en-US" sz="800" dirty="0" err="1">
                <a:latin typeface="Arial" panose="020B0604020202020204" pitchFamily="34" charset="0"/>
                <a:cs typeface="Arial" panose="020B0604020202020204" pitchFamily="34" charset="0"/>
              </a:rPr>
              <a:t>marco</a:t>
            </a:r>
            <a:r>
              <a:rPr lang="en-US" sz="800" dirty="0">
                <a:latin typeface="Arial" panose="020B0604020202020204" pitchFamily="34" charset="0"/>
                <a:cs typeface="Arial" panose="020B0604020202020204" pitchFamily="34" charset="0"/>
              </a:rPr>
              <a:t>)</a:t>
            </a:r>
          </a:p>
          <a:p>
            <a:pPr algn="just"/>
            <a:endParaRPr lang="en-US" sz="800" dirty="0">
              <a:latin typeface="Arial" panose="020B0604020202020204" pitchFamily="34" charset="0"/>
              <a:cs typeface="Arial" panose="020B0604020202020204" pitchFamily="34" charset="0"/>
            </a:endParaRPr>
          </a:p>
          <a:p>
            <a:pPr algn="just"/>
            <a:r>
              <a:rPr lang="en-US" sz="800" dirty="0">
                <a:latin typeface="Arial" panose="020B0604020202020204" pitchFamily="34" charset="0"/>
                <a:cs typeface="Arial" panose="020B0604020202020204" pitchFamily="34" charset="0"/>
              </a:rPr>
              <a:t>    # Generación de </a:t>
            </a:r>
            <a:r>
              <a:rPr lang="en-US" sz="800" dirty="0" err="1">
                <a:latin typeface="Arial" panose="020B0604020202020204" pitchFamily="34" charset="0"/>
                <a:cs typeface="Arial" panose="020B0604020202020204" pitchFamily="34" charset="0"/>
              </a:rPr>
              <a:t>los</a:t>
            </a:r>
            <a:r>
              <a:rPr lang="en-US" sz="800" dirty="0">
                <a:latin typeface="Arial" panose="020B0604020202020204" pitchFamily="34" charset="0"/>
                <a:cs typeface="Arial" panose="020B0604020202020204" pitchFamily="34" charset="0"/>
              </a:rPr>
              <a:t> arrays de E/S </a:t>
            </a:r>
            <a:r>
              <a:rPr lang="en-US" sz="800" dirty="0" err="1">
                <a:latin typeface="Arial" panose="020B0604020202020204" pitchFamily="34" charset="0"/>
                <a:cs typeface="Arial" panose="020B0604020202020204" pitchFamily="34" charset="0"/>
              </a:rPr>
              <a:t>ópticas</a:t>
            </a:r>
            <a:endParaRPr lang="en-US" sz="800" dirty="0">
              <a:latin typeface="Arial" panose="020B0604020202020204" pitchFamily="34" charset="0"/>
              <a:cs typeface="Arial" panose="020B0604020202020204" pitchFamily="34" charset="0"/>
            </a:endParaRPr>
          </a:p>
          <a:p>
            <a:pPr algn="just"/>
            <a:r>
              <a:rPr lang="en-US" sz="800" dirty="0">
                <a:latin typeface="Arial" panose="020B0604020202020204" pitchFamily="34" charset="0"/>
                <a:cs typeface="Arial" panose="020B0604020202020204" pitchFamily="34" charset="0"/>
              </a:rPr>
              <a:t>    </a:t>
            </a:r>
            <a:r>
              <a:rPr lang="en-US" sz="800" dirty="0" err="1">
                <a:latin typeface="Arial" panose="020B0604020202020204" pitchFamily="34" charset="0"/>
                <a:cs typeface="Arial" panose="020B0604020202020204" pitchFamily="34" charset="0"/>
              </a:rPr>
              <a:t>num_puertos</a:t>
            </a:r>
            <a:r>
              <a:rPr lang="en-US" sz="800" dirty="0">
                <a:latin typeface="Arial" panose="020B0604020202020204" pitchFamily="34" charset="0"/>
                <a:cs typeface="Arial" panose="020B0604020202020204" pitchFamily="34" charset="0"/>
              </a:rPr>
              <a:t> = int((largo - 2*</a:t>
            </a:r>
            <a:r>
              <a:rPr lang="en-US" sz="800" dirty="0" err="1">
                <a:latin typeface="Arial" panose="020B0604020202020204" pitchFamily="34" charset="0"/>
                <a:cs typeface="Arial" panose="020B0604020202020204" pitchFamily="34" charset="0"/>
              </a:rPr>
              <a:t>margen</a:t>
            </a:r>
            <a:r>
              <a:rPr lang="en-US" sz="800" dirty="0">
                <a:latin typeface="Arial" panose="020B0604020202020204" pitchFamily="34" charset="0"/>
                <a:cs typeface="Arial" panose="020B0604020202020204" pitchFamily="34" charset="0"/>
              </a:rPr>
              <a:t>) // pitch) + 1  </a:t>
            </a:r>
          </a:p>
          <a:p>
            <a:pPr algn="just"/>
            <a:r>
              <a:rPr lang="en-US" sz="800" dirty="0">
                <a:latin typeface="Arial" panose="020B0604020202020204" pitchFamily="34" charset="0"/>
                <a:cs typeface="Arial" panose="020B0604020202020204" pitchFamily="34" charset="0"/>
              </a:rPr>
              <a:t>    </a:t>
            </a:r>
            <a:r>
              <a:rPr lang="en-US" sz="800" dirty="0" err="1">
                <a:latin typeface="Arial" panose="020B0604020202020204" pitchFamily="34" charset="0"/>
                <a:cs typeface="Arial" panose="020B0604020202020204" pitchFamily="34" charset="0"/>
              </a:rPr>
              <a:t>bloque_io</a:t>
            </a:r>
            <a:r>
              <a:rPr lang="en-US" sz="800" dirty="0">
                <a:latin typeface="Arial" panose="020B0604020202020204" pitchFamily="34" charset="0"/>
                <a:cs typeface="Arial" panose="020B0604020202020204" pitchFamily="34" charset="0"/>
              </a:rPr>
              <a:t> = </a:t>
            </a:r>
            <a:r>
              <a:rPr lang="en-US" sz="800" dirty="0" err="1">
                <a:latin typeface="Arial" panose="020B0604020202020204" pitchFamily="34" charset="0"/>
                <a:cs typeface="Arial" panose="020B0604020202020204" pitchFamily="34" charset="0"/>
              </a:rPr>
              <a:t>gf.components.straight_array</a:t>
            </a:r>
            <a:r>
              <a:rPr lang="en-US" sz="800" dirty="0">
                <a:latin typeface="Arial" panose="020B0604020202020204" pitchFamily="34" charset="0"/>
                <a:cs typeface="Arial" panose="020B0604020202020204" pitchFamily="34" charset="0"/>
              </a:rPr>
              <a:t>(n=</a:t>
            </a:r>
            <a:r>
              <a:rPr lang="en-US" sz="800" dirty="0" err="1">
                <a:latin typeface="Arial" panose="020B0604020202020204" pitchFamily="34" charset="0"/>
                <a:cs typeface="Arial" panose="020B0604020202020204" pitchFamily="34" charset="0"/>
              </a:rPr>
              <a:t>num_puertos</a:t>
            </a:r>
            <a:r>
              <a:rPr lang="en-US" sz="800" dirty="0">
                <a:latin typeface="Arial" panose="020B0604020202020204" pitchFamily="34" charset="0"/>
                <a:cs typeface="Arial" panose="020B0604020202020204" pitchFamily="34" charset="0"/>
              </a:rPr>
              <a:t>, spacing=pitch - </a:t>
            </a:r>
            <a:r>
              <a:rPr lang="en-US" sz="800" dirty="0" err="1">
                <a:latin typeface="Arial" panose="020B0604020202020204" pitchFamily="34" charset="0"/>
                <a:cs typeface="Arial" panose="020B0604020202020204" pitchFamily="34" charset="0"/>
              </a:rPr>
              <a:t>ancho_guia</a:t>
            </a:r>
            <a:r>
              <a:rPr lang="en-US" sz="800" dirty="0">
                <a:latin typeface="Arial" panose="020B0604020202020204" pitchFamily="34" charset="0"/>
                <a:cs typeface="Arial" panose="020B0604020202020204" pitchFamily="34" charset="0"/>
              </a:rPr>
              <a:t>, length=</a:t>
            </a:r>
            <a:r>
              <a:rPr lang="en-US" sz="800" dirty="0" err="1">
                <a:latin typeface="Arial" panose="020B0604020202020204" pitchFamily="34" charset="0"/>
                <a:cs typeface="Arial" panose="020B0604020202020204" pitchFamily="34" charset="0"/>
              </a:rPr>
              <a:t>margen</a:t>
            </a:r>
            <a:r>
              <a:rPr lang="en-US" sz="800" dirty="0">
                <a:latin typeface="Arial" panose="020B0604020202020204" pitchFamily="34" charset="0"/>
                <a:cs typeface="Arial" panose="020B0604020202020204" pitchFamily="34" charset="0"/>
              </a:rPr>
              <a:t>, </a:t>
            </a:r>
            <a:r>
              <a:rPr lang="en-US" sz="800" dirty="0" err="1">
                <a:latin typeface="Arial" panose="020B0604020202020204" pitchFamily="34" charset="0"/>
                <a:cs typeface="Arial" panose="020B0604020202020204" pitchFamily="34" charset="0"/>
              </a:rPr>
              <a:t>cross_section</a:t>
            </a:r>
            <a:r>
              <a:rPr lang="en-US" sz="800" dirty="0">
                <a:latin typeface="Arial" panose="020B0604020202020204" pitchFamily="34" charset="0"/>
                <a:cs typeface="Arial" panose="020B0604020202020204" pitchFamily="34" charset="0"/>
              </a:rPr>
              <a:t>=</a:t>
            </a:r>
            <a:r>
              <a:rPr lang="en-US" sz="800" dirty="0" err="1">
                <a:latin typeface="Arial" panose="020B0604020202020204" pitchFamily="34" charset="0"/>
                <a:cs typeface="Arial" panose="020B0604020202020204" pitchFamily="34" charset="0"/>
              </a:rPr>
              <a:t>seccion_io</a:t>
            </a:r>
            <a:r>
              <a:rPr lang="en-US" sz="800" dirty="0">
                <a:latin typeface="Arial" panose="020B0604020202020204" pitchFamily="34" charset="0"/>
                <a:cs typeface="Arial" panose="020B0604020202020204" pitchFamily="34" charset="0"/>
              </a:rPr>
              <a:t>)</a:t>
            </a:r>
          </a:p>
          <a:p>
            <a:pPr algn="just"/>
            <a:r>
              <a:rPr lang="en-US" sz="800" dirty="0">
                <a:latin typeface="Arial" panose="020B0604020202020204" pitchFamily="34" charset="0"/>
                <a:cs typeface="Arial" panose="020B0604020202020204" pitchFamily="34" charset="0"/>
              </a:rPr>
              <a:t>    </a:t>
            </a:r>
          </a:p>
          <a:p>
            <a:pPr algn="just"/>
            <a:r>
              <a:rPr lang="en-US" sz="800" dirty="0">
                <a:latin typeface="Arial" panose="020B0604020202020204" pitchFamily="34" charset="0"/>
                <a:cs typeface="Arial" panose="020B0604020202020204" pitchFamily="34" charset="0"/>
              </a:rPr>
              <a:t>    entradas = </a:t>
            </a:r>
            <a:r>
              <a:rPr lang="en-US" sz="800" dirty="0" err="1">
                <a:latin typeface="Arial" panose="020B0604020202020204" pitchFamily="34" charset="0"/>
                <a:cs typeface="Arial" panose="020B0604020202020204" pitchFamily="34" charset="0"/>
              </a:rPr>
              <a:t>c.add_ref</a:t>
            </a:r>
            <a:r>
              <a:rPr lang="en-US" sz="800" dirty="0">
                <a:latin typeface="Arial" panose="020B0604020202020204" pitchFamily="34" charset="0"/>
                <a:cs typeface="Arial" panose="020B0604020202020204" pitchFamily="34" charset="0"/>
              </a:rPr>
              <a:t>(</a:t>
            </a:r>
            <a:r>
              <a:rPr lang="en-US" sz="800" dirty="0" err="1">
                <a:latin typeface="Arial" panose="020B0604020202020204" pitchFamily="34" charset="0"/>
                <a:cs typeface="Arial" panose="020B0604020202020204" pitchFamily="34" charset="0"/>
              </a:rPr>
              <a:t>bloque_io</a:t>
            </a:r>
            <a:r>
              <a:rPr lang="en-US" sz="800" dirty="0">
                <a:latin typeface="Arial" panose="020B0604020202020204" pitchFamily="34" charset="0"/>
                <a:cs typeface="Arial" panose="020B0604020202020204" pitchFamily="34" charset="0"/>
              </a:rPr>
              <a:t>).</a:t>
            </a:r>
            <a:r>
              <a:rPr lang="en-US" sz="800" dirty="0" err="1">
                <a:latin typeface="Arial" panose="020B0604020202020204" pitchFamily="34" charset="0"/>
                <a:cs typeface="Arial" panose="020B0604020202020204" pitchFamily="34" charset="0"/>
              </a:rPr>
              <a:t>dmovey</a:t>
            </a:r>
            <a:r>
              <a:rPr lang="en-US" sz="800" dirty="0">
                <a:latin typeface="Arial" panose="020B0604020202020204" pitchFamily="34" charset="0"/>
                <a:cs typeface="Arial" panose="020B0604020202020204" pitchFamily="34" charset="0"/>
              </a:rPr>
              <a:t>(</a:t>
            </a:r>
            <a:r>
              <a:rPr lang="en-US" sz="800" dirty="0" err="1">
                <a:latin typeface="Arial" panose="020B0604020202020204" pitchFamily="34" charset="0"/>
                <a:cs typeface="Arial" panose="020B0604020202020204" pitchFamily="34" charset="0"/>
              </a:rPr>
              <a:t>margen</a:t>
            </a:r>
            <a:r>
              <a:rPr lang="en-US" sz="800" dirty="0">
                <a:latin typeface="Arial" panose="020B0604020202020204" pitchFamily="34" charset="0"/>
                <a:cs typeface="Arial" panose="020B0604020202020204" pitchFamily="34" charset="0"/>
              </a:rPr>
              <a:t>)                            </a:t>
            </a:r>
          </a:p>
          <a:p>
            <a:pPr algn="just"/>
            <a:r>
              <a:rPr lang="en-US" sz="800" dirty="0">
                <a:latin typeface="Arial" panose="020B0604020202020204" pitchFamily="34" charset="0"/>
                <a:cs typeface="Arial" panose="020B0604020202020204" pitchFamily="34" charset="0"/>
              </a:rPr>
              <a:t>    </a:t>
            </a:r>
            <a:r>
              <a:rPr lang="en-US" sz="800" dirty="0" err="1">
                <a:latin typeface="Arial" panose="020B0604020202020204" pitchFamily="34" charset="0"/>
                <a:cs typeface="Arial" panose="020B0604020202020204" pitchFamily="34" charset="0"/>
              </a:rPr>
              <a:t>salidas</a:t>
            </a:r>
            <a:r>
              <a:rPr lang="en-US" sz="800" dirty="0">
                <a:latin typeface="Arial" panose="020B0604020202020204" pitchFamily="34" charset="0"/>
                <a:cs typeface="Arial" panose="020B0604020202020204" pitchFamily="34" charset="0"/>
              </a:rPr>
              <a:t> = </a:t>
            </a:r>
            <a:r>
              <a:rPr lang="en-US" sz="800" dirty="0" err="1">
                <a:latin typeface="Arial" panose="020B0604020202020204" pitchFamily="34" charset="0"/>
                <a:cs typeface="Arial" panose="020B0604020202020204" pitchFamily="34" charset="0"/>
              </a:rPr>
              <a:t>c.add_ref</a:t>
            </a:r>
            <a:r>
              <a:rPr lang="en-US" sz="800" dirty="0">
                <a:latin typeface="Arial" panose="020B0604020202020204" pitchFamily="34" charset="0"/>
                <a:cs typeface="Arial" panose="020B0604020202020204" pitchFamily="34" charset="0"/>
              </a:rPr>
              <a:t>(</a:t>
            </a:r>
            <a:r>
              <a:rPr lang="en-US" sz="800" dirty="0" err="1">
                <a:latin typeface="Arial" panose="020B0604020202020204" pitchFamily="34" charset="0"/>
                <a:cs typeface="Arial" panose="020B0604020202020204" pitchFamily="34" charset="0"/>
              </a:rPr>
              <a:t>bloque_io</a:t>
            </a:r>
            <a:r>
              <a:rPr lang="en-US" sz="800" dirty="0">
                <a:latin typeface="Arial" panose="020B0604020202020204" pitchFamily="34" charset="0"/>
                <a:cs typeface="Arial" panose="020B0604020202020204" pitchFamily="34" charset="0"/>
              </a:rPr>
              <a:t>).</a:t>
            </a:r>
            <a:r>
              <a:rPr lang="en-US" sz="800" dirty="0" err="1">
                <a:latin typeface="Arial" panose="020B0604020202020204" pitchFamily="34" charset="0"/>
                <a:cs typeface="Arial" panose="020B0604020202020204" pitchFamily="34" charset="0"/>
              </a:rPr>
              <a:t>dmovex</a:t>
            </a:r>
            <a:r>
              <a:rPr lang="en-US" sz="800" dirty="0">
                <a:latin typeface="Arial" panose="020B0604020202020204" pitchFamily="34" charset="0"/>
                <a:cs typeface="Arial" panose="020B0604020202020204" pitchFamily="34" charset="0"/>
              </a:rPr>
              <a:t>(ancho - </a:t>
            </a:r>
            <a:r>
              <a:rPr lang="en-US" sz="800" dirty="0" err="1">
                <a:latin typeface="Arial" panose="020B0604020202020204" pitchFamily="34" charset="0"/>
                <a:cs typeface="Arial" panose="020B0604020202020204" pitchFamily="34" charset="0"/>
              </a:rPr>
              <a:t>margen</a:t>
            </a:r>
            <a:r>
              <a:rPr lang="en-US" sz="800" dirty="0">
                <a:latin typeface="Arial" panose="020B0604020202020204" pitchFamily="34" charset="0"/>
                <a:cs typeface="Arial" panose="020B0604020202020204" pitchFamily="34" charset="0"/>
              </a:rPr>
              <a:t>).</a:t>
            </a:r>
            <a:r>
              <a:rPr lang="en-US" sz="800" dirty="0" err="1">
                <a:latin typeface="Arial" panose="020B0604020202020204" pitchFamily="34" charset="0"/>
                <a:cs typeface="Arial" panose="020B0604020202020204" pitchFamily="34" charset="0"/>
              </a:rPr>
              <a:t>dmovey</a:t>
            </a:r>
            <a:r>
              <a:rPr lang="en-US" sz="800" dirty="0">
                <a:latin typeface="Arial" panose="020B0604020202020204" pitchFamily="34" charset="0"/>
                <a:cs typeface="Arial" panose="020B0604020202020204" pitchFamily="34" charset="0"/>
              </a:rPr>
              <a:t>(</a:t>
            </a:r>
            <a:r>
              <a:rPr lang="en-US" sz="800" dirty="0" err="1">
                <a:latin typeface="Arial" panose="020B0604020202020204" pitchFamily="34" charset="0"/>
                <a:cs typeface="Arial" panose="020B0604020202020204" pitchFamily="34" charset="0"/>
              </a:rPr>
              <a:t>margen</a:t>
            </a:r>
            <a:r>
              <a:rPr lang="en-US" sz="800" dirty="0">
                <a:latin typeface="Arial" panose="020B0604020202020204" pitchFamily="34" charset="0"/>
                <a:cs typeface="Arial" panose="020B0604020202020204" pitchFamily="34" charset="0"/>
              </a:rPr>
              <a:t>)  </a:t>
            </a:r>
          </a:p>
          <a:p>
            <a:pPr algn="just"/>
            <a:endParaRPr lang="en-US" sz="800" dirty="0">
              <a:latin typeface="Arial" panose="020B0604020202020204" pitchFamily="34" charset="0"/>
              <a:cs typeface="Arial" panose="020B0604020202020204" pitchFamily="34" charset="0"/>
            </a:endParaRPr>
          </a:p>
          <a:p>
            <a:pPr algn="just"/>
            <a:r>
              <a:rPr lang="en-US" sz="800" dirty="0">
                <a:latin typeface="Arial" panose="020B0604020202020204" pitchFamily="34" charset="0"/>
                <a:cs typeface="Arial" panose="020B0604020202020204" pitchFamily="34" charset="0"/>
              </a:rPr>
              <a:t>    # </a:t>
            </a:r>
            <a:r>
              <a:rPr lang="en-US" sz="800" dirty="0" err="1">
                <a:latin typeface="Arial" panose="020B0604020202020204" pitchFamily="34" charset="0"/>
                <a:cs typeface="Arial" panose="020B0604020202020204" pitchFamily="34" charset="0"/>
              </a:rPr>
              <a:t>Clasificación</a:t>
            </a:r>
            <a:r>
              <a:rPr lang="en-US" sz="800" dirty="0">
                <a:latin typeface="Arial" panose="020B0604020202020204" pitchFamily="34" charset="0"/>
                <a:cs typeface="Arial" panose="020B0604020202020204" pitchFamily="34" charset="0"/>
              </a:rPr>
              <a:t> y </a:t>
            </a:r>
            <a:r>
              <a:rPr lang="en-US" sz="800" dirty="0" err="1">
                <a:latin typeface="Arial" panose="020B0604020202020204" pitchFamily="34" charset="0"/>
                <a:cs typeface="Arial" panose="020B0604020202020204" pitchFamily="34" charset="0"/>
              </a:rPr>
              <a:t>renombramiento</a:t>
            </a:r>
            <a:r>
              <a:rPr lang="en-US" sz="800" dirty="0">
                <a:latin typeface="Arial" panose="020B0604020202020204" pitchFamily="34" charset="0"/>
                <a:cs typeface="Arial" panose="020B0604020202020204" pitchFamily="34" charset="0"/>
              </a:rPr>
              <a:t> de </a:t>
            </a:r>
            <a:r>
              <a:rPr lang="en-US" sz="800" dirty="0" err="1">
                <a:latin typeface="Arial" panose="020B0604020202020204" pitchFamily="34" charset="0"/>
                <a:cs typeface="Arial" panose="020B0604020202020204" pitchFamily="34" charset="0"/>
              </a:rPr>
              <a:t>puertos</a:t>
            </a:r>
            <a:r>
              <a:rPr lang="en-US" sz="800" dirty="0">
                <a:latin typeface="Arial" panose="020B0604020202020204" pitchFamily="34" charset="0"/>
                <a:cs typeface="Arial" panose="020B0604020202020204" pitchFamily="34" charset="0"/>
              </a:rPr>
              <a:t> a </a:t>
            </a:r>
            <a:r>
              <a:rPr lang="en-US" sz="800" dirty="0" err="1">
                <a:latin typeface="Arial" panose="020B0604020202020204" pitchFamily="34" charset="0"/>
                <a:cs typeface="Arial" panose="020B0604020202020204" pitchFamily="34" charset="0"/>
              </a:rPr>
              <a:t>IN_x</a:t>
            </a:r>
            <a:r>
              <a:rPr lang="en-US" sz="800" dirty="0">
                <a:latin typeface="Arial" panose="020B0604020202020204" pitchFamily="34" charset="0"/>
                <a:cs typeface="Arial" panose="020B0604020202020204" pitchFamily="34" charset="0"/>
              </a:rPr>
              <a:t> y </a:t>
            </a:r>
            <a:r>
              <a:rPr lang="en-US" sz="800" dirty="0" err="1">
                <a:latin typeface="Arial" panose="020B0604020202020204" pitchFamily="34" charset="0"/>
                <a:cs typeface="Arial" panose="020B0604020202020204" pitchFamily="34" charset="0"/>
              </a:rPr>
              <a:t>OUT_x</a:t>
            </a:r>
            <a:endParaRPr lang="en-US" sz="800" dirty="0">
              <a:latin typeface="Arial" panose="020B0604020202020204" pitchFamily="34" charset="0"/>
              <a:cs typeface="Arial" panose="020B0604020202020204" pitchFamily="34" charset="0"/>
            </a:endParaRPr>
          </a:p>
          <a:p>
            <a:pPr algn="just"/>
            <a:r>
              <a:rPr lang="en-US" sz="800" dirty="0">
                <a:latin typeface="Arial" panose="020B0604020202020204" pitchFamily="34" charset="0"/>
                <a:cs typeface="Arial" panose="020B0604020202020204" pitchFamily="34" charset="0"/>
              </a:rPr>
              <a:t>    </a:t>
            </a:r>
            <a:r>
              <a:rPr lang="en-US" sz="800" dirty="0" err="1">
                <a:latin typeface="Arial" panose="020B0604020202020204" pitchFamily="34" charset="0"/>
                <a:cs typeface="Arial" panose="020B0604020202020204" pitchFamily="34" charset="0"/>
              </a:rPr>
              <a:t>p_in</a:t>
            </a:r>
            <a:r>
              <a:rPr lang="en-US" sz="800" dirty="0">
                <a:latin typeface="Arial" panose="020B0604020202020204" pitchFamily="34" charset="0"/>
                <a:cs typeface="Arial" panose="020B0604020202020204" pitchFamily="34" charset="0"/>
              </a:rPr>
              <a:t> = sorted([p for p in </a:t>
            </a:r>
            <a:r>
              <a:rPr lang="en-US" sz="800" dirty="0" err="1">
                <a:latin typeface="Arial" panose="020B0604020202020204" pitchFamily="34" charset="0"/>
                <a:cs typeface="Arial" panose="020B0604020202020204" pitchFamily="34" charset="0"/>
              </a:rPr>
              <a:t>entradas.ports</a:t>
            </a:r>
            <a:r>
              <a:rPr lang="en-US" sz="800" dirty="0">
                <a:latin typeface="Arial" panose="020B0604020202020204" pitchFamily="34" charset="0"/>
                <a:cs typeface="Arial" panose="020B0604020202020204" pitchFamily="34" charset="0"/>
              </a:rPr>
              <a:t> if </a:t>
            </a:r>
            <a:r>
              <a:rPr lang="en-US" sz="800" dirty="0" err="1">
                <a:latin typeface="Arial" panose="020B0604020202020204" pitchFamily="34" charset="0"/>
                <a:cs typeface="Arial" panose="020B0604020202020204" pitchFamily="34" charset="0"/>
              </a:rPr>
              <a:t>p.orientation</a:t>
            </a:r>
            <a:r>
              <a:rPr lang="en-US" sz="800" dirty="0">
                <a:latin typeface="Arial" panose="020B0604020202020204" pitchFamily="34" charset="0"/>
                <a:cs typeface="Arial" panose="020B0604020202020204" pitchFamily="34" charset="0"/>
              </a:rPr>
              <a:t> == 0], key=lambda p: </a:t>
            </a:r>
            <a:r>
              <a:rPr lang="en-US" sz="800" dirty="0" err="1">
                <a:latin typeface="Arial" panose="020B0604020202020204" pitchFamily="34" charset="0"/>
                <a:cs typeface="Arial" panose="020B0604020202020204" pitchFamily="34" charset="0"/>
              </a:rPr>
              <a:t>p.center</a:t>
            </a:r>
            <a:r>
              <a:rPr lang="en-US" sz="800" dirty="0">
                <a:latin typeface="Arial" panose="020B0604020202020204" pitchFamily="34" charset="0"/>
                <a:cs typeface="Arial" panose="020B0604020202020204" pitchFamily="34" charset="0"/>
              </a:rPr>
              <a:t>[1])</a:t>
            </a:r>
          </a:p>
          <a:p>
            <a:pPr algn="just"/>
            <a:r>
              <a:rPr lang="en-US" sz="800" dirty="0">
                <a:latin typeface="Arial" panose="020B0604020202020204" pitchFamily="34" charset="0"/>
                <a:cs typeface="Arial" panose="020B0604020202020204" pitchFamily="34" charset="0"/>
              </a:rPr>
              <a:t>    </a:t>
            </a:r>
            <a:r>
              <a:rPr lang="en-US" sz="800" dirty="0" err="1">
                <a:latin typeface="Arial" panose="020B0604020202020204" pitchFamily="34" charset="0"/>
                <a:cs typeface="Arial" panose="020B0604020202020204" pitchFamily="34" charset="0"/>
              </a:rPr>
              <a:t>p_out</a:t>
            </a:r>
            <a:r>
              <a:rPr lang="en-US" sz="800" dirty="0">
                <a:latin typeface="Arial" panose="020B0604020202020204" pitchFamily="34" charset="0"/>
                <a:cs typeface="Arial" panose="020B0604020202020204" pitchFamily="34" charset="0"/>
              </a:rPr>
              <a:t> = sorted([p for p in </a:t>
            </a:r>
            <a:r>
              <a:rPr lang="en-US" sz="800" dirty="0" err="1">
                <a:latin typeface="Arial" panose="020B0604020202020204" pitchFamily="34" charset="0"/>
                <a:cs typeface="Arial" panose="020B0604020202020204" pitchFamily="34" charset="0"/>
              </a:rPr>
              <a:t>salidas.ports</a:t>
            </a:r>
            <a:r>
              <a:rPr lang="en-US" sz="800" dirty="0">
                <a:latin typeface="Arial" panose="020B0604020202020204" pitchFamily="34" charset="0"/>
                <a:cs typeface="Arial" panose="020B0604020202020204" pitchFamily="34" charset="0"/>
              </a:rPr>
              <a:t> if </a:t>
            </a:r>
            <a:r>
              <a:rPr lang="en-US" sz="800" dirty="0" err="1">
                <a:latin typeface="Arial" panose="020B0604020202020204" pitchFamily="34" charset="0"/>
                <a:cs typeface="Arial" panose="020B0604020202020204" pitchFamily="34" charset="0"/>
              </a:rPr>
              <a:t>p.orientation</a:t>
            </a:r>
            <a:r>
              <a:rPr lang="en-US" sz="800" dirty="0">
                <a:latin typeface="Arial" panose="020B0604020202020204" pitchFamily="34" charset="0"/>
                <a:cs typeface="Arial" panose="020B0604020202020204" pitchFamily="34" charset="0"/>
              </a:rPr>
              <a:t> == 180], key=lambda p: </a:t>
            </a:r>
            <a:r>
              <a:rPr lang="en-US" sz="800" dirty="0" err="1">
                <a:latin typeface="Arial" panose="020B0604020202020204" pitchFamily="34" charset="0"/>
                <a:cs typeface="Arial" panose="020B0604020202020204" pitchFamily="34" charset="0"/>
              </a:rPr>
              <a:t>p.center</a:t>
            </a:r>
            <a:r>
              <a:rPr lang="en-US" sz="800" dirty="0">
                <a:latin typeface="Arial" panose="020B0604020202020204" pitchFamily="34" charset="0"/>
                <a:cs typeface="Arial" panose="020B0604020202020204" pitchFamily="34" charset="0"/>
              </a:rPr>
              <a:t>[1])</a:t>
            </a:r>
          </a:p>
          <a:p>
            <a:pPr algn="just"/>
            <a:r>
              <a:rPr lang="en-US" sz="800" dirty="0">
                <a:latin typeface="Arial" panose="020B0604020202020204" pitchFamily="34" charset="0"/>
                <a:cs typeface="Arial" panose="020B0604020202020204" pitchFamily="34" charset="0"/>
              </a:rPr>
              <a:t>    </a:t>
            </a:r>
          </a:p>
          <a:p>
            <a:pPr algn="just"/>
            <a:r>
              <a:rPr lang="en-US" sz="800" dirty="0">
                <a:latin typeface="Arial" panose="020B0604020202020204" pitchFamily="34" charset="0"/>
                <a:cs typeface="Arial" panose="020B0604020202020204" pitchFamily="34" charset="0"/>
              </a:rPr>
              <a:t>    for </a:t>
            </a:r>
            <a:r>
              <a:rPr lang="en-US" sz="800" dirty="0" err="1">
                <a:latin typeface="Arial" panose="020B0604020202020204" pitchFamily="34" charset="0"/>
                <a:cs typeface="Arial" panose="020B0604020202020204" pitchFamily="34" charset="0"/>
              </a:rPr>
              <a:t>i</a:t>
            </a:r>
            <a:r>
              <a:rPr lang="en-US" sz="800" dirty="0">
                <a:latin typeface="Arial" panose="020B0604020202020204" pitchFamily="34" charset="0"/>
                <a:cs typeface="Arial" panose="020B0604020202020204" pitchFamily="34" charset="0"/>
              </a:rPr>
              <a:t>, p in enumerate(</a:t>
            </a:r>
            <a:r>
              <a:rPr lang="en-US" sz="800" dirty="0" err="1">
                <a:latin typeface="Arial" panose="020B0604020202020204" pitchFamily="34" charset="0"/>
                <a:cs typeface="Arial" panose="020B0604020202020204" pitchFamily="34" charset="0"/>
              </a:rPr>
              <a:t>p_in</a:t>
            </a:r>
            <a:r>
              <a:rPr lang="en-US" sz="800" dirty="0">
                <a:latin typeface="Arial" panose="020B0604020202020204" pitchFamily="34" charset="0"/>
                <a:cs typeface="Arial" panose="020B0604020202020204" pitchFamily="34" charset="0"/>
              </a:rPr>
              <a:t>, start=1):</a:t>
            </a:r>
          </a:p>
          <a:p>
            <a:pPr algn="just"/>
            <a:r>
              <a:rPr lang="en-US" sz="800" dirty="0">
                <a:latin typeface="Arial" panose="020B0604020202020204" pitchFamily="34" charset="0"/>
                <a:cs typeface="Arial" panose="020B0604020202020204" pitchFamily="34" charset="0"/>
              </a:rPr>
              <a:t>        </a:t>
            </a:r>
            <a:r>
              <a:rPr lang="en-US" sz="800" dirty="0" err="1">
                <a:latin typeface="Arial" panose="020B0604020202020204" pitchFamily="34" charset="0"/>
                <a:cs typeface="Arial" panose="020B0604020202020204" pitchFamily="34" charset="0"/>
              </a:rPr>
              <a:t>c.add_port</a:t>
            </a:r>
            <a:r>
              <a:rPr lang="en-US" sz="800" dirty="0">
                <a:latin typeface="Arial" panose="020B0604020202020204" pitchFamily="34" charset="0"/>
                <a:cs typeface="Arial" panose="020B0604020202020204" pitchFamily="34" charset="0"/>
              </a:rPr>
              <a:t>(</a:t>
            </a:r>
            <a:r>
              <a:rPr lang="en-US" sz="800" dirty="0" err="1">
                <a:latin typeface="Arial" panose="020B0604020202020204" pitchFamily="34" charset="0"/>
                <a:cs typeface="Arial" panose="020B0604020202020204" pitchFamily="34" charset="0"/>
              </a:rPr>
              <a:t>f"IN</a:t>
            </a:r>
            <a:r>
              <a:rPr lang="en-US" sz="800" dirty="0">
                <a:latin typeface="Arial" panose="020B0604020202020204" pitchFamily="34" charset="0"/>
                <a:cs typeface="Arial" panose="020B0604020202020204" pitchFamily="34" charset="0"/>
              </a:rPr>
              <a:t>_{</a:t>
            </a:r>
            <a:r>
              <a:rPr lang="en-US" sz="800" dirty="0" err="1">
                <a:latin typeface="Arial" panose="020B0604020202020204" pitchFamily="34" charset="0"/>
                <a:cs typeface="Arial" panose="020B0604020202020204" pitchFamily="34" charset="0"/>
              </a:rPr>
              <a:t>i</a:t>
            </a:r>
            <a:r>
              <a:rPr lang="en-US" sz="800" dirty="0">
                <a:latin typeface="Arial" panose="020B0604020202020204" pitchFamily="34" charset="0"/>
                <a:cs typeface="Arial" panose="020B0604020202020204" pitchFamily="34" charset="0"/>
              </a:rPr>
              <a:t>}", port=p)</a:t>
            </a:r>
          </a:p>
          <a:p>
            <a:pPr algn="just"/>
            <a:r>
              <a:rPr lang="en-US" sz="800" dirty="0">
                <a:latin typeface="Arial" panose="020B0604020202020204" pitchFamily="34" charset="0"/>
                <a:cs typeface="Arial" panose="020B0604020202020204" pitchFamily="34" charset="0"/>
              </a:rPr>
              <a:t>    for </a:t>
            </a:r>
            <a:r>
              <a:rPr lang="en-US" sz="800" dirty="0" err="1">
                <a:latin typeface="Arial" panose="020B0604020202020204" pitchFamily="34" charset="0"/>
                <a:cs typeface="Arial" panose="020B0604020202020204" pitchFamily="34" charset="0"/>
              </a:rPr>
              <a:t>i</a:t>
            </a:r>
            <a:r>
              <a:rPr lang="en-US" sz="800" dirty="0">
                <a:latin typeface="Arial" panose="020B0604020202020204" pitchFamily="34" charset="0"/>
                <a:cs typeface="Arial" panose="020B0604020202020204" pitchFamily="34" charset="0"/>
              </a:rPr>
              <a:t>, p in enumerate(</a:t>
            </a:r>
            <a:r>
              <a:rPr lang="en-US" sz="800" dirty="0" err="1">
                <a:latin typeface="Arial" panose="020B0604020202020204" pitchFamily="34" charset="0"/>
                <a:cs typeface="Arial" panose="020B0604020202020204" pitchFamily="34" charset="0"/>
              </a:rPr>
              <a:t>p_out</a:t>
            </a:r>
            <a:r>
              <a:rPr lang="en-US" sz="800" dirty="0">
                <a:latin typeface="Arial" panose="020B0604020202020204" pitchFamily="34" charset="0"/>
                <a:cs typeface="Arial" panose="020B0604020202020204" pitchFamily="34" charset="0"/>
              </a:rPr>
              <a:t>, start=1):</a:t>
            </a:r>
          </a:p>
          <a:p>
            <a:pPr algn="just"/>
            <a:r>
              <a:rPr lang="en-US" sz="800" dirty="0">
                <a:latin typeface="Arial" panose="020B0604020202020204" pitchFamily="34" charset="0"/>
                <a:cs typeface="Arial" panose="020B0604020202020204" pitchFamily="34" charset="0"/>
              </a:rPr>
              <a:t>        </a:t>
            </a:r>
            <a:r>
              <a:rPr lang="en-US" sz="800" dirty="0" err="1">
                <a:latin typeface="Arial" panose="020B0604020202020204" pitchFamily="34" charset="0"/>
                <a:cs typeface="Arial" panose="020B0604020202020204" pitchFamily="34" charset="0"/>
              </a:rPr>
              <a:t>c.add_port</a:t>
            </a:r>
            <a:r>
              <a:rPr lang="en-US" sz="800" dirty="0">
                <a:latin typeface="Arial" panose="020B0604020202020204" pitchFamily="34" charset="0"/>
                <a:cs typeface="Arial" panose="020B0604020202020204" pitchFamily="34" charset="0"/>
              </a:rPr>
              <a:t>(</a:t>
            </a:r>
            <a:r>
              <a:rPr lang="en-US" sz="800" dirty="0" err="1">
                <a:latin typeface="Arial" panose="020B0604020202020204" pitchFamily="34" charset="0"/>
                <a:cs typeface="Arial" panose="020B0604020202020204" pitchFamily="34" charset="0"/>
              </a:rPr>
              <a:t>f"OUT</a:t>
            </a:r>
            <a:r>
              <a:rPr lang="en-US" sz="800" dirty="0">
                <a:latin typeface="Arial" panose="020B0604020202020204" pitchFamily="34" charset="0"/>
                <a:cs typeface="Arial" panose="020B0604020202020204" pitchFamily="34" charset="0"/>
              </a:rPr>
              <a:t>_{</a:t>
            </a:r>
            <a:r>
              <a:rPr lang="en-US" sz="800" dirty="0" err="1">
                <a:latin typeface="Arial" panose="020B0604020202020204" pitchFamily="34" charset="0"/>
                <a:cs typeface="Arial" panose="020B0604020202020204" pitchFamily="34" charset="0"/>
              </a:rPr>
              <a:t>i</a:t>
            </a:r>
            <a:r>
              <a:rPr lang="en-US" sz="800" dirty="0">
                <a:latin typeface="Arial" panose="020B0604020202020204" pitchFamily="34" charset="0"/>
                <a:cs typeface="Arial" panose="020B0604020202020204" pitchFamily="34" charset="0"/>
              </a:rPr>
              <a:t>}", port=p)</a:t>
            </a:r>
          </a:p>
          <a:p>
            <a:pPr algn="just"/>
            <a:r>
              <a:rPr lang="en-US" sz="800" dirty="0">
                <a:latin typeface="Arial" panose="020B0604020202020204" pitchFamily="34" charset="0"/>
                <a:cs typeface="Arial" panose="020B0604020202020204" pitchFamily="34" charset="0"/>
              </a:rPr>
              <a:t>        </a:t>
            </a:r>
          </a:p>
          <a:p>
            <a:pPr algn="just"/>
            <a:r>
              <a:rPr lang="en-US" sz="800" dirty="0">
                <a:latin typeface="Arial" panose="020B0604020202020204" pitchFamily="34" charset="0"/>
                <a:cs typeface="Arial" panose="020B0604020202020204" pitchFamily="34" charset="0"/>
              </a:rPr>
              <a:t>    return c</a:t>
            </a:r>
          </a:p>
          <a:p>
            <a:pPr algn="just"/>
            <a:endParaRPr lang="en-US" sz="800" dirty="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047F068D-B382-10CC-0A83-234D0CE22267}"/>
              </a:ext>
            </a:extLst>
          </p:cNvPr>
          <p:cNvSpPr/>
          <p:nvPr/>
        </p:nvSpPr>
        <p:spPr>
          <a:xfrm>
            <a:off x="6327058" y="103314"/>
            <a:ext cx="5638799" cy="6068885"/>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uadroTexto 3">
            <a:extLst>
              <a:ext uri="{FF2B5EF4-FFF2-40B4-BE49-F238E27FC236}">
                <a16:creationId xmlns:a16="http://schemas.microsoft.com/office/drawing/2014/main" id="{09E92075-86B5-634A-8BC8-17EAD2408ACF}"/>
              </a:ext>
            </a:extLst>
          </p:cNvPr>
          <p:cNvSpPr txBox="1"/>
          <p:nvPr/>
        </p:nvSpPr>
        <p:spPr>
          <a:xfrm>
            <a:off x="6508955" y="0"/>
            <a:ext cx="4846198" cy="6647974"/>
          </a:xfrm>
          <a:prstGeom prst="rect">
            <a:avLst/>
          </a:prstGeom>
          <a:noFill/>
        </p:spPr>
        <p:txBody>
          <a:bodyPr wrap="none" rtlCol="0">
            <a:spAutoFit/>
          </a:bodyPr>
          <a:lstStyle/>
          <a:p>
            <a:r>
              <a:rPr lang="es-ES" sz="800" dirty="0"/>
              <a:t># =================================================================</a:t>
            </a:r>
          </a:p>
          <a:p>
            <a:r>
              <a:rPr lang="es-ES" sz="800" dirty="0"/>
              <a:t># PARTE C: ENSAMBLAJE FINAL Y ENRUTAMIENTO (FLOORPLANNING)</a:t>
            </a:r>
          </a:p>
          <a:p>
            <a:r>
              <a:rPr lang="es-ES" sz="800" dirty="0"/>
              <a:t># =================================================================</a:t>
            </a:r>
          </a:p>
          <a:p>
            <a:endParaRPr lang="es-ES" sz="800" dirty="0"/>
          </a:p>
          <a:p>
            <a:r>
              <a:rPr lang="es-ES" sz="800" dirty="0"/>
              <a:t>@gf.cell</a:t>
            </a:r>
          </a:p>
          <a:p>
            <a:r>
              <a:rPr lang="es-ES" sz="800" dirty="0" err="1"/>
              <a:t>def</a:t>
            </a:r>
            <a:r>
              <a:rPr lang="es-ES" sz="800" dirty="0"/>
              <a:t> </a:t>
            </a:r>
            <a:r>
              <a:rPr lang="es-ES" sz="800" dirty="0" err="1"/>
              <a:t>ensamblar_chip_completo</a:t>
            </a:r>
            <a:r>
              <a:rPr lang="es-ES" sz="800" dirty="0"/>
              <a:t>():</a:t>
            </a:r>
          </a:p>
          <a:p>
            <a:r>
              <a:rPr lang="es-ES" sz="800" dirty="0"/>
              <a:t>    chip = </a:t>
            </a:r>
            <a:r>
              <a:rPr lang="es-ES" sz="800" dirty="0" err="1"/>
              <a:t>gf.Component</a:t>
            </a:r>
            <a:r>
              <a:rPr lang="es-ES" sz="800" dirty="0"/>
              <a:t>("</a:t>
            </a:r>
            <a:r>
              <a:rPr lang="es-ES" sz="800" dirty="0" err="1"/>
              <a:t>Diseno_Final_Laboratorio</a:t>
            </a:r>
            <a:r>
              <a:rPr lang="es-ES" sz="800" dirty="0"/>
              <a:t>")</a:t>
            </a:r>
          </a:p>
          <a:p>
            <a:r>
              <a:rPr lang="es-ES" sz="800" dirty="0"/>
              <a:t>    </a:t>
            </a:r>
          </a:p>
          <a:p>
            <a:r>
              <a:rPr lang="es-ES" sz="800" dirty="0"/>
              <a:t>    # 1. Instanciamos el dado</a:t>
            </a:r>
          </a:p>
          <a:p>
            <a:r>
              <a:rPr lang="es-ES" sz="800" dirty="0"/>
              <a:t>    L_CHIP = 10000 </a:t>
            </a:r>
          </a:p>
          <a:p>
            <a:r>
              <a:rPr lang="es-ES" sz="800" dirty="0"/>
              <a:t>    W_CHIP = 5000  </a:t>
            </a:r>
          </a:p>
          <a:p>
            <a:r>
              <a:rPr lang="es-ES" sz="800" dirty="0"/>
              <a:t>    die = chip &lt;&lt; </a:t>
            </a:r>
            <a:r>
              <a:rPr lang="es-ES" sz="800" dirty="0" err="1"/>
              <a:t>generar_troquel_optico</a:t>
            </a:r>
            <a:r>
              <a:rPr lang="es-ES" sz="800" dirty="0"/>
              <a:t>(largo=L_CHIP, ancho=W_CHIP, margen=125, pitch=250)</a:t>
            </a:r>
          </a:p>
          <a:p>
            <a:endParaRPr lang="es-ES" sz="800" dirty="0"/>
          </a:p>
          <a:p>
            <a:r>
              <a:rPr lang="es-ES" sz="800" dirty="0"/>
              <a:t>    # 2. Guías rectas de calibración (3 sets de 3)</a:t>
            </a:r>
          </a:p>
          <a:p>
            <a:r>
              <a:rPr lang="es-ES" sz="800" dirty="0"/>
              <a:t>    </a:t>
            </a:r>
            <a:r>
              <a:rPr lang="es-ES" sz="800" dirty="0" err="1"/>
              <a:t>puertos_calibracion</a:t>
            </a:r>
            <a:r>
              <a:rPr lang="es-ES" sz="800" dirty="0"/>
              <a:t> = [2, 3, 4, 18, 19, 20, 35, 36, 37]</a:t>
            </a:r>
          </a:p>
          <a:p>
            <a:r>
              <a:rPr lang="es-ES" sz="800" dirty="0"/>
              <a:t>    </a:t>
            </a:r>
            <a:r>
              <a:rPr lang="es-ES" sz="800" dirty="0" err="1"/>
              <a:t>longitud_guia</a:t>
            </a:r>
            <a:r>
              <a:rPr lang="es-ES" sz="800" dirty="0"/>
              <a:t> = W_CHIP - (125 * 2) </a:t>
            </a:r>
          </a:p>
          <a:p>
            <a:endParaRPr lang="es-ES" sz="800" dirty="0"/>
          </a:p>
          <a:p>
            <a:r>
              <a:rPr lang="es-ES" sz="800" dirty="0"/>
              <a:t>    </a:t>
            </a:r>
            <a:r>
              <a:rPr lang="es-ES" sz="800" dirty="0" err="1"/>
              <a:t>for</a:t>
            </a:r>
            <a:r>
              <a:rPr lang="es-ES" sz="800" dirty="0"/>
              <a:t> p in </a:t>
            </a:r>
            <a:r>
              <a:rPr lang="es-ES" sz="800" dirty="0" err="1"/>
              <a:t>puertos_calibracion</a:t>
            </a:r>
            <a:r>
              <a:rPr lang="es-ES" sz="800" dirty="0"/>
              <a:t>:</a:t>
            </a:r>
          </a:p>
          <a:p>
            <a:r>
              <a:rPr lang="es-ES" sz="800" dirty="0"/>
              <a:t>        </a:t>
            </a:r>
            <a:r>
              <a:rPr lang="es-ES" sz="800" dirty="0" err="1"/>
              <a:t>guia_recta</a:t>
            </a:r>
            <a:r>
              <a:rPr lang="es-ES" sz="800" dirty="0"/>
              <a:t> = chip &lt;&lt; </a:t>
            </a:r>
            <a:r>
              <a:rPr lang="es-ES" sz="800" dirty="0" err="1"/>
              <a:t>gf.components.straight</a:t>
            </a:r>
            <a:r>
              <a:rPr lang="es-ES" sz="800" dirty="0"/>
              <a:t>(</a:t>
            </a:r>
            <a:r>
              <a:rPr lang="es-ES" sz="800" dirty="0" err="1"/>
              <a:t>length</a:t>
            </a:r>
            <a:r>
              <a:rPr lang="es-ES" sz="800" dirty="0"/>
              <a:t>=</a:t>
            </a:r>
            <a:r>
              <a:rPr lang="es-ES" sz="800" dirty="0" err="1"/>
              <a:t>longitud_guia</a:t>
            </a:r>
            <a:r>
              <a:rPr lang="es-ES" sz="800" dirty="0"/>
              <a:t>, </a:t>
            </a:r>
            <a:r>
              <a:rPr lang="es-ES" sz="800" dirty="0" err="1"/>
              <a:t>cross_section</a:t>
            </a:r>
            <a:r>
              <a:rPr lang="es-ES" sz="800" dirty="0"/>
              <a:t>=</a:t>
            </a:r>
            <a:r>
              <a:rPr lang="es-ES" sz="800" dirty="0" err="1"/>
              <a:t>seccion_io</a:t>
            </a:r>
            <a:r>
              <a:rPr lang="es-ES" sz="800" dirty="0"/>
              <a:t>)</a:t>
            </a:r>
          </a:p>
          <a:p>
            <a:r>
              <a:rPr lang="es-ES" sz="800" dirty="0"/>
              <a:t>        </a:t>
            </a:r>
            <a:r>
              <a:rPr lang="es-ES" sz="800" dirty="0" err="1"/>
              <a:t>guia_recta.connect</a:t>
            </a:r>
            <a:r>
              <a:rPr lang="es-ES" sz="800" dirty="0"/>
              <a:t>("o1", </a:t>
            </a:r>
            <a:r>
              <a:rPr lang="es-ES" sz="800" dirty="0" err="1"/>
              <a:t>die.ports</a:t>
            </a:r>
            <a:r>
              <a:rPr lang="es-ES" sz="800" dirty="0"/>
              <a:t>[</a:t>
            </a:r>
            <a:r>
              <a:rPr lang="es-ES" sz="800" dirty="0" err="1"/>
              <a:t>f'IN</a:t>
            </a:r>
            <a:r>
              <a:rPr lang="es-ES" sz="800" dirty="0"/>
              <a:t>_{p}'], </a:t>
            </a:r>
            <a:r>
              <a:rPr lang="es-ES" sz="800" dirty="0" err="1"/>
              <a:t>allow_width_mismatch</a:t>
            </a:r>
            <a:r>
              <a:rPr lang="es-ES" sz="800" dirty="0"/>
              <a:t>=True)</a:t>
            </a:r>
          </a:p>
          <a:p>
            <a:endParaRPr lang="es-ES" sz="800" dirty="0"/>
          </a:p>
          <a:p>
            <a:r>
              <a:rPr lang="es-ES" sz="800" dirty="0"/>
              <a:t>    # =================================================================</a:t>
            </a:r>
          </a:p>
          <a:p>
            <a:r>
              <a:rPr lang="es-ES" sz="800" dirty="0"/>
              <a:t>    # 3. Instanciación de componentes</a:t>
            </a:r>
          </a:p>
          <a:p>
            <a:r>
              <a:rPr lang="es-ES" sz="800" dirty="0"/>
              <a:t>    # =================================================================</a:t>
            </a:r>
          </a:p>
          <a:p>
            <a:r>
              <a:rPr lang="es-ES" sz="800" dirty="0"/>
              <a:t>    </a:t>
            </a:r>
            <a:r>
              <a:rPr lang="es-ES" sz="800" dirty="0" err="1"/>
              <a:t>mzi_a</a:t>
            </a:r>
            <a:r>
              <a:rPr lang="es-ES" sz="800" dirty="0"/>
              <a:t> = chip &lt;&lt; mzi_unbalanced_2x2(</a:t>
            </a:r>
            <a:r>
              <a:rPr lang="es-ES" sz="800" dirty="0" err="1"/>
              <a:t>delta_length</a:t>
            </a:r>
            <a:r>
              <a:rPr lang="es-ES" sz="800" dirty="0"/>
              <a:t>=100.0)</a:t>
            </a:r>
          </a:p>
          <a:p>
            <a:r>
              <a:rPr lang="es-ES" sz="800" dirty="0"/>
              <a:t>    </a:t>
            </a:r>
            <a:r>
              <a:rPr lang="es-ES" sz="800" dirty="0" err="1"/>
              <a:t>mzi_b</a:t>
            </a:r>
            <a:r>
              <a:rPr lang="es-ES" sz="800" dirty="0"/>
              <a:t> = chip &lt;&lt; mzi_unbalanced_2x2(</a:t>
            </a:r>
            <a:r>
              <a:rPr lang="es-ES" sz="800" dirty="0" err="1"/>
              <a:t>delta_length</a:t>
            </a:r>
            <a:r>
              <a:rPr lang="es-ES" sz="800" dirty="0"/>
              <a:t>=300.0)</a:t>
            </a:r>
          </a:p>
          <a:p>
            <a:r>
              <a:rPr lang="es-ES" sz="800" dirty="0"/>
              <a:t>    </a:t>
            </a:r>
          </a:p>
          <a:p>
            <a:r>
              <a:rPr lang="es-ES" sz="800" dirty="0"/>
              <a:t>    </a:t>
            </a:r>
            <a:r>
              <a:rPr lang="es-ES" sz="800" dirty="0" err="1"/>
              <a:t>anillo_a</a:t>
            </a:r>
            <a:r>
              <a:rPr lang="es-ES" sz="800" dirty="0"/>
              <a:t> = chip &lt;&lt; </a:t>
            </a:r>
            <a:r>
              <a:rPr lang="es-ES" sz="800" dirty="0" err="1"/>
              <a:t>mi_anillo_all_pass</a:t>
            </a:r>
            <a:r>
              <a:rPr lang="es-ES" sz="800" dirty="0"/>
              <a:t>(</a:t>
            </a:r>
            <a:r>
              <a:rPr lang="es-ES" sz="800" dirty="0" err="1"/>
              <a:t>longitud_extra</a:t>
            </a:r>
            <a:r>
              <a:rPr lang="es-ES" sz="800" dirty="0"/>
              <a:t>=40.0)</a:t>
            </a:r>
          </a:p>
          <a:p>
            <a:r>
              <a:rPr lang="es-ES" sz="800" dirty="0"/>
              <a:t>    </a:t>
            </a:r>
            <a:r>
              <a:rPr lang="es-ES" sz="800" dirty="0" err="1"/>
              <a:t>anillo_b</a:t>
            </a:r>
            <a:r>
              <a:rPr lang="es-ES" sz="800" dirty="0"/>
              <a:t> = chip &lt;&lt; </a:t>
            </a:r>
            <a:r>
              <a:rPr lang="es-ES" sz="800" dirty="0" err="1"/>
              <a:t>mi_anillo_all_pass</a:t>
            </a:r>
            <a:r>
              <a:rPr lang="es-ES" sz="800" dirty="0"/>
              <a:t>(</a:t>
            </a:r>
            <a:r>
              <a:rPr lang="es-ES" sz="800" dirty="0" err="1"/>
              <a:t>longitud_extra</a:t>
            </a:r>
            <a:r>
              <a:rPr lang="es-ES" sz="800" dirty="0"/>
              <a:t>=300.0)</a:t>
            </a:r>
          </a:p>
          <a:p>
            <a:r>
              <a:rPr lang="es-ES" sz="800" dirty="0"/>
              <a:t>    </a:t>
            </a:r>
          </a:p>
          <a:p>
            <a:r>
              <a:rPr lang="es-ES" sz="800" dirty="0"/>
              <a:t>    # ¡CORRECCIÓN AQUÍ! Longitudes válidas para las espirales</a:t>
            </a:r>
          </a:p>
          <a:p>
            <a:r>
              <a:rPr lang="es-ES" sz="800" dirty="0"/>
              <a:t>    </a:t>
            </a:r>
            <a:r>
              <a:rPr lang="es-ES" sz="800" dirty="0" err="1"/>
              <a:t>espiral_a</a:t>
            </a:r>
            <a:r>
              <a:rPr lang="es-ES" sz="800" dirty="0"/>
              <a:t> = chip &lt;&lt; </a:t>
            </a:r>
            <a:r>
              <a:rPr lang="es-ES" sz="800" dirty="0" err="1"/>
              <a:t>mi_espiral_personalizada</a:t>
            </a:r>
            <a:r>
              <a:rPr lang="es-ES" sz="800" dirty="0"/>
              <a:t>(</a:t>
            </a:r>
            <a:r>
              <a:rPr lang="es-ES" sz="800" dirty="0" err="1"/>
              <a:t>length</a:t>
            </a:r>
            <a:r>
              <a:rPr lang="es-ES" sz="800" dirty="0"/>
              <a:t>=1000.0)</a:t>
            </a:r>
          </a:p>
          <a:p>
            <a:r>
              <a:rPr lang="es-ES" sz="800" dirty="0"/>
              <a:t>    </a:t>
            </a:r>
            <a:r>
              <a:rPr lang="es-ES" sz="800" dirty="0" err="1"/>
              <a:t>espiral_b</a:t>
            </a:r>
            <a:r>
              <a:rPr lang="es-ES" sz="800" dirty="0"/>
              <a:t> = chip &lt;&lt; </a:t>
            </a:r>
            <a:r>
              <a:rPr lang="es-ES" sz="800" dirty="0" err="1"/>
              <a:t>mi_espiral_personalizada</a:t>
            </a:r>
            <a:r>
              <a:rPr lang="es-ES" sz="800" dirty="0"/>
              <a:t>(</a:t>
            </a:r>
            <a:r>
              <a:rPr lang="es-ES" sz="800" dirty="0" err="1"/>
              <a:t>length</a:t>
            </a:r>
            <a:r>
              <a:rPr lang="es-ES" sz="800" dirty="0"/>
              <a:t>=1400.0)</a:t>
            </a:r>
          </a:p>
          <a:p>
            <a:endParaRPr lang="es-ES" sz="800" dirty="0"/>
          </a:p>
          <a:p>
            <a:r>
              <a:rPr lang="es-ES" sz="800" dirty="0"/>
              <a:t>    # =================================================================</a:t>
            </a:r>
          </a:p>
          <a:p>
            <a:r>
              <a:rPr lang="es-ES" sz="800" dirty="0"/>
              <a:t>    # 4. Alineación Matemática Automatizada</a:t>
            </a:r>
          </a:p>
          <a:p>
            <a:r>
              <a:rPr lang="es-ES" sz="800" dirty="0"/>
              <a:t>    # =================================================================</a:t>
            </a:r>
          </a:p>
          <a:p>
            <a:r>
              <a:rPr lang="es-ES" sz="800" dirty="0"/>
              <a:t>    </a:t>
            </a:r>
            <a:r>
              <a:rPr lang="es-ES" sz="800" dirty="0" err="1"/>
              <a:t>centro_x</a:t>
            </a:r>
            <a:r>
              <a:rPr lang="es-ES" sz="800" dirty="0"/>
              <a:t> = W_CHIP / 2</a:t>
            </a:r>
          </a:p>
          <a:p>
            <a:r>
              <a:rPr lang="es-ES" sz="800" dirty="0"/>
              <a:t>    </a:t>
            </a:r>
            <a:r>
              <a:rPr lang="es-ES" sz="800" dirty="0" err="1"/>
              <a:t>for</a:t>
            </a:r>
            <a:r>
              <a:rPr lang="es-ES" sz="800" dirty="0"/>
              <a:t> componente in [</a:t>
            </a:r>
            <a:r>
              <a:rPr lang="es-ES" sz="800" dirty="0" err="1"/>
              <a:t>mzi_a</a:t>
            </a:r>
            <a:r>
              <a:rPr lang="es-ES" sz="800" dirty="0"/>
              <a:t>, </a:t>
            </a:r>
            <a:r>
              <a:rPr lang="es-ES" sz="800" dirty="0" err="1"/>
              <a:t>mzi_b</a:t>
            </a:r>
            <a:r>
              <a:rPr lang="es-ES" sz="800" dirty="0"/>
              <a:t>, </a:t>
            </a:r>
            <a:r>
              <a:rPr lang="es-ES" sz="800" dirty="0" err="1"/>
              <a:t>anillo_a</a:t>
            </a:r>
            <a:r>
              <a:rPr lang="es-ES" sz="800" dirty="0"/>
              <a:t>, </a:t>
            </a:r>
            <a:r>
              <a:rPr lang="es-ES" sz="800" dirty="0" err="1"/>
              <a:t>anillo_b</a:t>
            </a:r>
            <a:r>
              <a:rPr lang="es-ES" sz="800" dirty="0"/>
              <a:t>, </a:t>
            </a:r>
            <a:r>
              <a:rPr lang="es-ES" sz="800" dirty="0" err="1"/>
              <a:t>espiral_a</a:t>
            </a:r>
            <a:r>
              <a:rPr lang="es-ES" sz="800" dirty="0"/>
              <a:t>, </a:t>
            </a:r>
            <a:r>
              <a:rPr lang="es-ES" sz="800" dirty="0" err="1"/>
              <a:t>espiral_b</a:t>
            </a:r>
            <a:r>
              <a:rPr lang="es-ES" sz="800" dirty="0"/>
              <a:t>]:</a:t>
            </a:r>
          </a:p>
          <a:p>
            <a:r>
              <a:rPr lang="es-ES" sz="800" dirty="0"/>
              <a:t>        </a:t>
            </a:r>
            <a:r>
              <a:rPr lang="es-ES" sz="800" dirty="0" err="1"/>
              <a:t>componente.dmovex</a:t>
            </a:r>
            <a:r>
              <a:rPr lang="es-ES" sz="800" dirty="0"/>
              <a:t>(</a:t>
            </a:r>
            <a:r>
              <a:rPr lang="es-ES" sz="800" dirty="0" err="1"/>
              <a:t>centro_x</a:t>
            </a:r>
            <a:r>
              <a:rPr lang="es-ES" sz="800" dirty="0"/>
              <a:t> - </a:t>
            </a:r>
            <a:r>
              <a:rPr lang="es-ES" sz="800" dirty="0" err="1"/>
              <a:t>componente.x</a:t>
            </a:r>
            <a:r>
              <a:rPr lang="es-ES" sz="800" dirty="0"/>
              <a:t>)</a:t>
            </a:r>
          </a:p>
          <a:p>
            <a:endParaRPr lang="es-ES" sz="800" dirty="0"/>
          </a:p>
          <a:p>
            <a:r>
              <a:rPr lang="es-ES" sz="800" dirty="0"/>
              <a:t>    # ¡CORRECCIÓN AQUÍ! Usando 'o1' en lugar de 'in0' para el anillo</a:t>
            </a:r>
          </a:p>
          <a:p>
            <a:r>
              <a:rPr lang="es-ES" sz="800" dirty="0"/>
              <a:t>    </a:t>
            </a:r>
            <a:r>
              <a:rPr lang="es-ES" sz="800" dirty="0" err="1"/>
              <a:t>anillo_a.dmovey</a:t>
            </a:r>
            <a:r>
              <a:rPr lang="es-ES" sz="800" dirty="0"/>
              <a:t>(</a:t>
            </a:r>
            <a:r>
              <a:rPr lang="es-ES" sz="800" dirty="0" err="1"/>
              <a:t>die.ports</a:t>
            </a:r>
            <a:r>
              <a:rPr lang="es-ES" sz="800" dirty="0"/>
              <a:t>['IN_13'].y - </a:t>
            </a:r>
            <a:r>
              <a:rPr lang="es-ES" sz="800" dirty="0" err="1"/>
              <a:t>anillo_a.ports</a:t>
            </a:r>
            <a:r>
              <a:rPr lang="es-ES" sz="800" dirty="0"/>
              <a:t>['o1'].y)</a:t>
            </a:r>
          </a:p>
          <a:p>
            <a:r>
              <a:rPr lang="es-ES" sz="800" dirty="0"/>
              <a:t>    </a:t>
            </a:r>
            <a:r>
              <a:rPr lang="es-ES" sz="800" dirty="0" err="1"/>
              <a:t>anillo_b.dmovey</a:t>
            </a:r>
            <a:r>
              <a:rPr lang="es-ES" sz="800" dirty="0"/>
              <a:t>(</a:t>
            </a:r>
            <a:r>
              <a:rPr lang="es-ES" sz="800" dirty="0" err="1"/>
              <a:t>die.ports</a:t>
            </a:r>
            <a:r>
              <a:rPr lang="es-ES" sz="800" dirty="0"/>
              <a:t>['IN_15'].y - </a:t>
            </a:r>
            <a:r>
              <a:rPr lang="es-ES" sz="800" dirty="0" err="1"/>
              <a:t>anillo_b.ports</a:t>
            </a:r>
            <a:r>
              <a:rPr lang="es-ES" sz="800" dirty="0"/>
              <a:t>['o1'].y)</a:t>
            </a:r>
          </a:p>
          <a:p>
            <a:r>
              <a:rPr lang="es-ES" sz="800" dirty="0"/>
              <a:t>    </a:t>
            </a:r>
          </a:p>
          <a:p>
            <a:r>
              <a:rPr lang="es-ES" sz="800" dirty="0"/>
              <a:t>    </a:t>
            </a:r>
            <a:r>
              <a:rPr lang="es-ES" sz="800" dirty="0" err="1"/>
              <a:t>espiral_a.dmovey</a:t>
            </a:r>
            <a:r>
              <a:rPr lang="es-ES" sz="800" dirty="0"/>
              <a:t>(</a:t>
            </a:r>
            <a:r>
              <a:rPr lang="es-ES" sz="800" dirty="0" err="1"/>
              <a:t>die.ports</a:t>
            </a:r>
            <a:r>
              <a:rPr lang="es-ES" sz="800" dirty="0"/>
              <a:t>['IN_24'].y - </a:t>
            </a:r>
            <a:r>
              <a:rPr lang="es-ES" sz="800" dirty="0" err="1"/>
              <a:t>espiral_a.ports</a:t>
            </a:r>
            <a:r>
              <a:rPr lang="es-ES" sz="800" dirty="0"/>
              <a:t>['o1'].y)</a:t>
            </a:r>
          </a:p>
          <a:p>
            <a:r>
              <a:rPr lang="es-ES" sz="800" dirty="0"/>
              <a:t>    </a:t>
            </a:r>
            <a:r>
              <a:rPr lang="es-ES" sz="800" dirty="0" err="1"/>
              <a:t>espiral_b.dmovey</a:t>
            </a:r>
            <a:r>
              <a:rPr lang="es-ES" sz="800" dirty="0"/>
              <a:t>(</a:t>
            </a:r>
            <a:r>
              <a:rPr lang="es-ES" sz="800" dirty="0" err="1"/>
              <a:t>die.ports</a:t>
            </a:r>
            <a:r>
              <a:rPr lang="es-ES" sz="800" dirty="0"/>
              <a:t>['IN_26'].y - </a:t>
            </a:r>
            <a:r>
              <a:rPr lang="es-ES" sz="800" dirty="0" err="1"/>
              <a:t>espiral_b.ports</a:t>
            </a:r>
            <a:r>
              <a:rPr lang="es-ES" sz="800" dirty="0"/>
              <a:t>['o1'].y)</a:t>
            </a:r>
          </a:p>
          <a:p>
            <a:endParaRPr lang="es-ES" sz="800" dirty="0"/>
          </a:p>
          <a:p>
            <a:r>
              <a:rPr lang="es-ES" sz="800" dirty="0"/>
              <a:t>    </a:t>
            </a:r>
            <a:r>
              <a:rPr lang="es-ES" sz="800" dirty="0" err="1"/>
              <a:t>mzi_a.dmovey</a:t>
            </a:r>
            <a:r>
              <a:rPr lang="es-ES" sz="800" dirty="0"/>
              <a:t>(((</a:t>
            </a:r>
            <a:r>
              <a:rPr lang="es-ES" sz="800" dirty="0" err="1"/>
              <a:t>die.ports</a:t>
            </a:r>
            <a:r>
              <a:rPr lang="es-ES" sz="800" dirty="0"/>
              <a:t>['IN_6'].y + </a:t>
            </a:r>
            <a:r>
              <a:rPr lang="es-ES" sz="800" dirty="0" err="1"/>
              <a:t>die.ports</a:t>
            </a:r>
            <a:r>
              <a:rPr lang="es-ES" sz="800" dirty="0"/>
              <a:t>['IN_7'].y) / 2) - ((</a:t>
            </a:r>
            <a:r>
              <a:rPr lang="es-ES" sz="800" dirty="0" err="1"/>
              <a:t>mzi_a.ports</a:t>
            </a:r>
            <a:r>
              <a:rPr lang="es-ES" sz="800" dirty="0"/>
              <a:t>['o1'].y + </a:t>
            </a:r>
            <a:r>
              <a:rPr lang="es-ES" sz="800" dirty="0" err="1"/>
              <a:t>mzi_a.ports</a:t>
            </a:r>
            <a:r>
              <a:rPr lang="es-ES" sz="800" dirty="0"/>
              <a:t>['o2'].y) / 2))</a:t>
            </a:r>
          </a:p>
          <a:p>
            <a:r>
              <a:rPr lang="es-ES" sz="800" dirty="0"/>
              <a:t>    </a:t>
            </a:r>
            <a:r>
              <a:rPr lang="es-ES" sz="800" dirty="0" err="1"/>
              <a:t>mzi_b.dmovey</a:t>
            </a:r>
            <a:r>
              <a:rPr lang="es-ES" sz="800" dirty="0"/>
              <a:t>(((</a:t>
            </a:r>
            <a:r>
              <a:rPr lang="es-ES" sz="800" dirty="0" err="1"/>
              <a:t>die.ports</a:t>
            </a:r>
            <a:r>
              <a:rPr lang="es-ES" sz="800" dirty="0"/>
              <a:t>['IN_9'].y + </a:t>
            </a:r>
            <a:r>
              <a:rPr lang="es-ES" sz="800" dirty="0" err="1"/>
              <a:t>die.ports</a:t>
            </a:r>
            <a:r>
              <a:rPr lang="es-ES" sz="800" dirty="0"/>
              <a:t>['IN_10'].y) / 2) - ((</a:t>
            </a:r>
            <a:r>
              <a:rPr lang="es-ES" sz="800" dirty="0" err="1"/>
              <a:t>mzi_b.ports</a:t>
            </a:r>
            <a:r>
              <a:rPr lang="es-ES" sz="800" dirty="0"/>
              <a:t>['o1'].y + </a:t>
            </a:r>
            <a:r>
              <a:rPr lang="es-ES" sz="800" dirty="0" err="1"/>
              <a:t>mzi_b.ports</a:t>
            </a:r>
            <a:r>
              <a:rPr lang="es-ES" sz="800" dirty="0"/>
              <a:t>['o2'].y) / 2))</a:t>
            </a:r>
          </a:p>
          <a:p>
            <a:endParaRPr lang="es-ES" sz="800" dirty="0"/>
          </a:p>
          <a:p>
            <a:endParaRPr lang="es-ES" dirty="0"/>
          </a:p>
        </p:txBody>
      </p:sp>
    </p:spTree>
    <p:extLst>
      <p:ext uri="{BB962C8B-B14F-4D97-AF65-F5344CB8AC3E}">
        <p14:creationId xmlns:p14="http://schemas.microsoft.com/office/powerpoint/2010/main" val="37132173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6F6F6-95F0-51B8-022F-B20173F83100}"/>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FBBFA8D-5E64-7B2B-8A0A-79D919480D87}"/>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#4 – Notebook section 4. Exercises – Part c) </a:t>
            </a:r>
            <a:endParaRPr sz="2500" b="0" i="1" dirty="0">
              <a:latin typeface="+mj-lt"/>
              <a:cs typeface="Lucida Sans"/>
            </a:endParaRPr>
          </a:p>
        </p:txBody>
      </p:sp>
      <p:pic>
        <p:nvPicPr>
          <p:cNvPr id="83" name="Gráfico 82">
            <a:extLst>
              <a:ext uri="{FF2B5EF4-FFF2-40B4-BE49-F238E27FC236}">
                <a16:creationId xmlns:a16="http://schemas.microsoft.com/office/drawing/2014/main" id="{28A8EFD2-3B0C-CE8E-607B-3A96A868180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C97826E-9C7B-62DF-D5C6-36A78ADE61FE}"/>
              </a:ext>
            </a:extLst>
          </p:cNvPr>
          <p:cNvSpPr>
            <a:spLocks noGrp="1"/>
          </p:cNvSpPr>
          <p:nvPr>
            <p:ph type="sldNum" sz="quarter" idx="7"/>
          </p:nvPr>
        </p:nvSpPr>
        <p:spPr/>
        <p:txBody>
          <a:bodyPr/>
          <a:lstStyle/>
          <a:p>
            <a:fld id="{B6F15528-21DE-4FAA-801E-634DDDAF4B2B}" type="slidenum">
              <a:rPr lang="es-ES" smtClean="0"/>
              <a:t>22</a:t>
            </a:fld>
            <a:endParaRPr lang="es-ES"/>
          </a:p>
        </p:txBody>
      </p:sp>
      <p:sp>
        <p:nvSpPr>
          <p:cNvPr id="3" name="Marcador de pie de página 2">
            <a:extLst>
              <a:ext uri="{FF2B5EF4-FFF2-40B4-BE49-F238E27FC236}">
                <a16:creationId xmlns:a16="http://schemas.microsoft.com/office/drawing/2014/main" id="{462BE06B-5682-3255-9F23-D49FF26B4169}"/>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7F81F145-1141-6275-A484-87A3B16C06F9}"/>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r>
              <a:rPr lang="es-ES" sz="900" dirty="0"/>
              <a:t> # =================================================================</a:t>
            </a:r>
          </a:p>
          <a:p>
            <a:r>
              <a:rPr lang="es-ES" sz="900" dirty="0"/>
              <a:t>    # 5. Enrutamiento Óptico</a:t>
            </a:r>
          </a:p>
          <a:p>
            <a:r>
              <a:rPr lang="es-ES" sz="900" dirty="0"/>
              <a:t>    # =================================================================</a:t>
            </a:r>
          </a:p>
          <a:p>
            <a:r>
              <a:rPr lang="es-ES" sz="900" dirty="0"/>
              <a:t>    # ¡CORRECCIÓN AQUÍ! Usando 'o1' y 'o2' en los anillos</a:t>
            </a:r>
          </a:p>
          <a:p>
            <a:r>
              <a:rPr lang="es-ES" sz="900" dirty="0"/>
              <a:t>    </a:t>
            </a:r>
            <a:r>
              <a:rPr lang="es-ES" sz="900" dirty="0" err="1"/>
              <a:t>rutas_a_crear</a:t>
            </a:r>
            <a:r>
              <a:rPr lang="es-ES" sz="900" dirty="0"/>
              <a:t> = [</a:t>
            </a:r>
          </a:p>
          <a:p>
            <a:r>
              <a:rPr lang="es-ES" sz="900" dirty="0"/>
              <a:t>        (</a:t>
            </a:r>
            <a:r>
              <a:rPr lang="es-ES" sz="900" dirty="0" err="1"/>
              <a:t>mzi_a.ports</a:t>
            </a:r>
            <a:r>
              <a:rPr lang="es-ES" sz="900" dirty="0"/>
              <a:t>['o1'], </a:t>
            </a:r>
            <a:r>
              <a:rPr lang="es-ES" sz="900" dirty="0" err="1"/>
              <a:t>die.ports</a:t>
            </a:r>
            <a:r>
              <a:rPr lang="es-ES" sz="900" dirty="0"/>
              <a:t>['IN_6']), (</a:t>
            </a:r>
            <a:r>
              <a:rPr lang="es-ES" sz="900" dirty="0" err="1"/>
              <a:t>mzi_a.ports</a:t>
            </a:r>
            <a:r>
              <a:rPr lang="es-ES" sz="900" dirty="0"/>
              <a:t>['o2'], </a:t>
            </a:r>
            <a:r>
              <a:rPr lang="es-ES" sz="900" dirty="0" err="1"/>
              <a:t>die.ports</a:t>
            </a:r>
            <a:r>
              <a:rPr lang="es-ES" sz="900" dirty="0"/>
              <a:t>['IN_7']),</a:t>
            </a:r>
          </a:p>
          <a:p>
            <a:r>
              <a:rPr lang="es-ES" sz="900" dirty="0"/>
              <a:t>        (</a:t>
            </a:r>
            <a:r>
              <a:rPr lang="es-ES" sz="900" dirty="0" err="1"/>
              <a:t>mzi_a.ports</a:t>
            </a:r>
            <a:r>
              <a:rPr lang="es-ES" sz="900" dirty="0"/>
              <a:t>['o4'], </a:t>
            </a:r>
            <a:r>
              <a:rPr lang="es-ES" sz="900" dirty="0" err="1"/>
              <a:t>die.ports</a:t>
            </a:r>
            <a:r>
              <a:rPr lang="es-ES" sz="900" dirty="0"/>
              <a:t>['OUT_6']), (</a:t>
            </a:r>
            <a:r>
              <a:rPr lang="es-ES" sz="900" dirty="0" err="1"/>
              <a:t>mzi_a.ports</a:t>
            </a:r>
            <a:r>
              <a:rPr lang="es-ES" sz="900" dirty="0"/>
              <a:t>['o3'], </a:t>
            </a:r>
            <a:r>
              <a:rPr lang="es-ES" sz="900" dirty="0" err="1"/>
              <a:t>die.ports</a:t>
            </a:r>
            <a:r>
              <a:rPr lang="es-ES" sz="900" dirty="0"/>
              <a:t>['OUT_7']),</a:t>
            </a:r>
          </a:p>
          <a:p>
            <a:r>
              <a:rPr lang="es-ES" sz="900" dirty="0"/>
              <a:t>        </a:t>
            </a:r>
          </a:p>
          <a:p>
            <a:r>
              <a:rPr lang="es-ES" sz="900" dirty="0"/>
              <a:t>        (</a:t>
            </a:r>
            <a:r>
              <a:rPr lang="es-ES" sz="900" dirty="0" err="1"/>
              <a:t>mzi_b.ports</a:t>
            </a:r>
            <a:r>
              <a:rPr lang="es-ES" sz="900" dirty="0"/>
              <a:t>['o1'], </a:t>
            </a:r>
            <a:r>
              <a:rPr lang="es-ES" sz="900" dirty="0" err="1"/>
              <a:t>die.ports</a:t>
            </a:r>
            <a:r>
              <a:rPr lang="es-ES" sz="900" dirty="0"/>
              <a:t>['IN_9']), (</a:t>
            </a:r>
            <a:r>
              <a:rPr lang="es-ES" sz="900" dirty="0" err="1"/>
              <a:t>mzi_b.ports</a:t>
            </a:r>
            <a:r>
              <a:rPr lang="es-ES" sz="900" dirty="0"/>
              <a:t>['o2'], </a:t>
            </a:r>
            <a:r>
              <a:rPr lang="es-ES" sz="900" dirty="0" err="1"/>
              <a:t>die.ports</a:t>
            </a:r>
            <a:r>
              <a:rPr lang="es-ES" sz="900" dirty="0"/>
              <a:t>['IN_10']),</a:t>
            </a:r>
          </a:p>
          <a:p>
            <a:r>
              <a:rPr lang="es-ES" sz="900" dirty="0"/>
              <a:t>        (</a:t>
            </a:r>
            <a:r>
              <a:rPr lang="es-ES" sz="900" dirty="0" err="1"/>
              <a:t>mzi_b.ports</a:t>
            </a:r>
            <a:r>
              <a:rPr lang="es-ES" sz="900" dirty="0"/>
              <a:t>['o4'], </a:t>
            </a:r>
            <a:r>
              <a:rPr lang="es-ES" sz="900" dirty="0" err="1"/>
              <a:t>die.ports</a:t>
            </a:r>
            <a:r>
              <a:rPr lang="es-ES" sz="900" dirty="0"/>
              <a:t>['OUT_9']), (</a:t>
            </a:r>
            <a:r>
              <a:rPr lang="es-ES" sz="900" dirty="0" err="1"/>
              <a:t>mzi_b.ports</a:t>
            </a:r>
            <a:r>
              <a:rPr lang="es-ES" sz="900" dirty="0"/>
              <a:t>['o3'], </a:t>
            </a:r>
            <a:r>
              <a:rPr lang="es-ES" sz="900" dirty="0" err="1"/>
              <a:t>die.ports</a:t>
            </a:r>
            <a:r>
              <a:rPr lang="es-ES" sz="900" dirty="0"/>
              <a:t>['OUT_10']),</a:t>
            </a:r>
          </a:p>
          <a:p>
            <a:r>
              <a:rPr lang="es-ES" sz="900" dirty="0"/>
              <a:t>        </a:t>
            </a:r>
          </a:p>
          <a:p>
            <a:r>
              <a:rPr lang="es-ES" sz="900" dirty="0"/>
              <a:t>        (</a:t>
            </a:r>
            <a:r>
              <a:rPr lang="es-ES" sz="900" dirty="0" err="1"/>
              <a:t>anillo_a.ports</a:t>
            </a:r>
            <a:r>
              <a:rPr lang="es-ES" sz="900" dirty="0"/>
              <a:t>['o1'], </a:t>
            </a:r>
            <a:r>
              <a:rPr lang="es-ES" sz="900" dirty="0" err="1"/>
              <a:t>die.ports</a:t>
            </a:r>
            <a:r>
              <a:rPr lang="es-ES" sz="900" dirty="0"/>
              <a:t>['IN_13']), (</a:t>
            </a:r>
            <a:r>
              <a:rPr lang="es-ES" sz="900" dirty="0" err="1"/>
              <a:t>anillo_a.ports</a:t>
            </a:r>
            <a:r>
              <a:rPr lang="es-ES" sz="900" dirty="0"/>
              <a:t>['o2'], </a:t>
            </a:r>
            <a:r>
              <a:rPr lang="es-ES" sz="900" dirty="0" err="1"/>
              <a:t>die.ports</a:t>
            </a:r>
            <a:r>
              <a:rPr lang="es-ES" sz="900" dirty="0"/>
              <a:t>['OUT_13']),</a:t>
            </a:r>
          </a:p>
          <a:p>
            <a:r>
              <a:rPr lang="es-ES" sz="900" dirty="0"/>
              <a:t>        (</a:t>
            </a:r>
            <a:r>
              <a:rPr lang="es-ES" sz="900" dirty="0" err="1"/>
              <a:t>anillo_b.ports</a:t>
            </a:r>
            <a:r>
              <a:rPr lang="es-ES" sz="900" dirty="0"/>
              <a:t>['o1'], </a:t>
            </a:r>
            <a:r>
              <a:rPr lang="es-ES" sz="900" dirty="0" err="1"/>
              <a:t>die.ports</a:t>
            </a:r>
            <a:r>
              <a:rPr lang="es-ES" sz="900" dirty="0"/>
              <a:t>['IN_15']), (</a:t>
            </a:r>
            <a:r>
              <a:rPr lang="es-ES" sz="900" dirty="0" err="1"/>
              <a:t>anillo_b.ports</a:t>
            </a:r>
            <a:r>
              <a:rPr lang="es-ES" sz="900" dirty="0"/>
              <a:t>['o2'], </a:t>
            </a:r>
            <a:r>
              <a:rPr lang="es-ES" sz="900" dirty="0" err="1"/>
              <a:t>die.ports</a:t>
            </a:r>
            <a:r>
              <a:rPr lang="es-ES" sz="900" dirty="0"/>
              <a:t>['OUT_15']),</a:t>
            </a:r>
          </a:p>
          <a:p>
            <a:r>
              <a:rPr lang="es-ES" sz="900" dirty="0"/>
              <a:t>        </a:t>
            </a:r>
          </a:p>
          <a:p>
            <a:r>
              <a:rPr lang="es-ES" sz="900" dirty="0"/>
              <a:t>        (</a:t>
            </a:r>
            <a:r>
              <a:rPr lang="es-ES" sz="900" dirty="0" err="1"/>
              <a:t>espiral_a.ports</a:t>
            </a:r>
            <a:r>
              <a:rPr lang="es-ES" sz="900" dirty="0"/>
              <a:t>['o1'], </a:t>
            </a:r>
            <a:r>
              <a:rPr lang="es-ES" sz="900" dirty="0" err="1"/>
              <a:t>die.ports</a:t>
            </a:r>
            <a:r>
              <a:rPr lang="es-ES" sz="900" dirty="0"/>
              <a:t>['IN_24']), (</a:t>
            </a:r>
            <a:r>
              <a:rPr lang="es-ES" sz="900" dirty="0" err="1"/>
              <a:t>espiral_a.ports</a:t>
            </a:r>
            <a:r>
              <a:rPr lang="es-ES" sz="900" dirty="0"/>
              <a:t>['o2'], </a:t>
            </a:r>
            <a:r>
              <a:rPr lang="es-ES" sz="900" dirty="0" err="1"/>
              <a:t>die.ports</a:t>
            </a:r>
            <a:r>
              <a:rPr lang="es-ES" sz="900" dirty="0"/>
              <a:t>['OUT_24']),</a:t>
            </a:r>
          </a:p>
          <a:p>
            <a:r>
              <a:rPr lang="es-ES" sz="900" dirty="0"/>
              <a:t>        (</a:t>
            </a:r>
            <a:r>
              <a:rPr lang="es-ES" sz="900" dirty="0" err="1"/>
              <a:t>espiral_b.ports</a:t>
            </a:r>
            <a:r>
              <a:rPr lang="es-ES" sz="900" dirty="0"/>
              <a:t>['o1'], </a:t>
            </a:r>
            <a:r>
              <a:rPr lang="es-ES" sz="900" dirty="0" err="1"/>
              <a:t>die.ports</a:t>
            </a:r>
            <a:r>
              <a:rPr lang="es-ES" sz="900" dirty="0"/>
              <a:t>['IN_26']), (</a:t>
            </a:r>
            <a:r>
              <a:rPr lang="es-ES" sz="900" dirty="0" err="1"/>
              <a:t>espiral_b.ports</a:t>
            </a:r>
            <a:r>
              <a:rPr lang="es-ES" sz="900" dirty="0"/>
              <a:t>['o2'], </a:t>
            </a:r>
            <a:r>
              <a:rPr lang="es-ES" sz="900" dirty="0" err="1"/>
              <a:t>die.ports</a:t>
            </a:r>
            <a:r>
              <a:rPr lang="es-ES" sz="900" dirty="0"/>
              <a:t>['OUT_26'])</a:t>
            </a:r>
          </a:p>
          <a:p>
            <a:r>
              <a:rPr lang="es-ES" sz="900" dirty="0"/>
              <a:t>    ]</a:t>
            </a:r>
          </a:p>
          <a:p>
            <a:endParaRPr lang="es-ES" sz="900" dirty="0"/>
          </a:p>
          <a:p>
            <a:r>
              <a:rPr lang="es-ES" sz="900" dirty="0"/>
              <a:t>    </a:t>
            </a:r>
            <a:r>
              <a:rPr lang="es-ES" sz="900" dirty="0" err="1"/>
              <a:t>for</a:t>
            </a:r>
            <a:r>
              <a:rPr lang="es-ES" sz="900" dirty="0"/>
              <a:t> p1, p2 in </a:t>
            </a:r>
            <a:r>
              <a:rPr lang="es-ES" sz="900" dirty="0" err="1"/>
              <a:t>rutas_a_crear</a:t>
            </a:r>
            <a:r>
              <a:rPr lang="es-ES" sz="900" dirty="0"/>
              <a:t>:</a:t>
            </a:r>
          </a:p>
          <a:p>
            <a:r>
              <a:rPr lang="es-ES" sz="900" dirty="0"/>
              <a:t>        </a:t>
            </a:r>
            <a:r>
              <a:rPr lang="es-ES" sz="900" dirty="0" err="1"/>
              <a:t>gf.routing.route_single</a:t>
            </a:r>
            <a:r>
              <a:rPr lang="es-ES" sz="900" dirty="0"/>
              <a:t>(chip, port1=p1, port2=p2, </a:t>
            </a:r>
            <a:r>
              <a:rPr lang="es-ES" sz="900" dirty="0" err="1"/>
              <a:t>cross_section</a:t>
            </a:r>
            <a:r>
              <a:rPr lang="es-ES" sz="900" dirty="0"/>
              <a:t>=</a:t>
            </a:r>
            <a:r>
              <a:rPr lang="es-ES" sz="900" dirty="0" err="1"/>
              <a:t>seccion_io</a:t>
            </a:r>
            <a:r>
              <a:rPr lang="es-ES" sz="900" dirty="0"/>
              <a:t>, </a:t>
            </a:r>
            <a:r>
              <a:rPr lang="es-ES" sz="900" dirty="0" err="1"/>
              <a:t>allow_width_mismatch</a:t>
            </a:r>
            <a:r>
              <a:rPr lang="es-ES" sz="900" dirty="0"/>
              <a:t>=True)</a:t>
            </a:r>
          </a:p>
          <a:p>
            <a:endParaRPr lang="es-ES" sz="900" dirty="0"/>
          </a:p>
          <a:p>
            <a:r>
              <a:rPr lang="es-ES" sz="900" dirty="0"/>
              <a:t>    </a:t>
            </a:r>
            <a:r>
              <a:rPr lang="es-ES" sz="900" dirty="0" err="1"/>
              <a:t>return</a:t>
            </a:r>
            <a:r>
              <a:rPr lang="es-ES" sz="900" dirty="0"/>
              <a:t> chip</a:t>
            </a:r>
          </a:p>
          <a:p>
            <a:endParaRPr lang="es-ES" sz="900" dirty="0"/>
          </a:p>
          <a:p>
            <a:r>
              <a:rPr lang="es-ES" sz="900" dirty="0"/>
              <a:t># Ejecución final</a:t>
            </a:r>
          </a:p>
          <a:p>
            <a:r>
              <a:rPr lang="es-ES" sz="900" dirty="0" err="1"/>
              <a:t>chip_final</a:t>
            </a:r>
            <a:r>
              <a:rPr lang="es-ES" sz="900" dirty="0"/>
              <a:t> = </a:t>
            </a:r>
            <a:r>
              <a:rPr lang="es-ES" sz="900" dirty="0" err="1"/>
              <a:t>ensamblar_chip_completo</a:t>
            </a:r>
            <a:r>
              <a:rPr lang="es-ES" sz="900" dirty="0"/>
              <a:t>()</a:t>
            </a:r>
          </a:p>
          <a:p>
            <a:r>
              <a:rPr lang="es-ES" sz="900" dirty="0" err="1"/>
              <a:t>chip_final.plot</a:t>
            </a:r>
            <a:r>
              <a:rPr lang="es-ES" sz="900" dirty="0"/>
              <a:t>()</a:t>
            </a:r>
          </a:p>
          <a:p>
            <a:r>
              <a:rPr lang="es-ES" sz="900" dirty="0" err="1"/>
              <a:t>chip_final.show</a:t>
            </a:r>
            <a:r>
              <a:rPr lang="es-ES" sz="900" dirty="0"/>
              <a:t>()</a:t>
            </a:r>
            <a:endParaRPr lang="en-US" sz="900" dirty="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6549956A-D46A-F3EB-217D-55DFA22603D2}"/>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2F020BD1-5B29-71E2-14A0-803A50EB8AA5}"/>
              </a:ext>
            </a:extLst>
          </p:cNvPr>
          <p:cNvPicPr>
            <a:picLocks noChangeAspect="1"/>
          </p:cNvPicPr>
          <p:nvPr/>
        </p:nvPicPr>
        <p:blipFill>
          <a:blip r:embed="rId4"/>
          <a:stretch>
            <a:fillRect/>
          </a:stretch>
        </p:blipFill>
        <p:spPr>
          <a:xfrm>
            <a:off x="6365606" y="1641987"/>
            <a:ext cx="5396233" cy="4073627"/>
          </a:xfrm>
          <a:prstGeom prst="rect">
            <a:avLst/>
          </a:prstGeom>
        </p:spPr>
      </p:pic>
    </p:spTree>
    <p:extLst>
      <p:ext uri="{BB962C8B-B14F-4D97-AF65-F5344CB8AC3E}">
        <p14:creationId xmlns:p14="http://schemas.microsoft.com/office/powerpoint/2010/main" val="33640069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a:solidFill>
                  <a:srgbClr val="FFFFFF"/>
                </a:solidFill>
                <a:latin typeface="Lucida Sans"/>
                <a:cs typeface="Lucida Sans"/>
              </a:rPr>
              <a:t>Thank</a:t>
            </a:r>
            <a:r>
              <a:rPr sz="3200" b="1" spc="-55">
                <a:solidFill>
                  <a:srgbClr val="FFFFFF"/>
                </a:solidFill>
                <a:latin typeface="Lucida Sans"/>
                <a:cs typeface="Lucida Sans"/>
              </a:rPr>
              <a:t> </a:t>
            </a:r>
            <a:r>
              <a:rPr sz="3200" b="1">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23</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1844</TotalTime>
  <Words>6510</Words>
  <Application>Microsoft Office PowerPoint</Application>
  <PresentationFormat>Panorámica</PresentationFormat>
  <Paragraphs>599</Paragraphs>
  <Slides>23</Slides>
  <Notes>20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23</vt:i4>
      </vt:variant>
    </vt:vector>
  </HeadingPairs>
  <TitlesOfParts>
    <vt:vector size="29" baseType="lpstr">
      <vt:lpstr>Aptos</vt:lpstr>
      <vt:lpstr>Arial</vt:lpstr>
      <vt:lpstr>Calibri</vt:lpstr>
      <vt:lpstr>Lucida Sans</vt:lpstr>
      <vt:lpstr>Wingdings</vt:lpstr>
      <vt:lpstr>Office Theme</vt:lpstr>
      <vt:lpstr>Presentación de PowerPoint</vt:lpstr>
      <vt:lpstr>Instructions General</vt:lpstr>
      <vt:lpstr>Learning outcome #1a – Notebook section 1. Technology “We will work with the demo UPVfab PDK. Let's view the layer distribution of this PDK”</vt:lpstr>
      <vt:lpstr>Learning outcome #1b – Notebook section 1. Technology – 1 slide per component “Use your design results from Lab2 and Lab3 to create layout instances of your designed components: DCs, MMIs, MZIs &amp; Ring Resonators”</vt:lpstr>
      <vt:lpstr>Learning outcome #1b – Notebook section 1. Technology – 1 slide per component “Use your design results from Lab2 and Lab3 to create layout instances of your designed components: DCs, MMIs, MZIs &amp; Ring Resonators”</vt:lpstr>
      <vt:lpstr>Learning outcome #1b – Notebook section 1. Technology – 1 slide per component “Use your design results from Lab2 and Lab3 to create layout instances of your designed components: DCs, MMIs, MZIs &amp; Ring Resonators”</vt:lpstr>
      <vt:lpstr>Learning outcome #1b – Notebook section 1. Technology – 1 slide per component “Use your design results from Lab2 and Lab3 to create layout instances of your designed components: DCs, MMIs, MZIs &amp; Ring Resonators”</vt:lpstr>
      <vt:lpstr>Learning outcome #2a – Notebook section 2. Layout Fundamentals “Once that we have a working 'new' component, we shall convert it into a Cell. This will allow us to have a hierarchical design”</vt:lpstr>
      <vt:lpstr>Learning outcome #2a – Notebook section 2. Layout Fundamentals – 1 slide per component “Use your design results from Lab2 and Lab3 to create layout instances of your designed components: DCs, MMIs, MZIs &amp; Ring Resonators”  Make cells for all your components</vt:lpstr>
      <vt:lpstr>Learning outcome #2a – Notebook section 2. Layout Fundamentals – 1 slide per component “Use your design results from Lab2 and Lab3 to create layout instances of your designed components: DCs, MMIs, MZIs &amp; Ring Resonators”  Make cells for all your components</vt:lpstr>
      <vt:lpstr>Learning outcome #2a – Notebook section 2. Layout Fundamentals – 1 slide per component “Use your design results from Lab2 and Lab3 to create layout instances of your designed components: DCs, MMIs, MZIs &amp; Ring Resonators”  Make cells for all your components</vt:lpstr>
      <vt:lpstr>Learning outcome #2a – Notebook section 2. Layout Fundamentals – 1 slide per component “Use your design results from Lab2 and Lab3 to create layout instances of your designed components: DCs, MMIs, MZIs &amp; Ring Resonators”  Make cells for all your components</vt:lpstr>
      <vt:lpstr>Learning outcome #3 – Notebook section 3. Complete layout</vt:lpstr>
      <vt:lpstr>Learning outcome #4 – Notebook section 4. Exercises – 1 slide per bullet point</vt:lpstr>
      <vt:lpstr>Learning outcome #4 – Notebook section 4. Exercises – Part a) MZI</vt:lpstr>
      <vt:lpstr>Learning outcome #4 – Notebook section 4. Exercises – Part a) MZI thermal tuners</vt:lpstr>
      <vt:lpstr>Learning outcome #4 – Notebook section 4. Exercises – Part a) Ring Resonator</vt:lpstr>
      <vt:lpstr>Learning outcome #4 – Notebook section 4. Exercises – Part a) R.R thermal tuner</vt:lpstr>
      <vt:lpstr>Learning outcome #4 – Notebook section 4. Exercises – Part a) SPIRAL</vt:lpstr>
      <vt:lpstr>Learning outcome #4 – Notebook section 4. Exercises – Part b) </vt:lpstr>
      <vt:lpstr>Learning outcome #4 – Notebook section 4. Exercises – Part c) </vt:lpstr>
      <vt:lpstr>Learning outcome #4 – Notebook section 4. Exercises – Part c)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Adrián García Giner</cp:lastModifiedBy>
  <cp:revision>2</cp:revision>
  <dcterms:created xsi:type="dcterms:W3CDTF">2025-01-27T02:46:57Z</dcterms:created>
  <dcterms:modified xsi:type="dcterms:W3CDTF">2026-06-12T10:57:28Z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